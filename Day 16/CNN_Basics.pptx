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we'll understand how computers recognize images and why CNNs became the standard architecture for computer 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2.png"/><Relationship Id="rId6" Type="http://schemas.openxmlformats.org/officeDocument/2006/relationships/image" Target="../media/image-11-3.png"/><Relationship Id="rId7" Type="http://schemas.openxmlformats.org/officeDocument/2006/relationships/image" Target="../media/image-11-4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image" Target="../media/image-13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image" Target="../media/image-14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914400"/>
            <a:ext cx="1371600" cy="1371600"/>
          </a:xfrm>
          <a:prstGeom prst="ellipse">
            <a:avLst/>
          </a:prstGeom>
          <a:solidFill>
            <a:srgbClr val="2F3878"/>
          </a:solidFill>
          <a:ln/>
        </p:spPr>
      </p:sp>
      <p:pic>
        <p:nvPicPr>
          <p:cNvPr id="3" name="Image 0" descr="/home/claude/cnn_deck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4" y="1243584"/>
            <a:ext cx="713232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5146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BASICS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1371600" y="352044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Neural Networks and Convolutional Layers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737360" y="4434840"/>
            <a:ext cx="2935224" cy="457200"/>
          </a:xfrm>
          <a:prstGeom prst="roundRect">
            <a:avLst>
              <a:gd name="adj" fmla="val 50000"/>
            </a:avLst>
          </a:prstGeom>
          <a:solidFill>
            <a:srgbClr val="2F3878"/>
          </a:solidFill>
          <a:ln/>
        </p:spPr>
      </p:sp>
      <p:sp>
        <p:nvSpPr>
          <p:cNvPr id="7" name="Text 4"/>
          <p:cNvSpPr/>
          <p:nvPr/>
        </p:nvSpPr>
        <p:spPr>
          <a:xfrm>
            <a:off x="1737360" y="443484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Fundamentals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901184" y="44348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2F3878"/>
          </a:solidFill>
          <a:ln/>
        </p:spPr>
      </p:sp>
      <p:sp>
        <p:nvSpPr>
          <p:cNvPr id="9" name="Text 6"/>
          <p:cNvSpPr/>
          <p:nvPr/>
        </p:nvSpPr>
        <p:spPr>
          <a:xfrm>
            <a:off x="4901184" y="4434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461504" y="44348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2F3878"/>
          </a:solidFill>
          <a:ln/>
        </p:spPr>
      </p:sp>
      <p:sp>
        <p:nvSpPr>
          <p:cNvPr id="11" name="Text 8"/>
          <p:cNvSpPr/>
          <p:nvPr/>
        </p:nvSpPr>
        <p:spPr>
          <a:xfrm>
            <a:off x="7461504" y="4434840"/>
            <a:ext cx="2130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vs Dog Example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Should Computers Understand Images?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602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cnn_deck/icons/face_un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248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4173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Unlock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26280" y="141732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9" name="Shape 6"/>
          <p:cNvSpPr/>
          <p:nvPr/>
        </p:nvSpPr>
        <p:spPr>
          <a:xfrm>
            <a:off x="4754880" y="17602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cnn_deck/icons/c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92481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4173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412480" y="141732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3" name="Shape 9"/>
          <p:cNvSpPr/>
          <p:nvPr/>
        </p:nvSpPr>
        <p:spPr>
          <a:xfrm>
            <a:off x="8641080" y="17602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cnn_deck/icons/medic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72" y="1924812"/>
            <a:ext cx="356616" cy="3566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464040" y="14173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1089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7" name="Shape 12"/>
          <p:cNvSpPr/>
          <p:nvPr/>
        </p:nvSpPr>
        <p:spPr>
          <a:xfrm>
            <a:off x="868680" y="34518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cnn_deck/icons/c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616452"/>
            <a:ext cx="356616" cy="3566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3108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Recognition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526280" y="31089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21" name="Shape 15"/>
          <p:cNvSpPr/>
          <p:nvPr/>
        </p:nvSpPr>
        <p:spPr>
          <a:xfrm>
            <a:off x="4754880" y="34518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cnn_deck/icons/lea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616452"/>
            <a:ext cx="356616" cy="3566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77840" y="3108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Disease Detection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8412480" y="31089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25" name="Shape 18"/>
          <p:cNvSpPr/>
          <p:nvPr/>
        </p:nvSpPr>
        <p:spPr>
          <a:xfrm>
            <a:off x="8641080" y="34518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/home/claude/cnn_deck/icons/sear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5672" y="3616452"/>
            <a:ext cx="356616" cy="35661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464040" y="3108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Lens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640080" y="5989320"/>
            <a:ext cx="1088136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29" name="Text 21"/>
          <p:cNvSpPr/>
          <p:nvPr/>
        </p:nvSpPr>
        <p:spPr>
          <a:xfrm>
            <a:off x="822960" y="59893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recognize images effortlessly.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need algorithms to learn visual patterns.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CNN Fit?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60120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905256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21485"/>
            <a:ext cx="9052560" cy="3497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 field of making machines act smart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25880" y="2304288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2C3A80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2304288"/>
            <a:ext cx="768096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708453"/>
            <a:ext cx="7680960" cy="3497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learn patterns from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3191256"/>
            <a:ext cx="6858000" cy="777240"/>
          </a:xfrm>
          <a:prstGeom prst="roundRect">
            <a:avLst>
              <a:gd name="adj" fmla="val 11765"/>
            </a:avLst>
          </a:prstGeom>
          <a:solidFill>
            <a:srgbClr val="3B4F9E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3191256"/>
            <a:ext cx="630936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0" y="3595421"/>
            <a:ext cx="6309360" cy="3497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using many layered neural networks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4078224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4E6BBE"/>
          </a:solidFill>
          <a:ln/>
        </p:spPr>
      </p:sp>
      <p:sp>
        <p:nvSpPr>
          <p:cNvPr id="14" name="Text 12"/>
          <p:cNvSpPr/>
          <p:nvPr/>
        </p:nvSpPr>
        <p:spPr>
          <a:xfrm>
            <a:off x="2971800" y="4078224"/>
            <a:ext cx="493776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71800" y="4482389"/>
            <a:ext cx="4937760" cy="3497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of simple units modeled on the brain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4965192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4965192"/>
            <a:ext cx="356616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Networks (CNN)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0" y="5369357"/>
            <a:ext cx="3566160" cy="3497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specialized for image 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Neural Network?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mimic how biological neurons process information.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Inspiration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33172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Brain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99816" y="2926080"/>
            <a:ext cx="201168" cy="228600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15468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546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99816" y="3749040"/>
            <a:ext cx="201168" cy="228600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397764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9776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99816" y="4572000"/>
            <a:ext cx="201168" cy="228600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80060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006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Version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75120" y="233172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3317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860536" y="2926080"/>
            <a:ext cx="201168" cy="228600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315468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31546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860536" y="3749040"/>
            <a:ext cx="201168" cy="228600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6675120" y="397764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39776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an Artificial Neuron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54480" y="2240280"/>
            <a:ext cx="1920240" cy="7772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651760"/>
            <a:ext cx="640080" cy="640080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54480" y="2971800"/>
            <a:ext cx="1920240" cy="457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383280"/>
            <a:ext cx="640080" cy="640080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54480" y="3703320"/>
            <a:ext cx="1920240" cy="-6858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33172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0" descr="/home/claude/cnn_deck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5344" y="2660904"/>
            <a:ext cx="713232" cy="7132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33756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074920" y="2880360"/>
            <a:ext cx="914400" cy="164592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7" name="Shape 14"/>
          <p:cNvSpPr/>
          <p:nvPr/>
        </p:nvSpPr>
        <p:spPr>
          <a:xfrm>
            <a:off x="6126480" y="246888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/>
        </p:spPr>
      </p:sp>
      <p:sp>
        <p:nvSpPr>
          <p:cNvPr id="18" name="Text 15"/>
          <p:cNvSpPr/>
          <p:nvPr/>
        </p:nvSpPr>
        <p:spPr>
          <a:xfrm>
            <a:off x="6126480" y="24688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229600" y="146304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4F6FB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0" y="1463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229600" y="146304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4F6FB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0" y="1463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229600" y="146304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4F6FB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0" y="1463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229600" y="146304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4F6FB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0" y="1463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229600" y="146304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4F6FB"/>
          </a:solidFill>
          <a:ln/>
        </p:spPr>
      </p:sp>
      <p:sp>
        <p:nvSpPr>
          <p:cNvPr id="28" name="Text 25"/>
          <p:cNvSpPr/>
          <p:nvPr/>
        </p:nvSpPr>
        <p:spPr>
          <a:xfrm>
            <a:off x="8229600" y="1463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229600" y="21031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4F6FB"/>
          </a:solidFill>
          <a:ln/>
        </p:spPr>
      </p:sp>
      <p:sp>
        <p:nvSpPr>
          <p:cNvPr id="30" name="Text 27"/>
          <p:cNvSpPr/>
          <p:nvPr/>
        </p:nvSpPr>
        <p:spPr>
          <a:xfrm>
            <a:off x="8229600" y="21031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8229600" y="274320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4F6FB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0" y="2743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229600" y="338328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4F6FB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0" y="33832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914400" y="4754880"/>
            <a:ext cx="1033272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36" name="Text 33"/>
          <p:cNvSpPr/>
          <p:nvPr/>
        </p:nvSpPr>
        <p:spPr>
          <a:xfrm>
            <a:off x="1188720" y="475488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words:  Output = Activation( sum of every input × its weight, plus a bias )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LAYERS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hidden layer learns increasingly complex patterns.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54380" y="2011680"/>
            <a:ext cx="2286000" cy="2926080"/>
          </a:xfrm>
          <a:prstGeom prst="roundRect">
            <a:avLst>
              <a:gd name="adj" fmla="val 5600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440180" y="2377440"/>
            <a:ext cx="914400" cy="914400"/>
          </a:xfrm>
          <a:prstGeom prst="ellipse">
            <a:avLst/>
          </a:prstGeom>
          <a:solidFill>
            <a:srgbClr val="364A99"/>
          </a:solidFill>
          <a:ln/>
        </p:spPr>
      </p:sp>
      <p:pic>
        <p:nvPicPr>
          <p:cNvPr id="7" name="Image 0" descr="/home/claude/cnn_deck/icons/ima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636" y="259689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4380" y="3474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4380" y="3886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95244" y="3392424"/>
            <a:ext cx="393192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1" name="Shape 8"/>
          <p:cNvSpPr/>
          <p:nvPr/>
        </p:nvSpPr>
        <p:spPr>
          <a:xfrm>
            <a:off x="3543300" y="2011680"/>
            <a:ext cx="2286000" cy="2926080"/>
          </a:xfrm>
          <a:prstGeom prst="roundRect">
            <a:avLst>
              <a:gd name="adj" fmla="val 5600"/>
            </a:avLst>
          </a:prstGeom>
          <a:solidFill>
            <a:srgbClr val="3B4F9E"/>
          </a:solidFill>
          <a:ln/>
        </p:spPr>
      </p:sp>
      <p:sp>
        <p:nvSpPr>
          <p:cNvPr id="12" name="Shape 9"/>
          <p:cNvSpPr/>
          <p:nvPr/>
        </p:nvSpPr>
        <p:spPr>
          <a:xfrm>
            <a:off x="4229100" y="2377440"/>
            <a:ext cx="914400" cy="914400"/>
          </a:xfrm>
          <a:prstGeom prst="ellipse">
            <a:avLst/>
          </a:prstGeom>
          <a:solidFill>
            <a:srgbClr val="364A99"/>
          </a:solidFill>
          <a:ln/>
        </p:spPr>
      </p:sp>
      <p:pic>
        <p:nvPicPr>
          <p:cNvPr id="13" name="Image 1" descr="/home/claude/cnn_dec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56" y="2596896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3300" y="3474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884164" y="3392424"/>
            <a:ext cx="393192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6" name="Shape 12"/>
          <p:cNvSpPr/>
          <p:nvPr/>
        </p:nvSpPr>
        <p:spPr>
          <a:xfrm>
            <a:off x="6332220" y="2011680"/>
            <a:ext cx="2286000" cy="2926080"/>
          </a:xfrm>
          <a:prstGeom prst="roundRect">
            <a:avLst>
              <a:gd name="adj" fmla="val 5600"/>
            </a:avLst>
          </a:prstGeom>
          <a:solidFill>
            <a:srgbClr val="3B4F9E"/>
          </a:solidFill>
          <a:ln/>
        </p:spPr>
      </p:sp>
      <p:sp>
        <p:nvSpPr>
          <p:cNvPr id="17" name="Shape 13"/>
          <p:cNvSpPr/>
          <p:nvPr/>
        </p:nvSpPr>
        <p:spPr>
          <a:xfrm>
            <a:off x="7018020" y="2377440"/>
            <a:ext cx="914400" cy="914400"/>
          </a:xfrm>
          <a:prstGeom prst="ellipse">
            <a:avLst/>
          </a:prstGeom>
          <a:solidFill>
            <a:srgbClr val="364A99"/>
          </a:solidFill>
          <a:ln/>
        </p:spPr>
      </p:sp>
      <p:pic>
        <p:nvPicPr>
          <p:cNvPr id="18" name="Image 2" descr="/home/claude/cnn_deck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476" y="2596896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32220" y="3474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673084" y="3392424"/>
            <a:ext cx="393192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1" name="Shape 16"/>
          <p:cNvSpPr/>
          <p:nvPr/>
        </p:nvSpPr>
        <p:spPr>
          <a:xfrm>
            <a:off x="9121140" y="2011680"/>
            <a:ext cx="2286000" cy="2926080"/>
          </a:xfrm>
          <a:prstGeom prst="roundRect">
            <a:avLst>
              <a:gd name="adj" fmla="val 5600"/>
            </a:avLst>
          </a:prstGeom>
          <a:solidFill>
            <a:srgbClr val="029E7E"/>
          </a:solidFill>
          <a:ln/>
        </p:spPr>
      </p:sp>
      <p:sp>
        <p:nvSpPr>
          <p:cNvPr id="22" name="Shape 17"/>
          <p:cNvSpPr/>
          <p:nvPr/>
        </p:nvSpPr>
        <p:spPr>
          <a:xfrm>
            <a:off x="9806940" y="2377440"/>
            <a:ext cx="914400" cy="914400"/>
          </a:xfrm>
          <a:prstGeom prst="ellipse">
            <a:avLst/>
          </a:prstGeom>
          <a:solidFill>
            <a:srgbClr val="364A99"/>
          </a:solidFill>
          <a:ln/>
        </p:spPr>
      </p:sp>
      <p:pic>
        <p:nvPicPr>
          <p:cNvPr id="23" name="Image 3" descr="/home/claude/cnn_deck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6396" y="2596896"/>
            <a:ext cx="475488" cy="4754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21140" y="3474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121140" y="3886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/ Dog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Traditional Neural Networks Struggle With Images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nn_deck/icons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1978762"/>
            <a:ext cx="523037" cy="5230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65960" y="2121408"/>
            <a:ext cx="640080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7" name="Shape 4"/>
          <p:cNvSpPr/>
          <p:nvPr/>
        </p:nvSpPr>
        <p:spPr>
          <a:xfrm>
            <a:off x="2697480" y="160020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4F6FB"/>
          </a:solidFill>
          <a:ln/>
        </p:spPr>
      </p:sp>
      <p:sp>
        <p:nvSpPr>
          <p:cNvPr id="8" name="Text 5"/>
          <p:cNvSpPr/>
          <p:nvPr/>
        </p:nvSpPr>
        <p:spPr>
          <a:xfrm>
            <a:off x="2697480" y="160020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 ×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913632" y="2971800"/>
            <a:ext cx="201168" cy="457200"/>
          </a:xfrm>
          <a:prstGeom prst="downArrow">
            <a:avLst/>
          </a:prstGeom>
          <a:solidFill>
            <a:srgbClr val="C0392B"/>
          </a:solidFill>
          <a:ln/>
        </p:spPr>
      </p:sp>
      <p:sp>
        <p:nvSpPr>
          <p:cNvPr id="10" name="Shape 7"/>
          <p:cNvSpPr/>
          <p:nvPr/>
        </p:nvSpPr>
        <p:spPr>
          <a:xfrm>
            <a:off x="2697480" y="35204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C0392B"/>
          </a:solidFill>
          <a:ln/>
        </p:spPr>
      </p:sp>
      <p:sp>
        <p:nvSpPr>
          <p:cNvPr id="11" name="Text 8"/>
          <p:cNvSpPr/>
          <p:nvPr/>
        </p:nvSpPr>
        <p:spPr>
          <a:xfrm>
            <a:off x="269748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150,528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697480" y="4114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to process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169164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</p:sp>
      <p:sp>
        <p:nvSpPr>
          <p:cNvPr id="14" name="Shape 11"/>
          <p:cNvSpPr/>
          <p:nvPr/>
        </p:nvSpPr>
        <p:spPr>
          <a:xfrm>
            <a:off x="6172200" y="1810512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18105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629400" y="169164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parameters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035040" y="237744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</p:sp>
      <p:sp>
        <p:nvSpPr>
          <p:cNvPr id="18" name="Shape 15"/>
          <p:cNvSpPr/>
          <p:nvPr/>
        </p:nvSpPr>
        <p:spPr>
          <a:xfrm>
            <a:off x="6172200" y="2496312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2496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629400" y="237744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memory usage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035040" y="306324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6172200" y="3182112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31821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629400" y="306324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training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035040" y="374904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</p:sp>
      <p:sp>
        <p:nvSpPr>
          <p:cNvPr id="26" name="Shape 23"/>
          <p:cNvSpPr/>
          <p:nvPr/>
        </p:nvSpPr>
        <p:spPr>
          <a:xfrm>
            <a:off x="6172200" y="3867912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4"/>
          <p:cNvSpPr/>
          <p:nvPr/>
        </p:nvSpPr>
        <p:spPr>
          <a:xfrm>
            <a:off x="6172200" y="3867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629400" y="374904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risk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6035040" y="443484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</p:sp>
      <p:sp>
        <p:nvSpPr>
          <p:cNvPr id="30" name="Shape 27"/>
          <p:cNvSpPr/>
          <p:nvPr/>
        </p:nvSpPr>
        <p:spPr>
          <a:xfrm>
            <a:off x="6172200" y="4553712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6172200" y="45537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629400" y="443484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layout is lost when flattened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640080" y="598932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Traditional neural networks are inefficient for image processing.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the CNN Idea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looking at an entire image at once, a CNN scans small local regions.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92024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92024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31720" y="192024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192024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92024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192024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92024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5880" y="242316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0" y="242316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242316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242316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242316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0" y="242316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43400" y="242316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92608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5880" y="292608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0" y="292608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31720" y="292608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292608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92608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0" y="292608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292608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342900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5880" y="342900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0" y="342900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31720" y="342900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34640" y="342900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7560" y="342900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0" y="342900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43400" y="342900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393192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25880" y="393192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28800" y="393192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393192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34640" y="393192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37560" y="393192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0480" y="393192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43400" y="393192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2960" y="443484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25880" y="443484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28800" y="443484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31720" y="443484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834640" y="443484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37560" y="443484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0480" y="4434840"/>
            <a:ext cx="502920" cy="502920"/>
          </a:xfrm>
          <a:prstGeom prst="rect">
            <a:avLst/>
          </a:prstGeom>
          <a:solidFill>
            <a:srgbClr val="E1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43400" y="4434840"/>
            <a:ext cx="502920" cy="502920"/>
          </a:xfrm>
          <a:prstGeom prst="rect">
            <a:avLst/>
          </a:prstGeom>
          <a:solidFill>
            <a:srgbClr val="ED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2960" y="2423160"/>
            <a:ext cx="1005840" cy="1005840"/>
          </a:xfrm>
          <a:prstGeom prst="rect">
            <a:avLst/>
          </a:prstGeom>
          <a:ln w="38100">
            <a:solidFill>
              <a:srgbClr val="02C39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31720" y="2926080"/>
            <a:ext cx="1005840" cy="1005840"/>
          </a:xfrm>
          <a:prstGeom prst="rect">
            <a:avLst/>
          </a:prstGeom>
          <a:ln w="38100">
            <a:solidFill>
              <a:srgbClr val="02C39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337560" y="3429000"/>
            <a:ext cx="1005840" cy="1005840"/>
          </a:xfrm>
          <a:prstGeom prst="rect">
            <a:avLst/>
          </a:prstGeom>
          <a:ln w="38100">
            <a:solidFill>
              <a:srgbClr val="02C39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2960" y="5074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(small patch) slides across the image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49808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7498080" y="224028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/>
        </p:spPr>
      </p:sp>
      <p:pic>
        <p:nvPicPr>
          <p:cNvPr id="59" name="Image 0" descr="/home/claude/cnn_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350008"/>
            <a:ext cx="329184" cy="329184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8092440" y="22402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parameters</a:t>
            </a:r>
            <a:endParaRPr lang="en-US" sz="1350" dirty="0"/>
          </a:p>
        </p:txBody>
      </p:sp>
      <p:sp>
        <p:nvSpPr>
          <p:cNvPr id="61" name="Shape 58"/>
          <p:cNvSpPr/>
          <p:nvPr/>
        </p:nvSpPr>
        <p:spPr>
          <a:xfrm>
            <a:off x="7498080" y="2898648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/>
        </p:spPr>
      </p:sp>
      <p:pic>
        <p:nvPicPr>
          <p:cNvPr id="62" name="Image 1" descr="/home/claude/cnn_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008376"/>
            <a:ext cx="329184" cy="329184"/>
          </a:xfrm>
          <a:prstGeom prst="rect">
            <a:avLst/>
          </a:prstGeom>
        </p:spPr>
      </p:pic>
      <p:sp>
        <p:nvSpPr>
          <p:cNvPr id="63" name="Text 59"/>
          <p:cNvSpPr/>
          <p:nvPr/>
        </p:nvSpPr>
        <p:spPr>
          <a:xfrm>
            <a:off x="8092440" y="289864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training</a:t>
            </a:r>
            <a:endParaRPr lang="en-US" sz="1350" dirty="0"/>
          </a:p>
        </p:txBody>
      </p:sp>
      <p:sp>
        <p:nvSpPr>
          <p:cNvPr id="64" name="Shape 60"/>
          <p:cNvSpPr/>
          <p:nvPr/>
        </p:nvSpPr>
        <p:spPr>
          <a:xfrm>
            <a:off x="7498080" y="3557016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/>
        </p:spPr>
      </p:sp>
      <p:pic>
        <p:nvPicPr>
          <p:cNvPr id="65" name="Image 2" descr="/home/claude/cnn_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666744"/>
            <a:ext cx="329184" cy="329184"/>
          </a:xfrm>
          <a:prstGeom prst="rect">
            <a:avLst/>
          </a:prstGeom>
        </p:spPr>
      </p:pic>
      <p:sp>
        <p:nvSpPr>
          <p:cNvPr id="66" name="Text 61"/>
          <p:cNvSpPr/>
          <p:nvPr/>
        </p:nvSpPr>
        <p:spPr>
          <a:xfrm>
            <a:off x="8092440" y="3557016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feature extraction</a:t>
            </a:r>
            <a:endParaRPr lang="en-US" sz="1350" dirty="0"/>
          </a:p>
        </p:txBody>
      </p:sp>
      <p:sp>
        <p:nvSpPr>
          <p:cNvPr id="67" name="Shape 62"/>
          <p:cNvSpPr/>
          <p:nvPr/>
        </p:nvSpPr>
        <p:spPr>
          <a:xfrm>
            <a:off x="7498080" y="4215384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/>
        </p:spPr>
      </p:sp>
      <p:pic>
        <p:nvPicPr>
          <p:cNvPr id="68" name="Image 3" descr="/home/claude/cnn_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325112"/>
            <a:ext cx="329184" cy="329184"/>
          </a:xfrm>
          <a:prstGeom prst="rect">
            <a:avLst/>
          </a:prstGeom>
        </p:spPr>
      </p:pic>
      <p:sp>
        <p:nvSpPr>
          <p:cNvPr id="69" name="Text 63"/>
          <p:cNvSpPr/>
          <p:nvPr/>
        </p:nvSpPr>
        <p:spPr>
          <a:xfrm>
            <a:off x="8092440" y="421538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</a:t>
            </a:r>
            <a:endParaRPr lang="en-US" sz="1350" dirty="0"/>
          </a:p>
        </p:txBody>
      </p:sp>
      <p:sp>
        <p:nvSpPr>
          <p:cNvPr id="70" name="Text 64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Convolution Operation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685800" cy="685800"/>
          </a:xfrm>
          <a:prstGeom prst="rect">
            <a:avLst/>
          </a:prstGeom>
          <a:solidFill>
            <a:srgbClr val="F4F6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17320" y="1783080"/>
            <a:ext cx="685800" cy="685800"/>
          </a:xfrm>
          <a:prstGeom prst="rect">
            <a:avLst/>
          </a:prstGeom>
          <a:solidFill>
            <a:srgbClr val="F4F6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783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03120" y="1783080"/>
            <a:ext cx="685800" cy="685800"/>
          </a:xfrm>
          <a:prstGeom prst="rect">
            <a:avLst/>
          </a:prstGeom>
          <a:solidFill>
            <a:srgbClr val="F4F6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783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685800" cy="685800"/>
          </a:xfrm>
          <a:prstGeom prst="rect">
            <a:avLst/>
          </a:prstGeom>
          <a:solidFill>
            <a:srgbClr val="F4F6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17320" y="2468880"/>
            <a:ext cx="685800" cy="685800"/>
          </a:xfrm>
          <a:prstGeom prst="rect">
            <a:avLst/>
          </a:prstGeom>
          <a:solidFill>
            <a:srgbClr val="F4F6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103120" y="2468880"/>
            <a:ext cx="685800" cy="685800"/>
          </a:xfrm>
          <a:prstGeom prst="rect">
            <a:avLst/>
          </a:prstGeom>
          <a:solidFill>
            <a:srgbClr val="F4F6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154680"/>
            <a:ext cx="685800" cy="685800"/>
          </a:xfrm>
          <a:prstGeom prst="rect">
            <a:avLst/>
          </a:prstGeom>
          <a:solidFill>
            <a:srgbClr val="F4F6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154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17320" y="3154680"/>
            <a:ext cx="685800" cy="685800"/>
          </a:xfrm>
          <a:prstGeom prst="rect">
            <a:avLst/>
          </a:prstGeom>
          <a:solidFill>
            <a:srgbClr val="F4F6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3154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103120" y="3154680"/>
            <a:ext cx="685800" cy="685800"/>
          </a:xfrm>
          <a:prstGeom prst="rect">
            <a:avLst/>
          </a:prstGeom>
          <a:solidFill>
            <a:srgbClr val="F4F6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3154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" y="1783080"/>
            <a:ext cx="1371600" cy="1371600"/>
          </a:xfrm>
          <a:prstGeom prst="rect">
            <a:avLst/>
          </a:prstGeom>
          <a:ln w="381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47472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(Filter)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1783080"/>
            <a:ext cx="685800" cy="685800"/>
          </a:xfrm>
          <a:prstGeom prst="rect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1783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160520" y="1783080"/>
            <a:ext cx="685800" cy="685800"/>
          </a:xfrm>
          <a:prstGeom prst="rect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1783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474720" y="2468880"/>
            <a:ext cx="685800" cy="685800"/>
          </a:xfrm>
          <a:prstGeom prst="rect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160520" y="2468880"/>
            <a:ext cx="685800" cy="685800"/>
          </a:xfrm>
          <a:prstGeom prst="rect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052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949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03504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Feature Map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035040" y="1783080"/>
            <a:ext cx="685800" cy="685800"/>
          </a:xfrm>
          <a:prstGeom prst="rect">
            <a:avLst/>
          </a:prstGeom>
          <a:solidFill>
            <a:srgbClr val="F4F6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1783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720840" y="1783080"/>
            <a:ext cx="685800" cy="685800"/>
          </a:xfrm>
          <a:prstGeom prst="rect">
            <a:avLst/>
          </a:prstGeom>
          <a:solidFill>
            <a:srgbClr val="F4F6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1783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035040" y="2468880"/>
            <a:ext cx="685800" cy="685800"/>
          </a:xfrm>
          <a:prstGeom prst="rect">
            <a:avLst/>
          </a:prstGeom>
          <a:solidFill>
            <a:srgbClr val="F4F6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720840" y="2468880"/>
            <a:ext cx="685800" cy="685800"/>
          </a:xfrm>
          <a:prstGeom prst="rect">
            <a:avLst/>
          </a:prstGeom>
          <a:solidFill>
            <a:srgbClr val="F4F6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035040" y="1783080"/>
            <a:ext cx="685800" cy="685800"/>
          </a:xfrm>
          <a:prstGeom prst="rect">
            <a:avLst/>
          </a:prstGeom>
          <a:ln w="38100">
            <a:solidFill>
              <a:srgbClr val="02C39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520" y="37490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3749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(1×1) + (2×0) + (4×0) + (5×1)  =  6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731520" y="4800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F4F6FB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480060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filter slides across the image, multiplying and summing values, to extract useful features.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HIERARCHY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CNNs Learn Features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nn_deck/icons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70662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886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993392" y="2980944"/>
            <a:ext cx="420624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8" name="Shape 5"/>
          <p:cNvSpPr/>
          <p:nvPr/>
        </p:nvSpPr>
        <p:spPr>
          <a:xfrm>
            <a:off x="2487168" y="23774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cnn_deck/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706624"/>
            <a:ext cx="713232" cy="7132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12848" y="3886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931920" y="2980944"/>
            <a:ext cx="420624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8"/>
          <p:cNvSpPr/>
          <p:nvPr/>
        </p:nvSpPr>
        <p:spPr>
          <a:xfrm>
            <a:off x="4425696" y="23774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cnn_deck/icons/cu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706624"/>
            <a:ext cx="713232" cy="7132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51376" y="3886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870448" y="2980944"/>
            <a:ext cx="420624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6" name="Shape 11"/>
          <p:cNvSpPr/>
          <p:nvPr/>
        </p:nvSpPr>
        <p:spPr>
          <a:xfrm>
            <a:off x="6364224" y="23774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cnn_deck/icons/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706624"/>
            <a:ext cx="713232" cy="7132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89904" y="3886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7808976" y="2980944"/>
            <a:ext cx="420624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0" name="Shape 14"/>
          <p:cNvSpPr/>
          <p:nvPr/>
        </p:nvSpPr>
        <p:spPr>
          <a:xfrm>
            <a:off x="8302752" y="23774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4" descr="/home/claude/cnn_deck/icons/c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936" y="2706624"/>
            <a:ext cx="713232" cy="7132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028432" y="3886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9747504" y="2980944"/>
            <a:ext cx="420624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4" name="Shape 17"/>
          <p:cNvSpPr/>
          <p:nvPr/>
        </p:nvSpPr>
        <p:spPr>
          <a:xfrm>
            <a:off x="10241280" y="2377440"/>
            <a:ext cx="1371600" cy="13716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5" name="Image 5" descr="/home/claude/cnn_deck/icons/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464" y="2706624"/>
            <a:ext cx="713232" cy="7132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966960" y="3886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Cat!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640080" y="46634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4F6FB"/>
          </a:solidFill>
          <a:ln/>
        </p:spPr>
      </p:sp>
      <p:sp>
        <p:nvSpPr>
          <p:cNvPr id="28" name="Text 20"/>
          <p:cNvSpPr/>
          <p:nvPr/>
        </p:nvSpPr>
        <p:spPr>
          <a:xfrm>
            <a:off x="914400" y="46634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features  </a:t>
            </a:r>
            <a:pPr indent="0" marL="0">
              <a:buNone/>
            </a:pPr>
            <a:r>
              <a:rPr lang="en-US" sz="16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intermediate features  →  complex objects.
</a:t>
            </a:r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hierarchical learning is why CNNs perform so well.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CNN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nn_deck/icons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192389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6060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271016" y="2061972"/>
            <a:ext cx="312928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8" name="Shape 5"/>
          <p:cNvSpPr/>
          <p:nvPr/>
        </p:nvSpPr>
        <p:spPr>
          <a:xfrm>
            <a:off x="1620520" y="17373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cnn_deck/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058" y="1923898"/>
            <a:ext cx="404165" cy="4041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91920" y="26060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434336" y="2061972"/>
            <a:ext cx="312928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8"/>
          <p:cNvSpPr/>
          <p:nvPr/>
        </p:nvSpPr>
        <p:spPr>
          <a:xfrm>
            <a:off x="2783840" y="17373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cnn_deck/icon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0378" y="1923898"/>
            <a:ext cx="404165" cy="4041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55240" y="26060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597656" y="2061972"/>
            <a:ext cx="312928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6" name="Shape 11"/>
          <p:cNvSpPr/>
          <p:nvPr/>
        </p:nvSpPr>
        <p:spPr>
          <a:xfrm>
            <a:off x="3947160" y="17373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cnn_deck/icons/compre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698" y="1923898"/>
            <a:ext cx="404165" cy="4041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718560" y="26060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760976" y="2061972"/>
            <a:ext cx="312928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0" name="Shape 14"/>
          <p:cNvSpPr/>
          <p:nvPr/>
        </p:nvSpPr>
        <p:spPr>
          <a:xfrm>
            <a:off x="5110480" y="17373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4" descr="/home/claude/cnn_deck/icons/fil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7018" y="1923898"/>
            <a:ext cx="404165" cy="40416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81880" y="26060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924296" y="2061972"/>
            <a:ext cx="312928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4" name="Shape 17"/>
          <p:cNvSpPr/>
          <p:nvPr/>
        </p:nvSpPr>
        <p:spPr>
          <a:xfrm>
            <a:off x="6273800" y="17373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5" descr="/home/claude/cnn_deck/icons/bol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0338" y="1923898"/>
            <a:ext cx="404165" cy="40416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045200" y="26060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7087616" y="2061972"/>
            <a:ext cx="312928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8" name="Shape 20"/>
          <p:cNvSpPr/>
          <p:nvPr/>
        </p:nvSpPr>
        <p:spPr>
          <a:xfrm>
            <a:off x="7437120" y="17373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6" descr="/home/claude/cnn_deck/icons/compres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3658" y="1923898"/>
            <a:ext cx="404165" cy="40416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208520" y="26060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8250936" y="2061972"/>
            <a:ext cx="312928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32" name="Shape 23"/>
          <p:cNvSpPr/>
          <p:nvPr/>
        </p:nvSpPr>
        <p:spPr>
          <a:xfrm>
            <a:off x="8600440" y="17373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7" descr="/home/claude/cnn_deck/icons/vecto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6978" y="1923898"/>
            <a:ext cx="404165" cy="40416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371840" y="26060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9414256" y="2061972"/>
            <a:ext cx="312928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36" name="Shape 26"/>
          <p:cNvSpPr/>
          <p:nvPr/>
        </p:nvSpPr>
        <p:spPr>
          <a:xfrm>
            <a:off x="9763760" y="17373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7" name="Image 8" descr="/home/claude/cnn_deck/icons/layer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50298" y="1923898"/>
            <a:ext cx="404165" cy="404165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9535160" y="26060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10577576" y="2061972"/>
            <a:ext cx="312928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40" name="Shape 29"/>
          <p:cNvSpPr/>
          <p:nvPr/>
        </p:nvSpPr>
        <p:spPr>
          <a:xfrm>
            <a:off x="10927080" y="173736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1" name="Image 9" descr="/home/claude/cnn_deck/icons/targe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13618" y="1923898"/>
            <a:ext cx="404165" cy="404165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0698480" y="26060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43" name="Shape 31"/>
          <p:cNvSpPr/>
          <p:nvPr/>
        </p:nvSpPr>
        <p:spPr>
          <a:xfrm>
            <a:off x="640080" y="3108960"/>
            <a:ext cx="1956816" cy="2651760"/>
          </a:xfrm>
          <a:prstGeom prst="roundRect">
            <a:avLst>
              <a:gd name="adj" fmla="val 4673"/>
            </a:avLst>
          </a:prstGeom>
          <a:solidFill>
            <a:srgbClr val="F4F6FB"/>
          </a:solidFill>
          <a:ln/>
        </p:spPr>
      </p:sp>
      <p:sp>
        <p:nvSpPr>
          <p:cNvPr id="44" name="Shape 32"/>
          <p:cNvSpPr/>
          <p:nvPr/>
        </p:nvSpPr>
        <p:spPr>
          <a:xfrm>
            <a:off x="640080" y="3108960"/>
            <a:ext cx="1956816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45" name="Text 33"/>
          <p:cNvSpPr/>
          <p:nvPr/>
        </p:nvSpPr>
        <p:spPr>
          <a:xfrm>
            <a:off x="640080" y="3108960"/>
            <a:ext cx="1956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</a:t>
            </a:r>
            <a:endParaRPr lang="en-US" sz="1250" dirty="0"/>
          </a:p>
        </p:txBody>
      </p:sp>
      <p:sp>
        <p:nvSpPr>
          <p:cNvPr id="46" name="Text 34"/>
          <p:cNvSpPr/>
          <p:nvPr/>
        </p:nvSpPr>
        <p:spPr>
          <a:xfrm>
            <a:off x="777240" y="3749040"/>
            <a:ext cx="168249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features from the image</a:t>
            </a:r>
            <a:endParaRPr lang="en-US" sz="1200" dirty="0"/>
          </a:p>
        </p:txBody>
      </p:sp>
      <p:sp>
        <p:nvSpPr>
          <p:cNvPr id="47" name="Shape 35"/>
          <p:cNvSpPr/>
          <p:nvPr/>
        </p:nvSpPr>
        <p:spPr>
          <a:xfrm>
            <a:off x="2871216" y="3108960"/>
            <a:ext cx="1956816" cy="2651760"/>
          </a:xfrm>
          <a:prstGeom prst="roundRect">
            <a:avLst>
              <a:gd name="adj" fmla="val 4673"/>
            </a:avLst>
          </a:prstGeom>
          <a:solidFill>
            <a:srgbClr val="F4F6FB"/>
          </a:solidFill>
          <a:ln/>
        </p:spPr>
      </p:sp>
      <p:sp>
        <p:nvSpPr>
          <p:cNvPr id="48" name="Shape 36"/>
          <p:cNvSpPr/>
          <p:nvPr/>
        </p:nvSpPr>
        <p:spPr>
          <a:xfrm>
            <a:off x="2871216" y="3108960"/>
            <a:ext cx="1956816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49" name="Text 37"/>
          <p:cNvSpPr/>
          <p:nvPr/>
        </p:nvSpPr>
        <p:spPr>
          <a:xfrm>
            <a:off x="2871216" y="3108960"/>
            <a:ext cx="1956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250" dirty="0"/>
          </a:p>
        </p:txBody>
      </p:sp>
      <p:sp>
        <p:nvSpPr>
          <p:cNvPr id="50" name="Text 38"/>
          <p:cNvSpPr/>
          <p:nvPr/>
        </p:nvSpPr>
        <p:spPr>
          <a:xfrm>
            <a:off x="3008376" y="3749040"/>
            <a:ext cx="168249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non-linearity so the network can learn complex patterns</a:t>
            </a:r>
            <a:endParaRPr lang="en-US" sz="1200" dirty="0"/>
          </a:p>
        </p:txBody>
      </p:sp>
      <p:sp>
        <p:nvSpPr>
          <p:cNvPr id="51" name="Shape 39"/>
          <p:cNvSpPr/>
          <p:nvPr/>
        </p:nvSpPr>
        <p:spPr>
          <a:xfrm>
            <a:off x="5102352" y="3108960"/>
            <a:ext cx="1956816" cy="2651760"/>
          </a:xfrm>
          <a:prstGeom prst="roundRect">
            <a:avLst>
              <a:gd name="adj" fmla="val 4673"/>
            </a:avLst>
          </a:prstGeom>
          <a:solidFill>
            <a:srgbClr val="F4F6FB"/>
          </a:solidFill>
          <a:ln/>
        </p:spPr>
      </p:sp>
      <p:sp>
        <p:nvSpPr>
          <p:cNvPr id="52" name="Shape 40"/>
          <p:cNvSpPr/>
          <p:nvPr/>
        </p:nvSpPr>
        <p:spPr>
          <a:xfrm>
            <a:off x="5102352" y="3108960"/>
            <a:ext cx="1956816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53" name="Text 41"/>
          <p:cNvSpPr/>
          <p:nvPr/>
        </p:nvSpPr>
        <p:spPr>
          <a:xfrm>
            <a:off x="5102352" y="3108960"/>
            <a:ext cx="1956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250" dirty="0"/>
          </a:p>
        </p:txBody>
      </p:sp>
      <p:sp>
        <p:nvSpPr>
          <p:cNvPr id="54" name="Text 42"/>
          <p:cNvSpPr/>
          <p:nvPr/>
        </p:nvSpPr>
        <p:spPr>
          <a:xfrm>
            <a:off x="5239512" y="3749040"/>
            <a:ext cx="168249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the image while keeping the important information</a:t>
            </a:r>
            <a:endParaRPr lang="en-US" sz="1200" dirty="0"/>
          </a:p>
        </p:txBody>
      </p:sp>
      <p:sp>
        <p:nvSpPr>
          <p:cNvPr id="55" name="Shape 43"/>
          <p:cNvSpPr/>
          <p:nvPr/>
        </p:nvSpPr>
        <p:spPr>
          <a:xfrm>
            <a:off x="7333488" y="3108960"/>
            <a:ext cx="1956816" cy="2651760"/>
          </a:xfrm>
          <a:prstGeom prst="roundRect">
            <a:avLst>
              <a:gd name="adj" fmla="val 4673"/>
            </a:avLst>
          </a:prstGeom>
          <a:solidFill>
            <a:srgbClr val="F4F6FB"/>
          </a:solidFill>
          <a:ln/>
        </p:spPr>
      </p:sp>
      <p:sp>
        <p:nvSpPr>
          <p:cNvPr id="56" name="Shape 44"/>
          <p:cNvSpPr/>
          <p:nvPr/>
        </p:nvSpPr>
        <p:spPr>
          <a:xfrm>
            <a:off x="7333488" y="3108960"/>
            <a:ext cx="1956816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57" name="Text 45"/>
          <p:cNvSpPr/>
          <p:nvPr/>
        </p:nvSpPr>
        <p:spPr>
          <a:xfrm>
            <a:off x="7333488" y="3108960"/>
            <a:ext cx="1956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250" dirty="0"/>
          </a:p>
        </p:txBody>
      </p:sp>
      <p:sp>
        <p:nvSpPr>
          <p:cNvPr id="58" name="Text 46"/>
          <p:cNvSpPr/>
          <p:nvPr/>
        </p:nvSpPr>
        <p:spPr>
          <a:xfrm>
            <a:off x="7470648" y="3749040"/>
            <a:ext cx="168249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feature maps into a single vector</a:t>
            </a:r>
            <a:endParaRPr lang="en-US" sz="1200" dirty="0"/>
          </a:p>
        </p:txBody>
      </p:sp>
      <p:sp>
        <p:nvSpPr>
          <p:cNvPr id="59" name="Shape 47"/>
          <p:cNvSpPr/>
          <p:nvPr/>
        </p:nvSpPr>
        <p:spPr>
          <a:xfrm>
            <a:off x="9564624" y="3108960"/>
            <a:ext cx="1956816" cy="2651760"/>
          </a:xfrm>
          <a:prstGeom prst="roundRect">
            <a:avLst>
              <a:gd name="adj" fmla="val 4673"/>
            </a:avLst>
          </a:prstGeom>
          <a:solidFill>
            <a:srgbClr val="F4F6FB"/>
          </a:solidFill>
          <a:ln/>
        </p:spPr>
      </p:sp>
      <p:sp>
        <p:nvSpPr>
          <p:cNvPr id="60" name="Shape 48"/>
          <p:cNvSpPr/>
          <p:nvPr/>
        </p:nvSpPr>
        <p:spPr>
          <a:xfrm>
            <a:off x="9564624" y="3108960"/>
            <a:ext cx="1956816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61" name="Text 49"/>
          <p:cNvSpPr/>
          <p:nvPr/>
        </p:nvSpPr>
        <p:spPr>
          <a:xfrm>
            <a:off x="9564624" y="3108960"/>
            <a:ext cx="1956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Layer</a:t>
            </a:r>
            <a:endParaRPr lang="en-US" sz="1250" dirty="0"/>
          </a:p>
        </p:txBody>
      </p:sp>
      <p:sp>
        <p:nvSpPr>
          <p:cNvPr id="62" name="Text 50"/>
          <p:cNvSpPr/>
          <p:nvPr/>
        </p:nvSpPr>
        <p:spPr>
          <a:xfrm>
            <a:off x="9701784" y="3749040"/>
            <a:ext cx="168249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final prediction</a:t>
            </a:r>
            <a:endParaRPr lang="en-US" sz="1200" dirty="0"/>
          </a:p>
        </p:txBody>
      </p:sp>
      <p:sp>
        <p:nvSpPr>
          <p:cNvPr id="63" name="Text 51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THEORY INTO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 vs Dog Classification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280160" cy="12801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nn_deck/icons/c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" y="2136038"/>
            <a:ext cx="665683" cy="6656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240280" y="2377440"/>
            <a:ext cx="822960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8" name="Shape 5"/>
          <p:cNvSpPr/>
          <p:nvPr/>
        </p:nvSpPr>
        <p:spPr>
          <a:xfrm>
            <a:off x="3200400" y="1691640"/>
            <a:ext cx="2377440" cy="155448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</p:sp>
      <p:pic>
        <p:nvPicPr>
          <p:cNvPr id="9" name="Image 1" descr="/home/claude/cnn_deck/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920240"/>
            <a:ext cx="914400" cy="914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715000" y="2377440"/>
            <a:ext cx="822960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8"/>
          <p:cNvSpPr/>
          <p:nvPr/>
        </p:nvSpPr>
        <p:spPr>
          <a:xfrm>
            <a:off x="6675120" y="1691640"/>
            <a:ext cx="2651760" cy="1554480"/>
          </a:xfrm>
          <a:prstGeom prst="roundRect">
            <a:avLst>
              <a:gd name="adj" fmla="val 8235"/>
            </a:avLst>
          </a:prstGeom>
          <a:solidFill>
            <a:srgbClr val="02C39A"/>
          </a:solidFill>
          <a:ln/>
        </p:spPr>
      </p:sp>
      <p:sp>
        <p:nvSpPr>
          <p:cNvPr id="13" name="Text 9"/>
          <p:cNvSpPr/>
          <p:nvPr/>
        </p:nvSpPr>
        <p:spPr>
          <a:xfrm>
            <a:off x="667512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675120" y="2286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 🐱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640080" y="411480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42519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22960" y="46177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&amp; Dogs images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3429000" y="411480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9" name="Text 15"/>
          <p:cNvSpPr/>
          <p:nvPr/>
        </p:nvSpPr>
        <p:spPr>
          <a:xfrm>
            <a:off x="3611880" y="42519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611880" y="46177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Crossentropy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217920" y="411480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22" name="Text 18"/>
          <p:cNvSpPr/>
          <p:nvPr/>
        </p:nvSpPr>
        <p:spPr>
          <a:xfrm>
            <a:off x="6400800" y="42519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400800" y="46177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9006840" y="411480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25" name="Text 21"/>
          <p:cNvSpPr/>
          <p:nvPr/>
        </p:nvSpPr>
        <p:spPr>
          <a:xfrm>
            <a:off x="9189720" y="42519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9189720" y="46177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ASSIGNMENT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Cat vs Dog Image Classifier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600" dirty="0"/>
          </a:p>
        </p:txBody>
      </p:sp>
      <p:pic>
        <p:nvPicPr>
          <p:cNvPr id="5" name="Image 0" descr="/home/claude/cnn_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933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dataset</a:t>
            </a:r>
            <a:endParaRPr lang="en-US" sz="1400" dirty="0"/>
          </a:p>
        </p:txBody>
      </p:sp>
      <p:pic>
        <p:nvPicPr>
          <p:cNvPr id="7" name="Image 1" descr="/home/claude/cnn_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0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25328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the images</a:t>
            </a:r>
            <a:endParaRPr lang="en-US" sz="1400" dirty="0"/>
          </a:p>
        </p:txBody>
      </p:sp>
      <p:pic>
        <p:nvPicPr>
          <p:cNvPr id="9" name="Image 2" descr="/home/claude/cnn_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27248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309981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CNN model</a:t>
            </a:r>
            <a:endParaRPr lang="en-US" sz="1400" dirty="0"/>
          </a:p>
        </p:txBody>
      </p:sp>
      <p:pic>
        <p:nvPicPr>
          <p:cNvPr id="11" name="Image 3" descr="/home/claude/cnn_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94176"/>
            <a:ext cx="310896" cy="3108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7280" y="366674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for 10 epochs</a:t>
            </a:r>
            <a:endParaRPr lang="en-US" sz="1400" dirty="0"/>
          </a:p>
        </p:txBody>
      </p:sp>
      <p:pic>
        <p:nvPicPr>
          <p:cNvPr id="13" name="Image 4" descr="/home/claude/cnn_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61104"/>
            <a:ext cx="310896" cy="31089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97280" y="42336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accuracy</a:t>
            </a:r>
            <a:endParaRPr lang="en-US" sz="1400" dirty="0"/>
          </a:p>
        </p:txBody>
      </p:sp>
      <p:pic>
        <p:nvPicPr>
          <p:cNvPr id="15" name="Image 5" descr="/home/claude/cnn_dec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828032"/>
            <a:ext cx="310896" cy="31089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97280" y="4800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on custom images</a:t>
            </a:r>
            <a:endParaRPr lang="en-US" sz="1400" dirty="0"/>
          </a:p>
        </p:txBody>
      </p:sp>
      <p:sp>
        <p:nvSpPr>
          <p:cNvPr id="17" name="Shape 9"/>
          <p:cNvSpPr/>
          <p:nvPr/>
        </p:nvSpPr>
        <p:spPr>
          <a:xfrm>
            <a:off x="6492240" y="1463040"/>
            <a:ext cx="5029200" cy="3977640"/>
          </a:xfrm>
          <a:prstGeom prst="roundRect">
            <a:avLst>
              <a:gd name="adj" fmla="val 3218"/>
            </a:avLst>
          </a:prstGeom>
          <a:solidFill>
            <a:srgbClr val="1E2761"/>
          </a:solidFill>
          <a:ln/>
        </p:spPr>
      </p:sp>
      <p:sp>
        <p:nvSpPr>
          <p:cNvPr id="18" name="Text 10"/>
          <p:cNvSpPr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CHALLENGES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6766560" y="2295144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2"/>
          <p:cNvSpPr/>
          <p:nvPr/>
        </p:nvSpPr>
        <p:spPr>
          <a:xfrm>
            <a:off x="7223760" y="22402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another convolution layer</a:t>
            </a:r>
            <a:endParaRPr lang="en-US" sz="1350" dirty="0"/>
          </a:p>
        </p:txBody>
      </p:sp>
      <p:sp>
        <p:nvSpPr>
          <p:cNvPr id="21" name="Shape 13"/>
          <p:cNvSpPr/>
          <p:nvPr/>
        </p:nvSpPr>
        <p:spPr>
          <a:xfrm>
            <a:off x="6766560" y="3118104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14"/>
          <p:cNvSpPr/>
          <p:nvPr/>
        </p:nvSpPr>
        <p:spPr>
          <a:xfrm>
            <a:off x="7223760" y="30632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dropout to reduce overfitting</a:t>
            </a:r>
            <a:endParaRPr lang="en-US" sz="1350" dirty="0"/>
          </a:p>
        </p:txBody>
      </p:sp>
      <p:sp>
        <p:nvSpPr>
          <p:cNvPr id="23" name="Shape 15"/>
          <p:cNvSpPr/>
          <p:nvPr/>
        </p:nvSpPr>
        <p:spPr>
          <a:xfrm>
            <a:off x="6766560" y="3941064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16"/>
          <p:cNvSpPr/>
          <p:nvPr/>
        </p:nvSpPr>
        <p:spPr>
          <a:xfrm>
            <a:off x="7223760" y="38862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different optimizers</a:t>
            </a:r>
            <a:endParaRPr lang="en-US" sz="1350" dirty="0"/>
          </a:p>
        </p:txBody>
      </p:sp>
      <p:sp>
        <p:nvSpPr>
          <p:cNvPr id="25" name="Shape 17"/>
          <p:cNvSpPr/>
          <p:nvPr/>
        </p:nvSpPr>
        <p:spPr>
          <a:xfrm>
            <a:off x="6766560" y="4764024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18"/>
          <p:cNvSpPr/>
          <p:nvPr/>
        </p:nvSpPr>
        <p:spPr>
          <a:xfrm>
            <a:off x="7223760" y="47091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validation accuracy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2F3878"/>
          </a:solidFill>
          <a:ln/>
        </p:spPr>
      </p:sp>
      <p:pic>
        <p:nvPicPr>
          <p:cNvPr id="5" name="Image 0" descr="/home/claude/cnn_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2140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202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are inspired by the human brain.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83464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2F3878"/>
          </a:solidFill>
          <a:ln/>
        </p:spPr>
      </p:sp>
      <p:pic>
        <p:nvPicPr>
          <p:cNvPr id="8" name="Image 1" descr="/home/claude/cnn_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3580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8346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neural networks struggle with images.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40080" y="374904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2F3878"/>
          </a:solidFill>
          <a:ln/>
        </p:spPr>
      </p:sp>
      <p:pic>
        <p:nvPicPr>
          <p:cNvPr id="11" name="Image 2" descr="/home/claude/cnn_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50208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7490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process images using convolution.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40080" y="466344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2F3878"/>
          </a:solidFill>
          <a:ln/>
        </p:spPr>
      </p:sp>
      <p:pic>
        <p:nvPicPr>
          <p:cNvPr id="14" name="Image 3" descr="/home/claude/cnn_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864608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46634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learn edges, textures, and objects.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640080" y="557784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2F3878"/>
          </a:solidFill>
          <a:ln/>
        </p:spPr>
      </p:sp>
      <p:pic>
        <p:nvPicPr>
          <p:cNvPr id="17" name="Image 4" descr="/home/claude/cnn_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779008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17320" y="55778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automatically learn image features.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280160"/>
            <a:ext cx="1371600" cy="1371600"/>
          </a:xfrm>
          <a:prstGeom prst="ellipse">
            <a:avLst/>
          </a:prstGeom>
          <a:solidFill>
            <a:srgbClr val="2F3878"/>
          </a:solidFill>
          <a:ln/>
        </p:spPr>
      </p:sp>
      <p:pic>
        <p:nvPicPr>
          <p:cNvPr id="3" name="Image 0" descr="/home/claude/cnn_deck/icons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4" y="1609344"/>
            <a:ext cx="713232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9260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3794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2026-07-16T11:43:50Z</dcterms:created>
  <dcterms:modified xsi:type="dcterms:W3CDTF">2026-07-16T11:43:50Z</dcterms:modified>
</cp:coreProperties>
</file>