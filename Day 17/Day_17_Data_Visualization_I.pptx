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730A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49</c:v>
                </c:pt>
                <c:pt idx="3">
                  <c:v>68</c:v>
                </c:pt>
                <c:pt idx="4">
                  <c:v>74</c:v>
                </c:pt>
                <c:pt idx="5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730A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6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40-50</c:v>
                  </c:pt>
                  <c:pt idx="1">
                    <c:v>50-60</c:v>
                  </c:pt>
                  <c:pt idx="2">
                    <c:v>60-70</c:v>
                  </c:pt>
                  <c:pt idx="3">
                    <c:v>70-80</c:v>
                  </c:pt>
                  <c:pt idx="4">
                    <c:v>80-90</c:v>
                  </c:pt>
                  <c:pt idx="5">
                    <c:v>90-100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7</c:v>
                </c:pt>
                <c:pt idx="2">
                  <c:v>14</c:v>
                </c:pt>
                <c:pt idx="3">
                  <c:v>22</c:v>
                </c:pt>
                <c:pt idx="4">
                  <c:v>18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6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Total Bill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Thu</c:v>
                  </c:pt>
                  <c:pt idx="1">
                    <c:v>Fri</c:v>
                  </c:pt>
                  <c:pt idx="2">
                    <c:v>Sat</c:v>
                  </c:pt>
                  <c:pt idx="3">
                    <c:v>Sun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17.7</c:v>
                </c:pt>
                <c:pt idx="1">
                  <c:v>17.2</c:v>
                </c:pt>
                <c:pt idx="2">
                  <c:v>20.4</c:v>
                </c:pt>
                <c:pt idx="3">
                  <c:v>21.4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6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4E6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image" Target="../media/image-18-2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8.png"/><Relationship Id="rId10" Type="http://schemas.openxmlformats.org/officeDocument/2006/relationships/image" Target="../media/image-18-8.png"/><Relationship Id="rId11" Type="http://schemas.openxmlformats.org/officeDocument/2006/relationships/image" Target="../media/image-18-8.png"/><Relationship Id="rId12" Type="http://schemas.openxmlformats.org/officeDocument/2006/relationships/image" Target="../media/image-18-8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2.png"/><Relationship Id="rId5" Type="http://schemas.openxmlformats.org/officeDocument/2006/relationships/image" Target="../media/image-20-5.png"/><Relationship Id="rId6" Type="http://schemas.openxmlformats.org/officeDocument/2006/relationships/image" Target="../media/image-20-2.png"/><Relationship Id="rId7" Type="http://schemas.openxmlformats.org/officeDocument/2006/relationships/image" Target="../media/image-20-7.png"/><Relationship Id="rId8" Type="http://schemas.openxmlformats.org/officeDocument/2006/relationships/image" Target="../media/image-20-2.png"/><Relationship Id="rId9" Type="http://schemas.openxmlformats.org/officeDocument/2006/relationships/image" Target="../media/image-20-9.png"/><Relationship Id="rId10" Type="http://schemas.openxmlformats.org/officeDocument/2006/relationships/image" Target="../media/image-20-2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2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730A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754880" cy="4754880"/>
          </a:xfrm>
          <a:prstGeom prst="ellipse">
            <a:avLst/>
          </a:prstGeom>
          <a:solidFill>
            <a:srgbClr val="7C3AED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621792" cy="621792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5" name="Image 0" descr="/home/claude/deck/icons/bar_cha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90" y="880750"/>
            <a:ext cx="323332" cy="323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MODULE 04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I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</a:t>
            </a:r>
            <a:pPr indent="0" marL="0">
              <a:buNone/>
            </a:pPr>
            <a:r>
              <a:rPr lang="en-US" sz="3000" dirty="0">
                <a:solidFill>
                  <a:srgbClr val="C9C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 </a:t>
            </a:r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visualizations from data — turning raw numbers into decisions.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252B63"/>
          </a:solidFill>
          <a:ln w="12700">
            <a:solidFill>
              <a:srgbClr val="3A4080"/>
            </a:solidFill>
            <a:prstDash val="solid"/>
          </a:ln>
        </p:spPr>
      </p:sp>
      <p:pic>
        <p:nvPicPr>
          <p:cNvPr id="11" name="Image 1" descr="/home/claude/deck/icons/bar_char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7457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617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37560" y="46177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252B63"/>
          </a:solidFill>
          <a:ln w="12700">
            <a:solidFill>
              <a:srgbClr val="3A4080"/>
            </a:solidFill>
            <a:prstDash val="solid"/>
          </a:ln>
        </p:spPr>
      </p:sp>
      <p:pic>
        <p:nvPicPr>
          <p:cNvPr id="14" name="Image 2" descr="/home/claude/deck/icons/pie_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47457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4617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52160" y="46177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252B63"/>
          </a:solidFill>
          <a:ln w="12700">
            <a:solidFill>
              <a:srgbClr val="3A4080"/>
            </a:solidFill>
            <a:prstDash val="solid"/>
          </a:ln>
        </p:spPr>
      </p:sp>
      <p:pic>
        <p:nvPicPr>
          <p:cNvPr id="17" name="Image 3" descr="/home/claude/deck/icons/trending_up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47457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4617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Insights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Track  ·  Python for Data Science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Visualization?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hand you ten raw exam scores — can you spot the pattern?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83080" y="242316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42316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97480" y="242316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42316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11880" y="242316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42316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26280" y="242316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42316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365760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5760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783080" y="365760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65760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97480" y="365760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65760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11880" y="365760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65760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26280" y="3657600"/>
            <a:ext cx="777240" cy="960120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65760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443484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Highest? Lowest? Average? Trend? Distribution?  —  Almost impossible to tell at a glance.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50992" y="3246120"/>
            <a:ext cx="594360" cy="36576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82880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1B1F4B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3278124"/>
            <a:ext cx="384048" cy="1248156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2" name="Shape 30"/>
          <p:cNvSpPr/>
          <p:nvPr/>
        </p:nvSpPr>
        <p:spPr>
          <a:xfrm>
            <a:off x="7296912" y="3486150"/>
            <a:ext cx="384048" cy="1040130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1544" y="3102102"/>
            <a:ext cx="384048" cy="1424178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4" name="Shape 32"/>
          <p:cNvSpPr/>
          <p:nvPr/>
        </p:nvSpPr>
        <p:spPr>
          <a:xfrm>
            <a:off x="8266176" y="3086100"/>
            <a:ext cx="384048" cy="1440180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</p:sp>
      <p:sp>
        <p:nvSpPr>
          <p:cNvPr id="35" name="Shape 33"/>
          <p:cNvSpPr/>
          <p:nvPr/>
        </p:nvSpPr>
        <p:spPr>
          <a:xfrm>
            <a:off x="8750808" y="3326130"/>
            <a:ext cx="384048" cy="1200150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6" name="Shape 34"/>
          <p:cNvSpPr/>
          <p:nvPr/>
        </p:nvSpPr>
        <p:spPr>
          <a:xfrm>
            <a:off x="9235440" y="3230118"/>
            <a:ext cx="384048" cy="1296162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7" name="Shape 35"/>
          <p:cNvSpPr/>
          <p:nvPr/>
        </p:nvSpPr>
        <p:spPr>
          <a:xfrm>
            <a:off x="9720072" y="3406140"/>
            <a:ext cx="384048" cy="1120140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04704" y="3438144"/>
            <a:ext cx="384048" cy="1088136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89336" y="3006090"/>
            <a:ext cx="384048" cy="1520190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40" name="Shape 38"/>
          <p:cNvSpPr/>
          <p:nvPr/>
        </p:nvSpPr>
        <p:spPr>
          <a:xfrm>
            <a:off x="11173968" y="3134106"/>
            <a:ext cx="384048" cy="1392174"/>
          </a:xfrm>
          <a:prstGeom prst="roundRect">
            <a:avLst>
              <a:gd name="adj" fmla="val 9524"/>
            </a:avLst>
          </a:prstGeom>
          <a:solidFill>
            <a:srgbClr val="5B63B7"/>
          </a:solidFill>
          <a:ln/>
        </p:spPr>
      </p:sp>
      <p:sp>
        <p:nvSpPr>
          <p:cNvPr id="41" name="Shape 39"/>
          <p:cNvSpPr/>
          <p:nvPr/>
        </p:nvSpPr>
        <p:spPr>
          <a:xfrm>
            <a:off x="6812280" y="4526280"/>
            <a:ext cx="4572000" cy="0"/>
          </a:xfrm>
          <a:prstGeom prst="line">
            <a:avLst/>
          </a:prstGeom>
          <a:noFill/>
          <a:ln w="12700">
            <a:solidFill>
              <a:srgbClr val="3A4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seconds, you understand everything.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7C3AED"/>
          </a:solidFill>
          <a:ln/>
        </p:spPr>
      </p:sp>
      <p:sp>
        <p:nvSpPr>
          <p:cNvPr id="44" name="Shape 42"/>
          <p:cNvSpPr/>
          <p:nvPr/>
        </p:nvSpPr>
        <p:spPr>
          <a:xfrm>
            <a:off x="777240" y="5486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0" descr="/home/claude/deck/icons/za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629046"/>
            <a:ext cx="309067" cy="309067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554480" y="53492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</a:t>
            </a:r>
            <a:pPr indent="0" marL="0">
              <a:buNone/>
            </a:pPr>
            <a:r>
              <a:rPr lang="en-US" sz="16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converts raw data into meaningful insights.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doesn't stop after training a model — we must communicate findings. Visualization is communication.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8700" y="3063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19" y="32168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167128" y="3776472"/>
            <a:ext cx="256032" cy="219456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11" name="Shape 8"/>
          <p:cNvSpPr/>
          <p:nvPr/>
        </p:nvSpPr>
        <p:spPr>
          <a:xfrm>
            <a:off x="2441448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21508" y="306324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1" descr="/home/claude/deck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27" y="32168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32888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059936" y="3776472"/>
            <a:ext cx="256032" cy="219456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17" name="Shape 13"/>
          <p:cNvSpPr/>
          <p:nvPr/>
        </p:nvSpPr>
        <p:spPr>
          <a:xfrm>
            <a:off x="4334256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14316" y="3063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2" descr="/home/claude/deck/icons/activit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35" y="32168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7256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425696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952744" y="3776472"/>
            <a:ext cx="256032" cy="219456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23" name="Shape 18"/>
          <p:cNvSpPr/>
          <p:nvPr/>
        </p:nvSpPr>
        <p:spPr>
          <a:xfrm>
            <a:off x="6227064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07124" y="30632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3" descr="/home/claude/deck/icons/bar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743" y="321685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0064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18504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845552" y="3776472"/>
            <a:ext cx="256032" cy="219456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29" name="Shape 23"/>
          <p:cNvSpPr/>
          <p:nvPr/>
        </p:nvSpPr>
        <p:spPr>
          <a:xfrm>
            <a:off x="8119872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599932" y="30632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4" descr="/home/claude/deck/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551" y="3216859"/>
            <a:ext cx="332842" cy="33284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62872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211312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9738360" y="3776472"/>
            <a:ext cx="256032" cy="219456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35" name="Shape 28"/>
          <p:cNvSpPr/>
          <p:nvPr/>
        </p:nvSpPr>
        <p:spPr>
          <a:xfrm>
            <a:off x="10012680" y="274320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492740" y="3063240"/>
            <a:ext cx="640080" cy="64008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37" name="Image 5" descr="/home/claude/deck/icons/targ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6359" y="3216859"/>
            <a:ext cx="332842" cy="33284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1556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0104120" y="3886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feeds the next — skip cleaning or analysis, and your chart tells the wrong story.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choosing a chart, you must know what kind of data you're working with.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deck/icons/h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048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Data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830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that can be measured or counted.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3337560"/>
            <a:ext cx="461772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352044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1508760" y="3337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4114800"/>
            <a:ext cx="461772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429768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1508760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892040"/>
            <a:ext cx="461772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507492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1508760" y="4892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22402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1" descr="/home/claude/deck/icons/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04872"/>
            <a:ext cx="356616" cy="3566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Data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4980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or groups that describe a quality.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29400" y="333756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12280" y="352044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2"/>
          <p:cNvSpPr/>
          <p:nvPr/>
        </p:nvSpPr>
        <p:spPr>
          <a:xfrm>
            <a:off x="7196328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961120" y="333756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44000" y="352044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5"/>
          <p:cNvSpPr/>
          <p:nvPr/>
        </p:nvSpPr>
        <p:spPr>
          <a:xfrm>
            <a:off x="9528048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29400" y="411480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812280" y="429768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8"/>
          <p:cNvSpPr/>
          <p:nvPr/>
        </p:nvSpPr>
        <p:spPr>
          <a:xfrm>
            <a:off x="7196328" y="4114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961120" y="411480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144000" y="429768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1"/>
          <p:cNvSpPr/>
          <p:nvPr/>
        </p:nvSpPr>
        <p:spPr>
          <a:xfrm>
            <a:off x="9528048" y="4114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wrong chart leads to the wrong conclusion.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4767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517" y="2061789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589520" y="2103120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10" name="Shape 7"/>
          <p:cNvSpPr/>
          <p:nvPr/>
        </p:nvSpPr>
        <p:spPr>
          <a:xfrm>
            <a:off x="8183880" y="19659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1838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2569464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642616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4" name="Image 1" descr="/home/claude/deck/icons/trending_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17" y="2756733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569464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589520" y="2798064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3880" y="2660904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8" name="Text 14"/>
          <p:cNvSpPr/>
          <p:nvPr/>
        </p:nvSpPr>
        <p:spPr>
          <a:xfrm>
            <a:off x="8183880" y="26609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14400" y="333756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2" descr="/home/claude/deck/icons/bar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17" y="3451677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26440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7589520" y="3493008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23" name="Shape 18"/>
          <p:cNvSpPr/>
          <p:nvPr/>
        </p:nvSpPr>
        <p:spPr>
          <a:xfrm>
            <a:off x="8183880" y="33558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4" name="Text 19"/>
          <p:cNvSpPr/>
          <p:nvPr/>
        </p:nvSpPr>
        <p:spPr>
          <a:xfrm>
            <a:off x="8183880" y="3355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77240" y="3959352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/>
        </p:spPr>
      </p:sp>
      <p:sp>
        <p:nvSpPr>
          <p:cNvPr id="26" name="Shape 21"/>
          <p:cNvSpPr/>
          <p:nvPr/>
        </p:nvSpPr>
        <p:spPr>
          <a:xfrm>
            <a:off x="914400" y="4032504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3" descr="/home/claude/deck/icons/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" y="4146621"/>
            <a:ext cx="247254" cy="24725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3959352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7589520" y="4187952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30" name="Shape 24"/>
          <p:cNvSpPr/>
          <p:nvPr/>
        </p:nvSpPr>
        <p:spPr>
          <a:xfrm>
            <a:off x="8183880" y="405079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1" name="Text 25"/>
          <p:cNvSpPr/>
          <p:nvPr/>
        </p:nvSpPr>
        <p:spPr>
          <a:xfrm>
            <a:off x="8183880" y="4050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4400" y="472744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3" name="Image 4" descr="/home/claude/deck/icons/pie_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17" y="4841565"/>
            <a:ext cx="247254" cy="24725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00200" y="4654296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450" dirty="0"/>
          </a:p>
        </p:txBody>
      </p:sp>
      <p:sp>
        <p:nvSpPr>
          <p:cNvPr id="35" name="Shape 28"/>
          <p:cNvSpPr/>
          <p:nvPr/>
        </p:nvSpPr>
        <p:spPr>
          <a:xfrm>
            <a:off x="7589520" y="4882896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36" name="Shape 29"/>
          <p:cNvSpPr/>
          <p:nvPr/>
        </p:nvSpPr>
        <p:spPr>
          <a:xfrm>
            <a:off x="8183880" y="4745736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7" name="Text 30"/>
          <p:cNvSpPr/>
          <p:nvPr/>
        </p:nvSpPr>
        <p:spPr>
          <a:xfrm>
            <a:off x="8183880" y="47457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77240" y="534924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7F8FD"/>
          </a:solidFill>
          <a:ln/>
        </p:spPr>
      </p:sp>
      <p:sp>
        <p:nvSpPr>
          <p:cNvPr id="39" name="Shape 32"/>
          <p:cNvSpPr/>
          <p:nvPr/>
        </p:nvSpPr>
        <p:spPr>
          <a:xfrm>
            <a:off x="914400" y="5422392"/>
            <a:ext cx="475488" cy="47548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40" name="Image 5" descr="/home/claude/deck/icons/alert_triang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517" y="5536509"/>
            <a:ext cx="247254" cy="24725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600200" y="5349240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</a:t>
            </a:r>
            <a:endParaRPr lang="en-US" sz="1450" dirty="0"/>
          </a:p>
        </p:txBody>
      </p:sp>
      <p:sp>
        <p:nvSpPr>
          <p:cNvPr id="42" name="Shape 34"/>
          <p:cNvSpPr/>
          <p:nvPr/>
        </p:nvSpPr>
        <p:spPr>
          <a:xfrm>
            <a:off x="7589520" y="5577840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43" name="Shape 35"/>
          <p:cNvSpPr/>
          <p:nvPr/>
        </p:nvSpPr>
        <p:spPr>
          <a:xfrm>
            <a:off x="8183880" y="5440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44" name="Text 36"/>
          <p:cNvSpPr/>
          <p:nvPr/>
        </p:nvSpPr>
        <p:spPr>
          <a:xfrm>
            <a:off x="818388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914400" y="6117336"/>
            <a:ext cx="475488" cy="475488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46" name="Image 6" descr="/home/claude/deck/icons/thermomet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17" y="6231453"/>
            <a:ext cx="247254" cy="24725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600200" y="6044184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450" dirty="0"/>
          </a:p>
        </p:txBody>
      </p:sp>
      <p:sp>
        <p:nvSpPr>
          <p:cNvPr id="48" name="Shape 39"/>
          <p:cNvSpPr/>
          <p:nvPr/>
        </p:nvSpPr>
        <p:spPr>
          <a:xfrm>
            <a:off x="7589520" y="6272784"/>
            <a:ext cx="365760" cy="164592"/>
          </a:xfrm>
          <a:prstGeom prst="rightArrow">
            <a:avLst/>
          </a:prstGeom>
          <a:solidFill>
            <a:srgbClr val="C7CBEE"/>
          </a:solidFill>
          <a:ln/>
        </p:spPr>
      </p:sp>
      <p:sp>
        <p:nvSpPr>
          <p:cNvPr id="49" name="Shape 40"/>
          <p:cNvSpPr/>
          <p:nvPr/>
        </p:nvSpPr>
        <p:spPr>
          <a:xfrm>
            <a:off x="8183880" y="6135624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/>
        </p:spPr>
      </p:sp>
      <p:sp>
        <p:nvSpPr>
          <p:cNvPr id="50" name="Text 41"/>
          <p:cNvSpPr/>
          <p:nvPr/>
        </p:nvSpPr>
        <p:spPr>
          <a:xfrm>
            <a:off x="8183880" y="61356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LIBRARY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Matplotlib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deck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Python's foundation for plotting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is Python's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lowest-level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library — the engine underneath almost everything else.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393192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pic>
        <p:nvPicPr>
          <p:cNvPr id="10" name="Image 1" descr="/home/claude/deck/icons/git_branch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60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4114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Seaborn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Matplotlib internally — master the fundamentals here first.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89320" y="1828800"/>
            <a:ext cx="56235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53912" y="197510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Shape 10"/>
          <p:cNvSpPr/>
          <p:nvPr/>
        </p:nvSpPr>
        <p:spPr>
          <a:xfrm>
            <a:off x="6327648" y="197510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1"/>
          <p:cNvSpPr/>
          <p:nvPr/>
        </p:nvSpPr>
        <p:spPr>
          <a:xfrm>
            <a:off x="6501384" y="197510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6245352" y="2212848"/>
            <a:ext cx="5111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7C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the plotting module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989320" y="3886200"/>
            <a:ext cx="5623560" cy="2148840"/>
          </a:xfrm>
          <a:prstGeom prst="roundRect">
            <a:avLst>
              <a:gd name="adj" fmla="val 5106"/>
            </a:avLst>
          </a:prstGeom>
          <a:solidFill>
            <a:srgbClr val="1B1F4B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0936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4507992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4361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every visual element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09360" y="5010912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4864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— used everywhere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309360" y="5513832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53675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Seaborn, Pandas plotting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built from the same layered components.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deck/icons/maximiz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482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canvas that holds everything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606040"/>
            <a:ext cx="10479024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24128" y="271576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2" name="Image 1" descr="/home/claude/deck/icons/gri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8254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64208" y="2606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01568" y="2606040"/>
            <a:ext cx="7644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plotting area within a figure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133856" y="3383280"/>
            <a:ext cx="9893808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316736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2" descr="/home/claude/deck/icons/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36027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56816" y="3383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694176" y="3383280"/>
            <a:ext cx="7059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lines that aid reading values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426464" y="4160520"/>
            <a:ext cx="930859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09344" y="42702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3" descr="/home/claude/deck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437997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49424" y="4160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86784" y="4160520"/>
            <a:ext cx="6473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that identifies each data series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719072" y="4937760"/>
            <a:ext cx="8723376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901952" y="504748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4" descr="/home/claude/deck/icons/typ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515721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542032" y="49377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279392" y="4937760"/>
            <a:ext cx="5888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titles that describe what's measured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2011680" y="5715000"/>
            <a:ext cx="8138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4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194560" y="5824728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32" name="Image 5" descr="/home/claude/deck/icons/trending_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88" y="593445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834640" y="5715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572000" y="57150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itself — lines, bars, points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TREND OVER 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Plot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2938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92938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67128"/>
            <a:ext cx="502005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plt.figure(figsize=(8,5))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month, sales,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marker="o",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linestyle="--",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linewidth=3,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color="blue"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plt.title("Monthly Sales")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plt.xlabel("Month")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plt.ylabel("Sales")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plt.grid(True)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92240" y="2377440"/>
          <a:ext cx="48920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COMPARE CATEGORIES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deck/icons/bar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8803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365760" cy="41148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273552"/>
            <a:ext cx="365760" cy="658368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1975104" y="3602736"/>
            <a:ext cx="365760" cy="329184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2505456" y="3396996"/>
            <a:ext cx="365760" cy="534924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5112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9432" y="210312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1" descr="/home/claude/deck/icons/bar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2245766"/>
            <a:ext cx="309067" cy="30906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599432" y="28803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/>
        </p:spPr>
      </p:sp>
      <p:sp>
        <p:nvSpPr>
          <p:cNvPr id="19" name="Text 15"/>
          <p:cNvSpPr/>
          <p:nvPr/>
        </p:nvSpPr>
        <p:spPr>
          <a:xfrm>
            <a:off x="4599432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45152" y="3520440"/>
            <a:ext cx="1371600" cy="100584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645152" y="3666744"/>
            <a:ext cx="2194560" cy="100584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</p:sp>
      <p:sp>
        <p:nvSpPr>
          <p:cNvPr id="22" name="Shape 18"/>
          <p:cNvSpPr/>
          <p:nvPr/>
        </p:nvSpPr>
        <p:spPr>
          <a:xfrm>
            <a:off x="4645152" y="3813048"/>
            <a:ext cx="1097280" cy="100584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</p:sp>
      <p:sp>
        <p:nvSpPr>
          <p:cNvPr id="23" name="Shape 19"/>
          <p:cNvSpPr/>
          <p:nvPr/>
        </p:nvSpPr>
        <p:spPr>
          <a:xfrm>
            <a:off x="4645152" y="3959352"/>
            <a:ext cx="1783080" cy="100584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</p:sp>
      <p:sp>
        <p:nvSpPr>
          <p:cNvPr id="24" name="Shape 20"/>
          <p:cNvSpPr/>
          <p:nvPr/>
        </p:nvSpPr>
        <p:spPr>
          <a:xfrm>
            <a:off x="8101584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75904" y="210312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6" name="Image 2" descr="/home/claude/deck/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245766"/>
            <a:ext cx="309067" cy="30906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53144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8375904" y="28803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/>
        </p:spPr>
      </p:sp>
      <p:sp>
        <p:nvSpPr>
          <p:cNvPr id="29" name="Text 24"/>
          <p:cNvSpPr/>
          <p:nvPr/>
        </p:nvSpPr>
        <p:spPr>
          <a:xfrm>
            <a:off x="8375904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plt.bar()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467344" y="3520440"/>
            <a:ext cx="256032" cy="411480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1" name="Shape 26"/>
          <p:cNvSpPr/>
          <p:nvPr/>
        </p:nvSpPr>
        <p:spPr>
          <a:xfrm>
            <a:off x="8750808" y="3273552"/>
            <a:ext cx="256032" cy="658368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2" name="Shape 27"/>
          <p:cNvSpPr/>
          <p:nvPr/>
        </p:nvSpPr>
        <p:spPr>
          <a:xfrm>
            <a:off x="8924544" y="3355848"/>
            <a:ext cx="256032" cy="576072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3" name="Shape 28"/>
          <p:cNvSpPr/>
          <p:nvPr/>
        </p:nvSpPr>
        <p:spPr>
          <a:xfrm>
            <a:off x="9208008" y="3602736"/>
            <a:ext cx="256032" cy="329184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4" name="Shape 29"/>
          <p:cNvSpPr/>
          <p:nvPr/>
        </p:nvSpPr>
        <p:spPr>
          <a:xfrm>
            <a:off x="9381744" y="3643884"/>
            <a:ext cx="256032" cy="288036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5" name="Shape 30"/>
          <p:cNvSpPr/>
          <p:nvPr/>
        </p:nvSpPr>
        <p:spPr>
          <a:xfrm>
            <a:off x="9665208" y="3396996"/>
            <a:ext cx="256032" cy="534924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36" name="Shape 31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B1F4B"/>
          </a:solidFill>
          <a:ln/>
        </p:spPr>
      </p:sp>
      <p:sp>
        <p:nvSpPr>
          <p:cNvPr id="37" name="Shape 32"/>
          <p:cNvSpPr/>
          <p:nvPr/>
        </p:nvSpPr>
        <p:spPr>
          <a:xfrm>
            <a:off x="868680" y="470916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3" descr="/home/claude/deck/icons/compas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873752"/>
            <a:ext cx="356616" cy="35661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78308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 vs. Histogram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1783080" y="507492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discrete categories.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distribution of continuous, numeric data.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DISTRIBUTION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2938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92938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67128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plt.hist(marks, bins=8,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color="#7C3AED")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145536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1455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017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data distributed?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767328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6732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6393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normal?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389120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3891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2611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skewed?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82896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010912"/>
            <a:ext cx="246888" cy="2468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01091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8828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multiple peaks?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1783080"/>
            <a:ext cx="58521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Marks — Distribution</a:t>
            </a:r>
            <a:endParaRPr lang="en-US" sz="15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989320" y="2377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RELATIONSHIPS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reveal relationships between two numeric variables.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/home/claude/deck/icons/book_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055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848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Marks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8483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/home/claude/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220553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848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1584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0184" y="208483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/home/claude/deck/icons/trending_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5" y="2205533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70264" y="20848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Cost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5577840"/>
            <a:ext cx="2880360" cy="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343400"/>
            <a:ext cx="0" cy="123444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104" y="5504231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93955" y="545995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18"/>
          <p:cNvSpPr/>
          <p:nvPr/>
        </p:nvSpPr>
        <p:spPr>
          <a:xfrm>
            <a:off x="1355806" y="532834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19"/>
          <p:cNvSpPr/>
          <p:nvPr/>
        </p:nvSpPr>
        <p:spPr>
          <a:xfrm>
            <a:off x="1617657" y="5215531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0"/>
          <p:cNvSpPr/>
          <p:nvPr/>
        </p:nvSpPr>
        <p:spPr>
          <a:xfrm>
            <a:off x="1879508" y="509726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Shape 21"/>
          <p:cNvSpPr/>
          <p:nvPr/>
        </p:nvSpPr>
        <p:spPr>
          <a:xfrm>
            <a:off x="2141359" y="5046497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Shape 22"/>
          <p:cNvSpPr/>
          <p:nvPr/>
        </p:nvSpPr>
        <p:spPr>
          <a:xfrm>
            <a:off x="2403209" y="4800377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3"/>
          <p:cNvSpPr/>
          <p:nvPr/>
        </p:nvSpPr>
        <p:spPr>
          <a:xfrm>
            <a:off x="2665060" y="4798129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Shape 24"/>
          <p:cNvSpPr/>
          <p:nvPr/>
        </p:nvSpPr>
        <p:spPr>
          <a:xfrm>
            <a:off x="2926911" y="464238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Shape 25"/>
          <p:cNvSpPr/>
          <p:nvPr/>
        </p:nvSpPr>
        <p:spPr>
          <a:xfrm>
            <a:off x="3188762" y="4491623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Shape 26"/>
          <p:cNvSpPr/>
          <p:nvPr/>
        </p:nvSpPr>
        <p:spPr>
          <a:xfrm>
            <a:off x="3450613" y="439286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Shape 27"/>
          <p:cNvSpPr/>
          <p:nvPr/>
        </p:nvSpPr>
        <p:spPr>
          <a:xfrm>
            <a:off x="3712464" y="4343857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5715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4325112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645152" y="5577840"/>
            <a:ext cx="2880360" cy="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5152" y="4343400"/>
            <a:ext cx="0" cy="123444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608576" y="4343857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8" name="Shape 33"/>
          <p:cNvSpPr/>
          <p:nvPr/>
        </p:nvSpPr>
        <p:spPr>
          <a:xfrm>
            <a:off x="4870427" y="4343857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9" name="Shape 34"/>
          <p:cNvSpPr/>
          <p:nvPr/>
        </p:nvSpPr>
        <p:spPr>
          <a:xfrm>
            <a:off x="5132278" y="4486453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0" name="Shape 35"/>
          <p:cNvSpPr/>
          <p:nvPr/>
        </p:nvSpPr>
        <p:spPr>
          <a:xfrm>
            <a:off x="5394129" y="4534114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1" name="Shape 36"/>
          <p:cNvSpPr/>
          <p:nvPr/>
        </p:nvSpPr>
        <p:spPr>
          <a:xfrm>
            <a:off x="5655980" y="4675118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2" name="Shape 37"/>
          <p:cNvSpPr/>
          <p:nvPr/>
        </p:nvSpPr>
        <p:spPr>
          <a:xfrm>
            <a:off x="5917831" y="4763969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3" name="Shape 38"/>
          <p:cNvSpPr/>
          <p:nvPr/>
        </p:nvSpPr>
        <p:spPr>
          <a:xfrm>
            <a:off x="6179681" y="5053114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4" name="Shape 39"/>
          <p:cNvSpPr/>
          <p:nvPr/>
        </p:nvSpPr>
        <p:spPr>
          <a:xfrm>
            <a:off x="6441532" y="5091304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5" name="Shape 40"/>
          <p:cNvSpPr/>
          <p:nvPr/>
        </p:nvSpPr>
        <p:spPr>
          <a:xfrm>
            <a:off x="6703383" y="5255427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6" name="Shape 41"/>
          <p:cNvSpPr/>
          <p:nvPr/>
        </p:nvSpPr>
        <p:spPr>
          <a:xfrm>
            <a:off x="6965234" y="5233421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7" name="Shape 42"/>
          <p:cNvSpPr/>
          <p:nvPr/>
        </p:nvSpPr>
        <p:spPr>
          <a:xfrm>
            <a:off x="7227085" y="5421874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8" name="Shape 43"/>
          <p:cNvSpPr/>
          <p:nvPr/>
        </p:nvSpPr>
        <p:spPr>
          <a:xfrm>
            <a:off x="7488936" y="5504231"/>
            <a:ext cx="73152" cy="7315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9" name="Text 44"/>
          <p:cNvSpPr/>
          <p:nvPr/>
        </p:nvSpPr>
        <p:spPr>
          <a:xfrm>
            <a:off x="4325112" y="5715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8101584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8421624" y="5577840"/>
            <a:ext cx="2880360" cy="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421624" y="4343400"/>
            <a:ext cx="0" cy="1234440"/>
          </a:xfrm>
          <a:prstGeom prst="line">
            <a:avLst/>
          </a:prstGeom>
          <a:noFill/>
          <a:ln w="19050">
            <a:solidFill>
              <a:srgbClr val="E4E6F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385048" y="4675575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4" name="Shape 49"/>
          <p:cNvSpPr/>
          <p:nvPr/>
        </p:nvSpPr>
        <p:spPr>
          <a:xfrm>
            <a:off x="8646899" y="511715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5" name="Shape 50"/>
          <p:cNvSpPr/>
          <p:nvPr/>
        </p:nvSpPr>
        <p:spPr>
          <a:xfrm>
            <a:off x="8908750" y="4390951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6" name="Shape 51"/>
          <p:cNvSpPr/>
          <p:nvPr/>
        </p:nvSpPr>
        <p:spPr>
          <a:xfrm>
            <a:off x="9170601" y="4498637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7" name="Shape 52"/>
          <p:cNvSpPr/>
          <p:nvPr/>
        </p:nvSpPr>
        <p:spPr>
          <a:xfrm>
            <a:off x="9432452" y="5504231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8" name="Shape 53"/>
          <p:cNvSpPr/>
          <p:nvPr/>
        </p:nvSpPr>
        <p:spPr>
          <a:xfrm>
            <a:off x="9694303" y="5188012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9" name="Shape 54"/>
          <p:cNvSpPr/>
          <p:nvPr/>
        </p:nvSpPr>
        <p:spPr>
          <a:xfrm>
            <a:off x="9956153" y="5423057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0" name="Shape 55"/>
          <p:cNvSpPr/>
          <p:nvPr/>
        </p:nvSpPr>
        <p:spPr>
          <a:xfrm>
            <a:off x="10218004" y="479463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1" name="Shape 56"/>
          <p:cNvSpPr/>
          <p:nvPr/>
        </p:nvSpPr>
        <p:spPr>
          <a:xfrm>
            <a:off x="10479855" y="439897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2" name="Shape 57"/>
          <p:cNvSpPr/>
          <p:nvPr/>
        </p:nvSpPr>
        <p:spPr>
          <a:xfrm>
            <a:off x="10741706" y="481132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3" name="Shape 58"/>
          <p:cNvSpPr/>
          <p:nvPr/>
        </p:nvSpPr>
        <p:spPr>
          <a:xfrm>
            <a:off x="11003557" y="538287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4" name="Shape 59"/>
          <p:cNvSpPr/>
          <p:nvPr/>
        </p:nvSpPr>
        <p:spPr>
          <a:xfrm>
            <a:off x="11265408" y="436221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5" name="Text 60"/>
          <p:cNvSpPr/>
          <p:nvPr/>
        </p:nvSpPr>
        <p:spPr>
          <a:xfrm>
            <a:off x="8101584" y="5715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</a:t>
            </a:r>
            <a:endParaRPr lang="en-US" sz="1300" dirty="0"/>
          </a:p>
        </p:txBody>
      </p:sp>
      <p:sp>
        <p:nvSpPr>
          <p:cNvPr id="66" name="Text 6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730A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754880" cy="4754880"/>
          </a:xfrm>
          <a:prstGeom prst="ellipse">
            <a:avLst/>
          </a:prstGeom>
          <a:solidFill>
            <a:srgbClr val="7C3AED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LEVEL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 library</a:t>
            </a:r>
            <a:pPr indent="0" marL="0">
              <a:buNone/>
            </a:pPr>
            <a:r>
              <a:rPr lang="en-US" sz="15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top of Matplotlib.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/home/claude/deck/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465" y="264444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474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Defaults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77240" y="4251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styling out of the box, no manual tuning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10312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20540" y="24688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1" descr="/home/claude/deck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105" y="264444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474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Datasets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11880" y="4251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real data like tips, iris, and titanic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210312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55180" y="24688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2" descr="/home/claude/deck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745" y="264444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474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Syntax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46520" y="4251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replaces many lines of Matplotlib code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210312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89820" y="24688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/home/claude/deck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385" y="264444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3474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Statistics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281160" y="4251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distributions, and correlation plots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HANDS-ON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 with a Real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7510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97510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12848"/>
            <a:ext cx="48371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built-in dataset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= sns.load_dataset("tips")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average bill by day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data=tips,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x="day", y="total_bill"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Bill by Day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355080" y="237744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deck/icons/alert_triangl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19379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480060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sns.barplot()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each group — not the sum. Students usually don't know this!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DISTRIBUTIONS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Plot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deck/icons/bar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histplot()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4617720" cy="5486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sns.histplot(data)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4736592"/>
            <a:ext cx="548640" cy="384048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1783080" y="4416552"/>
            <a:ext cx="548640" cy="704088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2468880" y="3968496"/>
            <a:ext cx="548640" cy="1152144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3154680" y="4224528"/>
            <a:ext cx="548640" cy="896112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3840480" y="4608576"/>
            <a:ext cx="548640" cy="512064"/>
          </a:xfrm>
          <a:prstGeom prst="roundRect">
            <a:avLst>
              <a:gd name="adj" fmla="val 5357"/>
            </a:avLst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4526280" y="4864608"/>
            <a:ext cx="548640" cy="256032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97280" y="5120640"/>
            <a:ext cx="4251960" cy="0"/>
          </a:xfrm>
          <a:prstGeom prst="line">
            <a:avLst/>
          </a:prstGeom>
          <a:noFill/>
          <a:ln w="12700">
            <a:solidFill>
              <a:srgbClr val="E4E6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FREQUENCY — how many observations fall in each bin.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1" descr="/home/claude/deck/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200046"/>
            <a:ext cx="309067" cy="30906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20848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kdeplot()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629400" y="2788920"/>
            <a:ext cx="4617720" cy="5486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sns.kdeplot(data)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812280" y="4884425"/>
            <a:ext cx="230886" cy="236215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7036067" y="4789744"/>
            <a:ext cx="230886" cy="33089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7259855" y="4674150"/>
            <a:ext cx="230886" cy="44649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7483642" y="4540322"/>
            <a:ext cx="230886" cy="580318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7707429" y="4394105"/>
            <a:ext cx="230886" cy="726535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7931217" y="4244484"/>
            <a:ext cx="230886" cy="8761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8155004" y="4102890"/>
            <a:ext cx="230886" cy="101775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8378792" y="3981870"/>
            <a:ext cx="230886" cy="113877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8602579" y="3893296"/>
            <a:ext cx="230886" cy="1227344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8826366" y="3846459"/>
            <a:ext cx="230886" cy="1274181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9050154" y="3846459"/>
            <a:ext cx="230886" cy="1274181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9273941" y="3893296"/>
            <a:ext cx="230886" cy="1227344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9497728" y="3981870"/>
            <a:ext cx="230886" cy="113877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9721516" y="4102890"/>
            <a:ext cx="230886" cy="101775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9945303" y="4244484"/>
            <a:ext cx="230886" cy="87615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10169091" y="4394105"/>
            <a:ext cx="230886" cy="726535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10392878" y="4540322"/>
            <a:ext cx="230886" cy="580318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0616665" y="4674150"/>
            <a:ext cx="230886" cy="44649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10840453" y="4789744"/>
            <a:ext cx="230886" cy="330896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11064240" y="4884425"/>
            <a:ext cx="230886" cy="236215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6812280" y="5120640"/>
            <a:ext cx="4251960" cy="0"/>
          </a:xfrm>
          <a:prstGeom prst="line">
            <a:avLst/>
          </a:prstGeom>
          <a:noFill/>
          <a:ln w="12700">
            <a:solidFill>
              <a:srgbClr val="E4E6F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62940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PROBABILITY DENSITY — a smooth estimate of the distribution.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4114800" y="6172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7" name="Text 43"/>
          <p:cNvSpPr/>
          <p:nvPr/>
        </p:nvSpPr>
        <p:spPr>
          <a:xfrm>
            <a:off x="4114800" y="6172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useful in Machine Learning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OUTLIER DETECTION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plots — learn to detect outliers at a glance.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3246120"/>
            <a:ext cx="92354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32458" y="2926080"/>
            <a:ext cx="0" cy="64008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8963" y="2743200"/>
            <a:ext cx="4063594" cy="1005840"/>
          </a:xfrm>
          <a:prstGeom prst="roundRect">
            <a:avLst>
              <a:gd name="adj" fmla="val 3636"/>
            </a:avLst>
          </a:prstGeom>
          <a:solidFill>
            <a:srgbClr val="2563EB">
              <a:alpha val="8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743200"/>
            <a:ext cx="0" cy="1005840"/>
          </a:xfrm>
          <a:prstGeom prst="line">
            <a:avLst/>
          </a:prstGeom>
          <a:noFill/>
          <a:ln w="38100">
            <a:solidFill>
              <a:srgbClr val="3730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4936" y="2926080"/>
            <a:ext cx="0" cy="64008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49763" y="3182112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1283818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00323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3212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63917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26296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65131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63040" y="187452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Spread &amp; Skew 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2064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the middle 50% of the data (Q1 to Q3). Points beyond the whiskers are flagged as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values unusually far from the rest.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FEATURE CORRELATION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7510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97510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12848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df.corr()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corr,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annot=True,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cmap="coolwarm"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B1F4B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reveal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glance — essential prep work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machine learning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catch redundant or highly-related features.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221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16952" y="2221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30184" y="2221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43416" y="2221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56648" y="2221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2514600"/>
            <a:ext cx="685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16952" y="2514600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30184" y="2514600"/>
            <a:ext cx="685800" cy="68580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43416" y="2514600"/>
            <a:ext cx="685800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43416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56648" y="2514600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6648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3227832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3227832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227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16952" y="3227832"/>
            <a:ext cx="685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16952" y="3227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30184" y="3227832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0184" y="3227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43416" y="3227832"/>
            <a:ext cx="685800" cy="68580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43416" y="3227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56648" y="3227832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56648" y="3227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3941064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3941064"/>
            <a:ext cx="685800" cy="68580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16952" y="3941064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30184" y="3941064"/>
            <a:ext cx="685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0184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043416" y="3941064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43416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56648" y="3941064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56648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126480" y="4654296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03720" y="4654296"/>
            <a:ext cx="685800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46542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16952" y="4654296"/>
            <a:ext cx="685800" cy="68580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16952" y="46542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330184" y="4654296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0184" y="46542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43416" y="4654296"/>
            <a:ext cx="685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43416" y="46542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756648" y="4654296"/>
            <a:ext cx="685800" cy="68580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56648" y="46542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126480" y="5367528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03720" y="5367528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03720" y="5367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616952" y="5367528"/>
            <a:ext cx="6858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16952" y="5367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330184" y="5367528"/>
            <a:ext cx="685800" cy="685800"/>
          </a:xfrm>
          <a:prstGeom prst="rect">
            <a:avLst/>
          </a:prstGeom>
          <a:solidFill>
            <a:srgbClr val="C4B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30184" y="5367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043416" y="5367528"/>
            <a:ext cx="685800" cy="68580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43416" y="5367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756648" y="5367528"/>
            <a:ext cx="685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56648" y="5367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Plot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 w="12700">
            <a:solidFill>
              <a:srgbClr val="2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97510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97510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12848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iris,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hue="species"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937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576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0" descr="/home/claude/deck/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3800246"/>
            <a:ext cx="309067" cy="30906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many scatter plots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" y="434340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line builds a full grid comparing every pair of numeric features — perfect for fast EDA.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89320" y="1828800"/>
            <a:ext cx="562356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— pairplot(hue="species")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09360" y="2514600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3245680"/>
            <a:ext cx="201168" cy="64052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702552" y="3062883"/>
            <a:ext cx="201168" cy="823317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58584" y="3637669"/>
            <a:ext cx="201168" cy="248531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3207497"/>
            <a:ext cx="201168" cy="678703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470648" y="3367003"/>
            <a:ext cx="201168" cy="519197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927848" y="2514600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87529" y="273532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8871480" y="380085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8735348" y="343412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3"/>
          <p:cNvSpPr/>
          <p:nvPr/>
        </p:nvSpPr>
        <p:spPr>
          <a:xfrm>
            <a:off x="9090710" y="370218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Shape 24"/>
          <p:cNvSpPr/>
          <p:nvPr/>
        </p:nvSpPr>
        <p:spPr>
          <a:xfrm>
            <a:off x="8952464" y="3760879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5"/>
          <p:cNvSpPr/>
          <p:nvPr/>
        </p:nvSpPr>
        <p:spPr>
          <a:xfrm>
            <a:off x="8700454" y="3297676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6"/>
          <p:cNvSpPr/>
          <p:nvPr/>
        </p:nvSpPr>
        <p:spPr>
          <a:xfrm>
            <a:off x="8450743" y="316976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Shape 27"/>
          <p:cNvSpPr/>
          <p:nvPr/>
        </p:nvSpPr>
        <p:spPr>
          <a:xfrm>
            <a:off x="9186396" y="300385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Shape 28"/>
          <p:cNvSpPr/>
          <p:nvPr/>
        </p:nvSpPr>
        <p:spPr>
          <a:xfrm>
            <a:off x="8908390" y="3674251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Shape 29"/>
          <p:cNvSpPr/>
          <p:nvPr/>
        </p:nvSpPr>
        <p:spPr>
          <a:xfrm>
            <a:off x="8291570" y="346480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Shape 30"/>
          <p:cNvSpPr/>
          <p:nvPr/>
        </p:nvSpPr>
        <p:spPr>
          <a:xfrm>
            <a:off x="9266272" y="3521945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Shape 31"/>
          <p:cNvSpPr/>
          <p:nvPr/>
        </p:nvSpPr>
        <p:spPr>
          <a:xfrm>
            <a:off x="8613390" y="2926293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Shape 32"/>
          <p:cNvSpPr/>
          <p:nvPr/>
        </p:nvSpPr>
        <p:spPr>
          <a:xfrm>
            <a:off x="8610271" y="287831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Shape 33"/>
          <p:cNvSpPr/>
          <p:nvPr/>
        </p:nvSpPr>
        <p:spPr>
          <a:xfrm>
            <a:off x="8253002" y="3718453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Shape 34"/>
          <p:cNvSpPr/>
          <p:nvPr/>
        </p:nvSpPr>
        <p:spPr>
          <a:xfrm>
            <a:off x="9546336" y="2514600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856147" y="278614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Shape 36"/>
          <p:cNvSpPr/>
          <p:nvPr/>
        </p:nvSpPr>
        <p:spPr>
          <a:xfrm>
            <a:off x="10267201" y="2966669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7"/>
          <p:cNvSpPr/>
          <p:nvPr/>
        </p:nvSpPr>
        <p:spPr>
          <a:xfrm>
            <a:off x="10181288" y="384542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Shape 38"/>
          <p:cNvSpPr/>
          <p:nvPr/>
        </p:nvSpPr>
        <p:spPr>
          <a:xfrm>
            <a:off x="10344907" y="273769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56008" y="2872730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Shape 40"/>
          <p:cNvSpPr/>
          <p:nvPr/>
        </p:nvSpPr>
        <p:spPr>
          <a:xfrm>
            <a:off x="10455134" y="3101067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Shape 41"/>
          <p:cNvSpPr/>
          <p:nvPr/>
        </p:nvSpPr>
        <p:spPr>
          <a:xfrm>
            <a:off x="10453831" y="307234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Shape 42"/>
          <p:cNvSpPr/>
          <p:nvPr/>
        </p:nvSpPr>
        <p:spPr>
          <a:xfrm>
            <a:off x="9736294" y="3381429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Shape 43"/>
          <p:cNvSpPr/>
          <p:nvPr/>
        </p:nvSpPr>
        <p:spPr>
          <a:xfrm>
            <a:off x="10519220" y="3367955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Shape 44"/>
          <p:cNvSpPr/>
          <p:nvPr/>
        </p:nvSpPr>
        <p:spPr>
          <a:xfrm>
            <a:off x="10314041" y="3860649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Shape 45"/>
          <p:cNvSpPr/>
          <p:nvPr/>
        </p:nvSpPr>
        <p:spPr>
          <a:xfrm>
            <a:off x="10200924" y="275060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Shape 46"/>
          <p:cNvSpPr/>
          <p:nvPr/>
        </p:nvSpPr>
        <p:spPr>
          <a:xfrm>
            <a:off x="9746854" y="3076144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Shape 47"/>
          <p:cNvSpPr/>
          <p:nvPr/>
        </p:nvSpPr>
        <p:spPr>
          <a:xfrm>
            <a:off x="9890746" y="3161329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Shape 48"/>
          <p:cNvSpPr/>
          <p:nvPr/>
        </p:nvSpPr>
        <p:spPr>
          <a:xfrm>
            <a:off x="10460560" y="365866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Shape 49"/>
          <p:cNvSpPr/>
          <p:nvPr/>
        </p:nvSpPr>
        <p:spPr>
          <a:xfrm>
            <a:off x="6309360" y="4133088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71123" y="519237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Shape 51"/>
          <p:cNvSpPr/>
          <p:nvPr/>
        </p:nvSpPr>
        <p:spPr>
          <a:xfrm>
            <a:off x="7511676" y="535388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Shape 52"/>
          <p:cNvSpPr/>
          <p:nvPr/>
        </p:nvSpPr>
        <p:spPr>
          <a:xfrm>
            <a:off x="6571683" y="521610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Shape 53"/>
          <p:cNvSpPr/>
          <p:nvPr/>
        </p:nvSpPr>
        <p:spPr>
          <a:xfrm>
            <a:off x="6858342" y="4541337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Shape 54"/>
          <p:cNvSpPr/>
          <p:nvPr/>
        </p:nvSpPr>
        <p:spPr>
          <a:xfrm>
            <a:off x="6860617" y="497110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Shape 55"/>
          <p:cNvSpPr/>
          <p:nvPr/>
        </p:nvSpPr>
        <p:spPr>
          <a:xfrm>
            <a:off x="7510793" y="4431227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9" name="Shape 56"/>
          <p:cNvSpPr/>
          <p:nvPr/>
        </p:nvSpPr>
        <p:spPr>
          <a:xfrm>
            <a:off x="6963840" y="475067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Shape 57"/>
          <p:cNvSpPr/>
          <p:nvPr/>
        </p:nvSpPr>
        <p:spPr>
          <a:xfrm>
            <a:off x="7558147" y="4835595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1" name="Shape 58"/>
          <p:cNvSpPr/>
          <p:nvPr/>
        </p:nvSpPr>
        <p:spPr>
          <a:xfrm>
            <a:off x="7656647" y="515355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Shape 59"/>
          <p:cNvSpPr/>
          <p:nvPr/>
        </p:nvSpPr>
        <p:spPr>
          <a:xfrm>
            <a:off x="6478544" y="433240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3" name="Shape 60"/>
          <p:cNvSpPr/>
          <p:nvPr/>
        </p:nvSpPr>
        <p:spPr>
          <a:xfrm>
            <a:off x="7603936" y="4951598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4" name="Shape 61"/>
          <p:cNvSpPr/>
          <p:nvPr/>
        </p:nvSpPr>
        <p:spPr>
          <a:xfrm>
            <a:off x="7074740" y="5372663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5" name="Shape 62"/>
          <p:cNvSpPr/>
          <p:nvPr/>
        </p:nvSpPr>
        <p:spPr>
          <a:xfrm>
            <a:off x="7637414" y="4349331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Shape 63"/>
          <p:cNvSpPr/>
          <p:nvPr/>
        </p:nvSpPr>
        <p:spPr>
          <a:xfrm>
            <a:off x="6640517" y="458878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Shape 64"/>
          <p:cNvSpPr/>
          <p:nvPr/>
        </p:nvSpPr>
        <p:spPr>
          <a:xfrm>
            <a:off x="7927848" y="4133088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065008" y="4855024"/>
            <a:ext cx="201168" cy="649664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321040" y="4866969"/>
            <a:ext cx="201168" cy="637719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577072" y="4590062"/>
            <a:ext cx="201168" cy="914626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833104" y="4731794"/>
            <a:ext cx="201168" cy="772894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089136" y="4788680"/>
            <a:ext cx="201168" cy="71600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546336" y="4133088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775427" y="4873569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5" name="Shape 72"/>
          <p:cNvSpPr/>
          <p:nvPr/>
        </p:nvSpPr>
        <p:spPr>
          <a:xfrm>
            <a:off x="9851416" y="472734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Shape 73"/>
          <p:cNvSpPr/>
          <p:nvPr/>
        </p:nvSpPr>
        <p:spPr>
          <a:xfrm>
            <a:off x="9859326" y="4592187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7" name="Shape 74"/>
          <p:cNvSpPr/>
          <p:nvPr/>
        </p:nvSpPr>
        <p:spPr>
          <a:xfrm>
            <a:off x="10540290" y="452509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8" name="Shape 75"/>
          <p:cNvSpPr/>
          <p:nvPr/>
        </p:nvSpPr>
        <p:spPr>
          <a:xfrm>
            <a:off x="10881563" y="4922005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28535" y="4426037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0" name="Shape 77"/>
          <p:cNvSpPr/>
          <p:nvPr/>
        </p:nvSpPr>
        <p:spPr>
          <a:xfrm>
            <a:off x="10798087" y="5134993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1" name="Shape 78"/>
          <p:cNvSpPr/>
          <p:nvPr/>
        </p:nvSpPr>
        <p:spPr>
          <a:xfrm>
            <a:off x="10259886" y="427468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Shape 79"/>
          <p:cNvSpPr/>
          <p:nvPr/>
        </p:nvSpPr>
        <p:spPr>
          <a:xfrm>
            <a:off x="10550807" y="4820451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3" name="Shape 80"/>
          <p:cNvSpPr/>
          <p:nvPr/>
        </p:nvSpPr>
        <p:spPr>
          <a:xfrm>
            <a:off x="10467794" y="538232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4" name="Shape 81"/>
          <p:cNvSpPr/>
          <p:nvPr/>
        </p:nvSpPr>
        <p:spPr>
          <a:xfrm>
            <a:off x="9729768" y="477005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Shape 82"/>
          <p:cNvSpPr/>
          <p:nvPr/>
        </p:nvSpPr>
        <p:spPr>
          <a:xfrm>
            <a:off x="10382244" y="4783315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6" name="Shape 83"/>
          <p:cNvSpPr/>
          <p:nvPr/>
        </p:nvSpPr>
        <p:spPr>
          <a:xfrm>
            <a:off x="9922410" y="4835715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7" name="Shape 84"/>
          <p:cNvSpPr/>
          <p:nvPr/>
        </p:nvSpPr>
        <p:spPr>
          <a:xfrm>
            <a:off x="10473933" y="532804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8" name="Shape 85"/>
          <p:cNvSpPr/>
          <p:nvPr/>
        </p:nvSpPr>
        <p:spPr>
          <a:xfrm>
            <a:off x="6309360" y="5751576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693290" y="6373887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0" name="Shape 87"/>
          <p:cNvSpPr/>
          <p:nvPr/>
        </p:nvSpPr>
        <p:spPr>
          <a:xfrm>
            <a:off x="7499622" y="6410229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1" name="Shape 88"/>
          <p:cNvSpPr/>
          <p:nvPr/>
        </p:nvSpPr>
        <p:spPr>
          <a:xfrm>
            <a:off x="6637768" y="697633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2" name="Shape 89"/>
          <p:cNvSpPr/>
          <p:nvPr/>
        </p:nvSpPr>
        <p:spPr>
          <a:xfrm>
            <a:off x="6884359" y="6066301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3" name="Shape 90"/>
          <p:cNvSpPr/>
          <p:nvPr/>
        </p:nvSpPr>
        <p:spPr>
          <a:xfrm>
            <a:off x="7155678" y="680891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Shape 91"/>
          <p:cNvSpPr/>
          <p:nvPr/>
        </p:nvSpPr>
        <p:spPr>
          <a:xfrm>
            <a:off x="7657632" y="6734651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5" name="Shape 92"/>
          <p:cNvSpPr/>
          <p:nvPr/>
        </p:nvSpPr>
        <p:spPr>
          <a:xfrm>
            <a:off x="6577465" y="605786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6" name="Shape 93"/>
          <p:cNvSpPr/>
          <p:nvPr/>
        </p:nvSpPr>
        <p:spPr>
          <a:xfrm>
            <a:off x="7569885" y="6246769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Shape 94"/>
          <p:cNvSpPr/>
          <p:nvPr/>
        </p:nvSpPr>
        <p:spPr>
          <a:xfrm>
            <a:off x="7083597" y="6355495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8" name="Shape 95"/>
          <p:cNvSpPr/>
          <p:nvPr/>
        </p:nvSpPr>
        <p:spPr>
          <a:xfrm>
            <a:off x="7607653" y="665876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9" name="Shape 96"/>
          <p:cNvSpPr/>
          <p:nvPr/>
        </p:nvSpPr>
        <p:spPr>
          <a:xfrm>
            <a:off x="6932966" y="6564453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0" name="Shape 97"/>
          <p:cNvSpPr/>
          <p:nvPr/>
        </p:nvSpPr>
        <p:spPr>
          <a:xfrm>
            <a:off x="7659750" y="6149333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1" name="Shape 98"/>
          <p:cNvSpPr/>
          <p:nvPr/>
        </p:nvSpPr>
        <p:spPr>
          <a:xfrm>
            <a:off x="6813321" y="593737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2" name="Shape 99"/>
          <p:cNvSpPr/>
          <p:nvPr/>
        </p:nvSpPr>
        <p:spPr>
          <a:xfrm>
            <a:off x="6969547" y="603313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3" name="Shape 100"/>
          <p:cNvSpPr/>
          <p:nvPr/>
        </p:nvSpPr>
        <p:spPr>
          <a:xfrm>
            <a:off x="7927848" y="5751576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293722" y="6065443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5" name="Shape 102"/>
          <p:cNvSpPr/>
          <p:nvPr/>
        </p:nvSpPr>
        <p:spPr>
          <a:xfrm>
            <a:off x="8876229" y="707953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6" name="Shape 103"/>
          <p:cNvSpPr/>
          <p:nvPr/>
        </p:nvSpPr>
        <p:spPr>
          <a:xfrm>
            <a:off x="9240204" y="6019719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686669" y="644030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8" name="Shape 105"/>
          <p:cNvSpPr/>
          <p:nvPr/>
        </p:nvSpPr>
        <p:spPr>
          <a:xfrm>
            <a:off x="9212037" y="6931707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587652" y="6624287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0" name="Shape 107"/>
          <p:cNvSpPr/>
          <p:nvPr/>
        </p:nvSpPr>
        <p:spPr>
          <a:xfrm>
            <a:off x="8699358" y="601190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1" name="Shape 108"/>
          <p:cNvSpPr/>
          <p:nvPr/>
        </p:nvSpPr>
        <p:spPr>
          <a:xfrm>
            <a:off x="8558935" y="6866841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2" name="Shape 109"/>
          <p:cNvSpPr/>
          <p:nvPr/>
        </p:nvSpPr>
        <p:spPr>
          <a:xfrm>
            <a:off x="8715769" y="612444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3" name="Shape 110"/>
          <p:cNvSpPr/>
          <p:nvPr/>
        </p:nvSpPr>
        <p:spPr>
          <a:xfrm>
            <a:off x="8300406" y="637558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4" name="Shape 111"/>
          <p:cNvSpPr/>
          <p:nvPr/>
        </p:nvSpPr>
        <p:spPr>
          <a:xfrm>
            <a:off x="8548662" y="589162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5" name="Shape 112"/>
          <p:cNvSpPr/>
          <p:nvPr/>
        </p:nvSpPr>
        <p:spPr>
          <a:xfrm>
            <a:off x="9069724" y="6841849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6" name="Shape 113"/>
          <p:cNvSpPr/>
          <p:nvPr/>
        </p:nvSpPr>
        <p:spPr>
          <a:xfrm>
            <a:off x="8347398" y="651060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7" name="Shape 114"/>
          <p:cNvSpPr/>
          <p:nvPr/>
        </p:nvSpPr>
        <p:spPr>
          <a:xfrm>
            <a:off x="8924256" y="6451383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8" name="Shape 115"/>
          <p:cNvSpPr/>
          <p:nvPr/>
        </p:nvSpPr>
        <p:spPr>
          <a:xfrm>
            <a:off x="9546336" y="5751576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F7F8FD"/>
          </a:solidFill>
          <a:ln w="12700">
            <a:solidFill>
              <a:srgbClr val="E4E6F5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683496" y="6897238"/>
            <a:ext cx="201168" cy="225938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9939528" y="6473238"/>
            <a:ext cx="201168" cy="64993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10195560" y="6805332"/>
            <a:ext cx="201168" cy="317844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22" name="Shape 119"/>
          <p:cNvSpPr/>
          <p:nvPr/>
        </p:nvSpPr>
        <p:spPr>
          <a:xfrm>
            <a:off x="10451592" y="6615377"/>
            <a:ext cx="201168" cy="507799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23" name="Shape 120"/>
          <p:cNvSpPr/>
          <p:nvPr/>
        </p:nvSpPr>
        <p:spPr>
          <a:xfrm>
            <a:off x="10707624" y="6570262"/>
            <a:ext cx="201168" cy="552914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24" name="Text 1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25" name="Text 1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6" name="Image 0" descr="/home/claude/deck/icons/x_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pic>
        <p:nvPicPr>
          <p:cNvPr id="8" name="Image 1" descr="/home/claude/deck/icons/x_circle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889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colors</a:t>
            </a:r>
            <a:endParaRPr lang="en-US" sz="1400" dirty="0"/>
          </a:p>
        </p:txBody>
      </p:sp>
      <p:pic>
        <p:nvPicPr>
          <p:cNvPr id="10" name="Image 2" descr="/home/claude/deck/icons/x_circle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564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410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Tiny, unreadable fonts</a:t>
            </a:r>
            <a:endParaRPr lang="en-US" sz="1400" dirty="0"/>
          </a:p>
        </p:txBody>
      </p:sp>
      <p:pic>
        <p:nvPicPr>
          <p:cNvPr id="12" name="Image 3" descr="/home/claude/deck/icons/x_circle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782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0325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axis labels</a:t>
            </a:r>
            <a:endParaRPr lang="en-US" sz="1400" dirty="0"/>
          </a:p>
        </p:txBody>
      </p:sp>
      <p:pic>
        <p:nvPicPr>
          <p:cNvPr id="14" name="Image 4" descr="/home/claude/deck/icons/x_circle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00016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465429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charts</a:t>
            </a:r>
            <a:endParaRPr lang="en-US" sz="1400" dirty="0"/>
          </a:p>
        </p:txBody>
      </p:sp>
      <p:pic>
        <p:nvPicPr>
          <p:cNvPr id="16" name="Image 5" descr="/home/claude/deck/icons/x_circle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21808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52760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with many categories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6263640" y="17830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6" descr="/home/claude/deck/icons/check_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074" y="2143354"/>
            <a:ext cx="285293" cy="28529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1520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pic>
        <p:nvPicPr>
          <p:cNvPr id="22" name="Image 7" descr="/home/claude/deck/icons/check_circle_emera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83464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40880" y="27889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descriptive titles</a:t>
            </a:r>
            <a:endParaRPr lang="en-US" sz="1400" dirty="0"/>
          </a:p>
        </p:txBody>
      </p:sp>
      <p:pic>
        <p:nvPicPr>
          <p:cNvPr id="24" name="Image 8" descr="/home/claude/deck/icons/check_circle_emera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456432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40880" y="341071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axis labels</a:t>
            </a:r>
            <a:endParaRPr lang="en-US" sz="1400" dirty="0"/>
          </a:p>
        </p:txBody>
      </p:sp>
      <p:pic>
        <p:nvPicPr>
          <p:cNvPr id="26" name="Image 9" descr="/home/claude/deck/icons/check_circle_emera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078224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40880" y="403250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 for every series</a:t>
            </a:r>
            <a:endParaRPr lang="en-US" sz="1400" dirty="0"/>
          </a:p>
        </p:txBody>
      </p:sp>
      <p:pic>
        <p:nvPicPr>
          <p:cNvPr id="28" name="Image 10" descr="/home/claude/deck/icons/check_circle_emera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4700016"/>
            <a:ext cx="274320" cy="27432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40880" y="46542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palette</a:t>
            </a:r>
            <a:endParaRPr lang="en-US" sz="1400" dirty="0"/>
          </a:p>
        </p:txBody>
      </p:sp>
      <p:pic>
        <p:nvPicPr>
          <p:cNvPr id="30" name="Image 11" descr="/home/claude/deck/icons/check_circle_emera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5321808"/>
            <a:ext cx="274320" cy="27432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040880" y="527608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 suited to the data</a:t>
            </a:r>
            <a:endParaRPr lang="en-US" sz="1400" dirty="0"/>
          </a:p>
        </p:txBody>
      </p:sp>
      <p:sp>
        <p:nvSpPr>
          <p:cNvPr id="32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3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YOU'VE LEARNED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Case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3730A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/icons/database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294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746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deck/icon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8501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33172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scored the highest?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63640" y="23317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67462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2" descr="/home/claude/deck/icons/bar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285018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3800" y="233172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has the highest average?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3662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3" descr="/home/claude/deck/icons/trending_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5" y="454182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02336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study hours related to marks?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63640" y="4023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4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43662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4" descr="/home/claude/deck/icons/thermomet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25" y="4541825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402336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has the strongest correlation?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9E7FB"/>
          </a:solidFill>
          <a:ln/>
        </p:spPr>
      </p:sp>
      <p:sp>
        <p:nvSpPr>
          <p:cNvPr id="25" name="Text 18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choose the appropriate visualization for each question — </a:t>
            </a:r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teaches thinking, not coding.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730A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754880" cy="4754880"/>
          </a:xfrm>
          <a:prstGeom prst="ellipse">
            <a:avLst/>
          </a:prstGeom>
          <a:solidFill>
            <a:srgbClr val="7C3AED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Learned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70532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8" name="Image 0" descr="/home/claude/deck/icons/git_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60" y="2110984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Workflow</a:t>
            </a:r>
            <a:endParaRPr lang="en-US" sz="1500" dirty="0"/>
          </a:p>
        </p:txBody>
      </p:sp>
      <p:pic>
        <p:nvPicPr>
          <p:cNvPr id="10" name="Image 1" descr="/home/claude/deck/icons/check_circle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1683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64808" y="1970532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2" descr="/home/claude/deck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60" y="2110984"/>
            <a:ext cx="304312" cy="304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</a:t>
            </a:r>
            <a:endParaRPr lang="en-US" sz="1500" dirty="0"/>
          </a:p>
        </p:txBody>
      </p:sp>
      <p:pic>
        <p:nvPicPr>
          <p:cNvPr id="15" name="Image 3" descr="/home/claude/deck/icons/check_circle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11683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299923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9808" y="3186684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8" name="Image 4" descr="/home/claude/deck/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60" y="3327136"/>
            <a:ext cx="304312" cy="3043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2999232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Fundamentals</a:t>
            </a:r>
            <a:endParaRPr lang="en-US" sz="1500" dirty="0"/>
          </a:p>
        </p:txBody>
      </p:sp>
      <p:pic>
        <p:nvPicPr>
          <p:cNvPr id="20" name="Image 5" descr="/home/claude/deck/icons/check_circle_emera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332988"/>
            <a:ext cx="292608" cy="29260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263640" y="299923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464808" y="3186684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3" name="Image 6" descr="/home/claude/deck/icons/pie_cha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260" y="3327136"/>
            <a:ext cx="304312" cy="3043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23760" y="2999232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pic>
        <p:nvPicPr>
          <p:cNvPr id="25" name="Image 7" descr="/home/claude/deck/icons/check_circle_emera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0" y="3332988"/>
            <a:ext cx="292608" cy="29260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8640" y="421538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749808" y="4402836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8" name="Image 8" descr="/home/claude/deck/icons/activity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260" y="4543288"/>
            <a:ext cx="304312" cy="30431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508760" y="4215384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500" dirty="0"/>
          </a:p>
        </p:txBody>
      </p:sp>
      <p:pic>
        <p:nvPicPr>
          <p:cNvPr id="30" name="Image 9" descr="/home/claude/deck/icons/check_circle_emera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4549140"/>
            <a:ext cx="292608" cy="292608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6263640" y="421538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6464808" y="4402836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3" name="Image 10" descr="/home/claude/deck/icons/thermometer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260" y="4543288"/>
            <a:ext cx="304312" cy="30431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223760" y="4215384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500" dirty="0"/>
          </a:p>
        </p:txBody>
      </p:sp>
      <p:pic>
        <p:nvPicPr>
          <p:cNvPr id="35" name="Image 11" descr="/home/claude/deck/icons/check_circle_emera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5680" y="4549140"/>
            <a:ext cx="292608" cy="292608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548640" y="5431536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37" name="Shape 23"/>
          <p:cNvSpPr/>
          <p:nvPr/>
        </p:nvSpPr>
        <p:spPr>
          <a:xfrm>
            <a:off x="749808" y="5618988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8" name="Image 12" descr="/home/claude/deck/icons/bar_char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260" y="5759440"/>
            <a:ext cx="304312" cy="304312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1508760" y="543153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</a:t>
            </a:r>
            <a:endParaRPr lang="en-US" sz="1500" dirty="0"/>
          </a:p>
        </p:txBody>
      </p:sp>
      <p:pic>
        <p:nvPicPr>
          <p:cNvPr id="40" name="Image 13" descr="/home/claude/deck/icons/check_circle_emera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0680" y="5765292"/>
            <a:ext cx="292608" cy="292608"/>
          </a:xfrm>
          <a:prstGeom prst="rect">
            <a:avLst/>
          </a:prstGeom>
        </p:spPr>
      </p:pic>
      <p:sp>
        <p:nvSpPr>
          <p:cNvPr id="41" name="Shape 25"/>
          <p:cNvSpPr/>
          <p:nvPr/>
        </p:nvSpPr>
        <p:spPr>
          <a:xfrm>
            <a:off x="6263640" y="5431536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242A5E"/>
          </a:solidFill>
          <a:ln w="12700">
            <a:solidFill>
              <a:srgbClr val="343A78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6464808" y="5618988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43" name="Image 14" descr="/home/claude/deck/icons/check_circle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5260" y="5759440"/>
            <a:ext cx="304312" cy="30431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7223760" y="543153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pic>
        <p:nvPicPr>
          <p:cNvPr id="45" name="Image 15" descr="/home/claude/deck/icons/check_circle_emeral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55680" y="5765292"/>
            <a:ext cx="292608" cy="292608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Advanced Visualization — Plotly, Dashboards &amp; Interactivity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2026-07-17T11:18:16Z</dcterms:created>
  <dcterms:modified xsi:type="dcterms:W3CDTF">2026-07-17T11:18:16Z</dcterms:modified>
</cp:coreProperties>
</file>