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8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4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1B1F3B"/>
                </a:solidFill>
                <a:latin typeface="Calibri"/>
              </a:defRPr>
            </a:pPr>
            <a:r>
              <a:rPr lang="en-IN" sz="1600" b="1" i="0" u="none" strike="noStrike">
                <a:solidFill>
                  <a:srgbClr val="1B1F3B"/>
                </a:solidFill>
                <a:latin typeface="Calibri"/>
              </a:rPr>
              <a:t>Prediction Accuracy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Predictions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BF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02-4D18-9681-73EDB52F3666}"/>
              </c:ext>
            </c:extLst>
          </c:dPt>
          <c:dPt>
            <c:idx val="1"/>
            <c:bubble3D val="0"/>
            <c:spPr>
              <a:solidFill>
                <a:srgbClr val="E5E7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02-4D18-9681-73EDB52F3666}"/>
              </c:ext>
            </c:extLst>
          </c:dPt>
          <c:cat>
            <c:strRef>
              <c:f>Sheet1!$A$2:$A$3</c:f>
              <c:strCache>
                <c:ptCount val="2"/>
                <c:pt idx="0">
                  <c:v>Correct</c:v>
                </c:pt>
                <c:pt idx="1">
                  <c:v>Incorrect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02-4D18-9681-73EDB52F36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1" i="0" u="none" strike="noStrike">
                <a:solidFill>
                  <a:srgbClr val="1B1F3B"/>
                </a:solidFill>
                <a:latin typeface="Calibri"/>
              </a:defRPr>
            </a:pPr>
            <a:r>
              <a:rPr lang="en-IN" sz="1500" b="1" i="0" u="none" strike="noStrike">
                <a:solidFill>
                  <a:srgbClr val="1B1F3B"/>
                </a:solidFill>
                <a:latin typeface="Calibri"/>
              </a:rPr>
              <a:t>Example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4B4FE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28C-49E8-8E2D-4D6269A117B2}"/>
              </c:ext>
            </c:extLst>
          </c:dPt>
          <c:dPt>
            <c:idx val="1"/>
            <c:invertIfNegative val="0"/>
            <c:bubble3D val="0"/>
            <c:spPr>
              <a:solidFill>
                <a:srgbClr val="D953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8C-49E8-8E2D-4D6269A117B2}"/>
              </c:ext>
            </c:extLst>
          </c:dPt>
          <c:dPt>
            <c:idx val="2"/>
            <c:invertIfNegative val="0"/>
            <c:bubble3D val="0"/>
            <c:spPr>
              <a:solidFill>
                <a:srgbClr val="00E5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8C-49E8-8E2D-4D6269A117B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0.75</c:v>
                </c:pt>
                <c:pt idx="2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8C-49E8-8E2D-4D6269A117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03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14: Introduction to model evaluation. Cover confusion matrix, accuracy, precision, recall, F1-score, and cross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341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9054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301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4291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301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9595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103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2647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156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3552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8097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787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14260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84267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4537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21648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0271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366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4810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brain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8778240" y="274320"/>
            <a:ext cx="3108960" cy="3108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50292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5029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4864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548640" y="2697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Machine Learning Models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48640" y="5349240"/>
            <a:ext cx="1755648" cy="1051560"/>
          </a:xfrm>
          <a:prstGeom prst="roundRect">
            <a:avLst>
              <a:gd name="adj" fmla="val 8696"/>
            </a:avLst>
          </a:prstGeom>
          <a:solidFill>
            <a:srgbClr val="1B1F5C"/>
          </a:solidFill>
          <a:ln w="12700">
            <a:solidFill>
              <a:srgbClr val="353A7A"/>
            </a:solidFill>
            <a:prstDash val="solid"/>
          </a:ln>
        </p:spPr>
      </p:sp>
      <p:pic>
        <p:nvPicPr>
          <p:cNvPr id="9" name="Image 2" descr="thlar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" y="5486400"/>
            <a:ext cx="402336" cy="402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360" y="591616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2395728" y="5349240"/>
            <a:ext cx="1755648" cy="1051560"/>
          </a:xfrm>
          <a:prstGeom prst="roundRect">
            <a:avLst>
              <a:gd name="adj" fmla="val 8696"/>
            </a:avLst>
          </a:prstGeom>
          <a:solidFill>
            <a:srgbClr val="1B1F5C"/>
          </a:solidFill>
          <a:ln w="12700">
            <a:solidFill>
              <a:srgbClr val="353A7A"/>
            </a:solidFill>
            <a:prstDash val="solid"/>
          </a:ln>
        </p:spPr>
      </p:sp>
      <p:pic>
        <p:nvPicPr>
          <p:cNvPr id="12" name="Image 3" descr="bulls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384" y="5486400"/>
            <a:ext cx="402336" cy="4023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41448" y="591616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4242816" y="5349240"/>
            <a:ext cx="1755648" cy="1051560"/>
          </a:xfrm>
          <a:prstGeom prst="roundRect">
            <a:avLst>
              <a:gd name="adj" fmla="val 8696"/>
            </a:avLst>
          </a:prstGeom>
          <a:solidFill>
            <a:srgbClr val="1B1F5C"/>
          </a:solidFill>
          <a:ln w="12700">
            <a:solidFill>
              <a:srgbClr val="353A7A"/>
            </a:solidFill>
            <a:prstDash val="solid"/>
          </a:ln>
        </p:spPr>
      </p:sp>
      <p:pic>
        <p:nvPicPr>
          <p:cNvPr id="15" name="Image 4" descr="crosshai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5486400"/>
            <a:ext cx="402336" cy="4023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88536" y="591616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6089904" y="5349240"/>
            <a:ext cx="1755648" cy="1051560"/>
          </a:xfrm>
          <a:prstGeom prst="roundRect">
            <a:avLst>
              <a:gd name="adj" fmla="val 8696"/>
            </a:avLst>
          </a:prstGeom>
          <a:solidFill>
            <a:srgbClr val="1B1F5C"/>
          </a:solidFill>
          <a:ln w="12700">
            <a:solidFill>
              <a:srgbClr val="353A7A"/>
            </a:solidFill>
            <a:prstDash val="solid"/>
          </a:ln>
        </p:spPr>
      </p:sp>
      <p:pic>
        <p:nvPicPr>
          <p:cNvPr id="18" name="Image 5" descr="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5486400"/>
            <a:ext cx="402336" cy="40233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35624" y="591616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7936992" y="5349240"/>
            <a:ext cx="1755648" cy="1051560"/>
          </a:xfrm>
          <a:prstGeom prst="roundRect">
            <a:avLst>
              <a:gd name="adj" fmla="val 8696"/>
            </a:avLst>
          </a:prstGeom>
          <a:solidFill>
            <a:srgbClr val="1B1F5C"/>
          </a:solidFill>
          <a:ln w="12700">
            <a:solidFill>
              <a:srgbClr val="353A7A"/>
            </a:solidFill>
            <a:prstDash val="solid"/>
          </a:ln>
        </p:spPr>
      </p:sp>
      <p:pic>
        <p:nvPicPr>
          <p:cNvPr id="21" name="Image 6" descr="bala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3648" y="5486400"/>
            <a:ext cx="402336" cy="40233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982712" y="591616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50" dirty="0"/>
          </a:p>
        </p:txBody>
      </p:sp>
      <p:sp>
        <p:nvSpPr>
          <p:cNvPr id="23" name="Shape 14"/>
          <p:cNvSpPr/>
          <p:nvPr/>
        </p:nvSpPr>
        <p:spPr>
          <a:xfrm>
            <a:off x="9784080" y="5349240"/>
            <a:ext cx="1755648" cy="1051560"/>
          </a:xfrm>
          <a:prstGeom prst="roundRect">
            <a:avLst>
              <a:gd name="adj" fmla="val 8696"/>
            </a:avLst>
          </a:prstGeom>
          <a:solidFill>
            <a:srgbClr val="1B1F5C"/>
          </a:solidFill>
          <a:ln w="12700">
            <a:solidFill>
              <a:srgbClr val="353A7A"/>
            </a:solidFill>
            <a:prstDash val="solid"/>
          </a:ln>
        </p:spPr>
      </p:sp>
      <p:pic>
        <p:nvPicPr>
          <p:cNvPr id="24" name="Image 7" descr="syn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60736" y="5486400"/>
            <a:ext cx="402336" cy="40233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829800" y="591616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Model Evaluation?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20640" cy="4892040"/>
          </a:xfrm>
          <a:prstGeom prst="roundRect">
            <a:avLst>
              <a:gd name="adj" fmla="val 2617"/>
            </a:avLst>
          </a:prstGeom>
          <a:solidFill>
            <a:srgbClr val="12153B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pic>
        <p:nvPicPr>
          <p:cNvPr id="4" name="Image 0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6060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is the process of checking how well a machine learning model performs on unseen data.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8680" y="4892040"/>
            <a:ext cx="4480560" cy="0"/>
          </a:xfrm>
          <a:prstGeom prst="line">
            <a:avLst/>
          </a:prstGeom>
          <a:noFill/>
          <a:ln w="12700">
            <a:solidFill>
              <a:srgbClr val="353A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0749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trustworthy score on training data means nothing if the model fails on new, real-world examples.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89320" y="141732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Evaluate?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989320" y="2011680"/>
            <a:ext cx="5623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2212848"/>
            <a:ext cx="548640" cy="548640"/>
          </a:xfrm>
          <a:prstGeom prst="ellipse">
            <a:avLst/>
          </a:prstGeom>
          <a:solidFill>
            <a:srgbClr val="4B4FE0"/>
          </a:solidFill>
          <a:ln/>
        </p:spPr>
      </p:sp>
      <p:pic>
        <p:nvPicPr>
          <p:cNvPr id="11" name="Image 1" descr="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322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2121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903720" y="2487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accurately the model predicts outcomes.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9320" y="3127248"/>
            <a:ext cx="5623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3328416"/>
            <a:ext cx="548640" cy="548640"/>
          </a:xfrm>
          <a:prstGeom prst="ellipse">
            <a:avLst/>
          </a:prstGeom>
          <a:solidFill>
            <a:srgbClr val="4B4FE0"/>
          </a:solidFill>
          <a:ln/>
        </p:spPr>
      </p:sp>
      <p:pic>
        <p:nvPicPr>
          <p:cNvPr id="16" name="Image 2" descr="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343814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3236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Different Models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903720" y="36027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multiple models on the same criteria.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89320" y="4242816"/>
            <a:ext cx="5623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72200" y="4443984"/>
            <a:ext cx="548640" cy="548640"/>
          </a:xfrm>
          <a:prstGeom prst="ellipse">
            <a:avLst/>
          </a:prstGeom>
          <a:solidFill>
            <a:srgbClr val="4B4FE0"/>
          </a:solidFill>
          <a:ln/>
        </p:spPr>
      </p:sp>
      <p:pic>
        <p:nvPicPr>
          <p:cNvPr id="21" name="Image 3" descr="troph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45537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43525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Model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903720" y="47183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top performer for deployment.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989320" y="5358384"/>
            <a:ext cx="5623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172200" y="5559552"/>
            <a:ext cx="548640" cy="548640"/>
          </a:xfrm>
          <a:prstGeom prst="ellipse">
            <a:avLst/>
          </a:prstGeom>
          <a:solidFill>
            <a:srgbClr val="4B4FE0"/>
          </a:solidFill>
          <a:ln/>
        </p:spPr>
      </p:sp>
      <p:pic>
        <p:nvPicPr>
          <p:cNvPr id="26" name="Image 4" descr="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566928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03720" y="5468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Overfitting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6903720" y="58338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model generalizes beyond training data.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showing how many predictions were correct and incorrect.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3172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31720" y="1965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965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 rot="16200000">
            <a:off x="-534924" y="2436876"/>
            <a:ext cx="170992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31720" y="2514600"/>
            <a:ext cx="1892808" cy="1207008"/>
          </a:xfrm>
          <a:prstGeom prst="roundRect">
            <a:avLst>
              <a:gd name="adj" fmla="val 6061"/>
            </a:avLst>
          </a:prstGeom>
          <a:solidFill>
            <a:srgbClr val="E4F8EE"/>
          </a:solidFill>
          <a:ln w="19050">
            <a:solidFill>
              <a:srgbClr val="1DBF73"/>
            </a:solidFill>
            <a:prstDash val="solid"/>
          </a:ln>
        </p:spPr>
      </p:sp>
      <p:pic>
        <p:nvPicPr>
          <p:cNvPr id="11" name="Image 0" descr="chec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2679192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331720" y="288036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B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331720" y="338328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2514600"/>
            <a:ext cx="1892808" cy="1207008"/>
          </a:xfrm>
          <a:prstGeom prst="roundRect">
            <a:avLst>
              <a:gd name="adj" fmla="val 6061"/>
            </a:avLst>
          </a:prstGeom>
          <a:solidFill>
            <a:srgbClr val="FFEBEC"/>
          </a:solidFill>
          <a:ln w="19050">
            <a:solidFill>
              <a:srgbClr val="FF5A5F"/>
            </a:solidFill>
            <a:prstDash val="solid"/>
          </a:ln>
        </p:spPr>
      </p:sp>
      <p:pic>
        <p:nvPicPr>
          <p:cNvPr id="15" name="Image 1" descr="times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6791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97680" y="288036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4297680" y="338328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331720" y="3794760"/>
            <a:ext cx="1892808" cy="1207008"/>
          </a:xfrm>
          <a:prstGeom prst="roundRect">
            <a:avLst>
              <a:gd name="adj" fmla="val 6061"/>
            </a:avLst>
          </a:prstGeom>
          <a:solidFill>
            <a:srgbClr val="FFEBEC"/>
          </a:solidFill>
          <a:ln w="19050">
            <a:solidFill>
              <a:srgbClr val="FF5A5F"/>
            </a:solidFill>
            <a:prstDash val="solid"/>
          </a:ln>
        </p:spPr>
      </p:sp>
      <p:pic>
        <p:nvPicPr>
          <p:cNvPr id="19" name="Image 2" descr="times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39593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31720" y="416052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2331720" y="466344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297680" y="3794760"/>
            <a:ext cx="1892808" cy="1207008"/>
          </a:xfrm>
          <a:prstGeom prst="roundRect">
            <a:avLst>
              <a:gd name="adj" fmla="val 6061"/>
            </a:avLst>
          </a:prstGeom>
          <a:solidFill>
            <a:srgbClr val="E4F8EE"/>
          </a:solidFill>
          <a:ln w="19050">
            <a:solidFill>
              <a:srgbClr val="1DBF73"/>
            </a:solidFill>
            <a:prstDash val="solid"/>
          </a:ln>
        </p:spPr>
      </p:sp>
      <p:pic>
        <p:nvPicPr>
          <p:cNvPr id="23" name="Image 3" descr="chec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395935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0" y="416052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B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4297680" y="466344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720840" y="1600200"/>
            <a:ext cx="4892040" cy="4663440"/>
          </a:xfrm>
          <a:prstGeom prst="roundRect">
            <a:avLst>
              <a:gd name="adj" fmla="val 2353"/>
            </a:avLst>
          </a:prstGeom>
          <a:solidFill>
            <a:srgbClr val="12153B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pic>
        <p:nvPicPr>
          <p:cNvPr id="27" name="Image 4" descr="chec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920240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5236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True Positive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452360" y="2167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predicted Positive.</a:t>
            </a:r>
            <a:endParaRPr lang="en-US" sz="1150" dirty="0"/>
          </a:p>
        </p:txBody>
      </p:sp>
      <p:pic>
        <p:nvPicPr>
          <p:cNvPr id="30" name="Image 5" descr="chec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99923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52360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— True Negative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45236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predicted Negative.</a:t>
            </a:r>
            <a:endParaRPr lang="en-US" sz="1150" dirty="0"/>
          </a:p>
        </p:txBody>
      </p:sp>
      <p:pic>
        <p:nvPicPr>
          <p:cNvPr id="33" name="Image 6" descr="times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078224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52360" y="39867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— False Positive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7452360" y="4325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wrongly predicted Positive.</a:t>
            </a:r>
            <a:endParaRPr lang="en-US" sz="1150" dirty="0"/>
          </a:p>
        </p:txBody>
      </p:sp>
      <p:pic>
        <p:nvPicPr>
          <p:cNvPr id="36" name="Image 7" descr="times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5157216"/>
            <a:ext cx="310896" cy="31089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452360" y="50657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— False Negative</a:t>
            </a:r>
            <a:endParaRPr lang="en-US" sz="1400" dirty="0"/>
          </a:p>
        </p:txBody>
      </p:sp>
      <p:sp>
        <p:nvSpPr>
          <p:cNvPr id="38" name="Text 28"/>
          <p:cNvSpPr/>
          <p:nvPr/>
        </p:nvSpPr>
        <p:spPr>
          <a:xfrm>
            <a:off x="7452360" y="54041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B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wrongly predicted Negative.</a:t>
            </a:r>
            <a:endParaRPr lang="en-US" sz="1150" dirty="0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12153B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= (TP + TN) / (TP + TN + FP + FN)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600" dirty="0"/>
          </a:p>
        </p:txBody>
      </p:sp>
      <p:pic>
        <p:nvPicPr>
          <p:cNvPr id="6" name="Image 0" descr="chec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0837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correct predictions.</a:t>
            </a:r>
            <a:endParaRPr lang="en-US" sz="1450" dirty="0"/>
          </a:p>
        </p:txBody>
      </p:sp>
      <p:pic>
        <p:nvPicPr>
          <p:cNvPr id="8" name="Image 1" descr="chec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51129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dataset is balanced.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4343400"/>
            <a:ext cx="57607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4526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48463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= 95
Total Predictions = 100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023360" y="484632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B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= 95%</a:t>
            </a:r>
            <a:endParaRPr lang="en-US" sz="18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675120" y="146304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0"/>
          <p:cNvSpPr/>
          <p:nvPr/>
        </p:nvSpPr>
        <p:spPr>
          <a:xfrm>
            <a:off x="6675120" y="2880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B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4000" dirty="0"/>
          </a:p>
        </p:txBody>
      </p:sp>
      <p:sp>
        <p:nvSpPr>
          <p:cNvPr id="16" name="Text 11"/>
          <p:cNvSpPr/>
          <p:nvPr/>
        </p:nvSpPr>
        <p:spPr>
          <a:xfrm>
            <a:off x="6675120" y="3429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675120" cy="960120"/>
          </a:xfrm>
          <a:prstGeom prst="roundRect">
            <a:avLst>
              <a:gd name="adj" fmla="val 11429"/>
            </a:avLst>
          </a:prstGeom>
          <a:solidFill>
            <a:srgbClr val="12153B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2588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= TP / (TP + FP)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predicted positives, how many are actually positive?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4206240" cy="502920"/>
          </a:xfrm>
          <a:prstGeom prst="roundRect">
            <a:avLst>
              <a:gd name="adj" fmla="val 50909"/>
            </a:avLst>
          </a:prstGeom>
          <a:solidFill>
            <a:srgbClr val="4B4FE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= Fewer False Positives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4572000"/>
            <a:ext cx="548640" cy="548640"/>
          </a:xfrm>
          <a:prstGeom prst="ellipse">
            <a:avLst/>
          </a:prstGeom>
          <a:solidFill>
            <a:srgbClr val="4B4FE0"/>
          </a:solidFill>
          <a:ln/>
        </p:spPr>
      </p:sp>
      <p:pic>
        <p:nvPicPr>
          <p:cNvPr id="11" name="Image 0" descr="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8172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508760" y="4864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marking real emails as spam.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44068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5623560"/>
            <a:ext cx="548640" cy="548640"/>
          </a:xfrm>
          <a:prstGeom prst="ellipse">
            <a:avLst/>
          </a:prstGeom>
          <a:solidFill>
            <a:srgbClr val="4B4FE0"/>
          </a:solidFill>
          <a:ln/>
        </p:spPr>
      </p:sp>
      <p:pic>
        <p:nvPicPr>
          <p:cNvPr id="16" name="Image 1" descr="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73328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5550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1508760" y="5916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flagging legitimate transactions.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955280" y="1828800"/>
            <a:ext cx="3566160" cy="3566160"/>
          </a:xfrm>
          <a:prstGeom prst="ellipse">
            <a:avLst/>
          </a:prstGeom>
          <a:solidFill>
            <a:srgbClr val="4B4FE0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66760" y="2240280"/>
            <a:ext cx="2743200" cy="2743200"/>
          </a:xfrm>
          <a:prstGeom prst="ellipse">
            <a:avLst/>
          </a:prstGeom>
          <a:solidFill>
            <a:srgbClr val="1B1F5C"/>
          </a:solidFill>
          <a:ln/>
        </p:spPr>
      </p:sp>
      <p:pic>
        <p:nvPicPr>
          <p:cNvPr id="21" name="Image 2" descr="crosshai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3154680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675120" cy="960120"/>
          </a:xfrm>
          <a:prstGeom prst="roundRect">
            <a:avLst>
              <a:gd name="adj" fmla="val 11429"/>
            </a:avLst>
          </a:prstGeom>
          <a:solidFill>
            <a:srgbClr val="12153B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2588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= TP / (TP + FN)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actual positives, how many did the model correctly identify?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420624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= Fewer False Negatives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4572000"/>
            <a:ext cx="548640" cy="548640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11" name="Image 0" descr="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8172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508760" y="4864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missing a patient who is sick.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44068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5623560"/>
            <a:ext cx="548640" cy="548640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16" name="Image 1" descr="ribb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73328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5550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Detection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1508760" y="5916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every possible positive case early.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955280" y="1828800"/>
            <a:ext cx="3566160" cy="3566160"/>
          </a:xfrm>
          <a:prstGeom prst="ellipse">
            <a:avLst/>
          </a:prstGeom>
          <a:solidFill>
            <a:srgbClr val="D9534F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66760" y="2240280"/>
            <a:ext cx="2743200" cy="2743200"/>
          </a:xfrm>
          <a:prstGeom prst="ellipse">
            <a:avLst/>
          </a:prstGeom>
          <a:solidFill>
            <a:srgbClr val="1B1F5C"/>
          </a:solidFill>
          <a:ln/>
        </p:spPr>
      </p:sp>
      <p:pic>
        <p:nvPicPr>
          <p:cNvPr id="21" name="Image 2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3154680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hlinkClick r:id="rId2" action="ppaction://hlinksldjump"/>
            <a:extLst>
              <a:ext uri="{FF2B5EF4-FFF2-40B4-BE49-F238E27FC236}">
                <a16:creationId xmlns:a16="http://schemas.microsoft.com/office/drawing/2014/main" id="{8BDFA496-930B-AA4C-F81B-03167845E6D0}"/>
              </a:ext>
            </a:extLst>
          </p:cNvPr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1">
            <a:hlinkClick r:id="rId2" action="ppaction://hlinksldjump"/>
            <a:extLst>
              <a:ext uri="{FF2B5EF4-FFF2-40B4-BE49-F238E27FC236}">
                <a16:creationId xmlns:a16="http://schemas.microsoft.com/office/drawing/2014/main" id="{C476A498-F007-7D10-E58C-00AF84F10139}"/>
              </a:ext>
            </a:extLst>
          </p:cNvPr>
          <p:cNvSpPr/>
          <p:nvPr/>
        </p:nvSpPr>
        <p:spPr>
          <a:xfrm>
            <a:off x="1147572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</a:t>
            </a:r>
            <a:endParaRPr lang="en-US" sz="1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6A4A72C-16E5-3C39-DD68-08F23DFDAC8E}"/>
              </a:ext>
            </a:extLst>
          </p:cNvPr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9080976-65DB-2B44-2C6B-0C8A4CB5F9CA}"/>
              </a:ext>
            </a:extLst>
          </p:cNvPr>
          <p:cNvSpPr/>
          <p:nvPr/>
        </p:nvSpPr>
        <p:spPr>
          <a:xfrm>
            <a:off x="548640" y="62179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 Recall</a:t>
            </a:r>
            <a:endParaRPr lang="en-US" sz="32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5DD4EC7F-C272-3DA5-C333-16048B576FB2}"/>
              </a:ext>
            </a:extLst>
          </p:cNvPr>
          <p:cNvSpPr/>
          <p:nvPr/>
        </p:nvSpPr>
        <p:spPr>
          <a:xfrm>
            <a:off x="548640" y="1737360"/>
            <a:ext cx="5212080" cy="3108960"/>
          </a:xfrm>
          <a:prstGeom prst="roundRect">
            <a:avLst>
              <a:gd name="adj" fmla="val 4118"/>
            </a:avLst>
          </a:prstGeom>
          <a:solidFill>
            <a:srgbClr val="EAF6F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383992A-CC11-AD02-B255-14AE2B1C8E41}"/>
              </a:ext>
            </a:extLst>
          </p:cNvPr>
          <p:cNvSpPr/>
          <p:nvPr/>
        </p:nvSpPr>
        <p:spPr>
          <a:xfrm>
            <a:off x="82296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385020B-13DA-F44E-03FE-7BAF01A1291F}"/>
              </a:ext>
            </a:extLst>
          </p:cNvPr>
          <p:cNvSpPr/>
          <p:nvPr/>
        </p:nvSpPr>
        <p:spPr>
          <a:xfrm>
            <a:off x="82296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correct YES predictions</a:t>
            </a:r>
            <a:endParaRPr lang="en-US" sz="13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7AEC2FDC-603F-F296-F1B8-B292BBA383C7}"/>
              </a:ext>
            </a:extLst>
          </p:cNvPr>
          <p:cNvSpPr/>
          <p:nvPr/>
        </p:nvSpPr>
        <p:spPr>
          <a:xfrm>
            <a:off x="822960" y="2926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Positives</a:t>
            </a:r>
            <a:endParaRPr lang="en-US" sz="13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16FAC49C-CEF5-21A1-7785-11C528ED78B3}"/>
              </a:ext>
            </a:extLst>
          </p:cNvPr>
          <p:cNvSpPr/>
          <p:nvPr/>
        </p:nvSpPr>
        <p:spPr>
          <a:xfrm>
            <a:off x="822960" y="3429000"/>
            <a:ext cx="466344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8C252644-9FA1-FB14-330E-5AEA46F87111}"/>
              </a:ext>
            </a:extLst>
          </p:cNvPr>
          <p:cNvSpPr/>
          <p:nvPr/>
        </p:nvSpPr>
        <p:spPr>
          <a:xfrm>
            <a:off x="822960" y="3566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says someone has a disease, it should be correct.</a:t>
            </a:r>
            <a:endParaRPr lang="en-US" sz="13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90541945-BBCF-A0A5-03BA-DEE3EF2D5D54}"/>
              </a:ext>
            </a:extLst>
          </p:cNvPr>
          <p:cNvSpPr/>
          <p:nvPr/>
        </p:nvSpPr>
        <p:spPr>
          <a:xfrm>
            <a:off x="6355080" y="1737360"/>
            <a:ext cx="5212080" cy="3108960"/>
          </a:xfrm>
          <a:prstGeom prst="roundRect">
            <a:avLst>
              <a:gd name="adj" fmla="val 4118"/>
            </a:avLst>
          </a:prstGeom>
          <a:solidFill>
            <a:srgbClr val="EAF6F5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798BB38-796F-AED0-CBA5-7BDAF342914E}"/>
              </a:ext>
            </a:extLst>
          </p:cNvPr>
          <p:cNvSpPr/>
          <p:nvPr/>
        </p:nvSpPr>
        <p:spPr>
          <a:xfrm>
            <a:off x="662940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6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EE9E3309-B8D4-7D8B-7480-5AE66AB75D6E}"/>
              </a:ext>
            </a:extLst>
          </p:cNvPr>
          <p:cNvSpPr/>
          <p:nvPr/>
        </p:nvSpPr>
        <p:spPr>
          <a:xfrm>
            <a:off x="662940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finding all YES cases</a:t>
            </a:r>
            <a:endParaRPr lang="en-US" sz="13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F1BBC59-9829-AE01-B396-7477E01298D5}"/>
              </a:ext>
            </a:extLst>
          </p:cNvPr>
          <p:cNvSpPr/>
          <p:nvPr/>
        </p:nvSpPr>
        <p:spPr>
          <a:xfrm>
            <a:off x="6629400" y="2926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Negatives</a:t>
            </a:r>
            <a:endParaRPr lang="en-US" sz="13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FF3B36DD-8F13-25E6-4750-60F9532BE649}"/>
              </a:ext>
            </a:extLst>
          </p:cNvPr>
          <p:cNvSpPr/>
          <p:nvPr/>
        </p:nvSpPr>
        <p:spPr>
          <a:xfrm>
            <a:off x="6629400" y="3429000"/>
            <a:ext cx="4663440" cy="0"/>
          </a:xfrm>
          <a:prstGeom prst="line">
            <a:avLst/>
          </a:prstGeom>
          <a:noFill/>
          <a:ln w="9525">
            <a:solidFill>
              <a:srgbClr val="00A896"/>
            </a:solidFill>
            <a:prstDash val="solid"/>
          </a:ln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B2D9B0FA-06CF-E2B6-2759-EC4F7FF499F8}"/>
              </a:ext>
            </a:extLst>
          </p:cNvPr>
          <p:cNvSpPr/>
          <p:nvPr/>
        </p:nvSpPr>
        <p:spPr>
          <a:xfrm>
            <a:off x="6629400" y="3566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should find as many diseased patients as possible.</a:t>
            </a:r>
            <a:endParaRPr lang="en-US" sz="130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65FC93A6-3E46-270D-1F08-DD9C118AC60D}"/>
              </a:ext>
            </a:extLst>
          </p:cNvPr>
          <p:cNvSpPr/>
          <p:nvPr/>
        </p:nvSpPr>
        <p:spPr>
          <a:xfrm>
            <a:off x="5605272" y="2926080"/>
            <a:ext cx="731520" cy="731520"/>
          </a:xfrm>
          <a:prstGeom prst="ellipse">
            <a:avLst/>
          </a:prstGeom>
          <a:solidFill>
            <a:srgbClr val="02343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2F50EC90-B410-380A-FCF8-61B35E83EEA0}"/>
              </a:ext>
            </a:extLst>
          </p:cNvPr>
          <p:cNvSpPr/>
          <p:nvPr/>
        </p:nvSpPr>
        <p:spPr>
          <a:xfrm>
            <a:off x="5605272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5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77A59E65-A851-4C3A-1659-CAFEF8BC0968}"/>
              </a:ext>
            </a:extLst>
          </p:cNvPr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94555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2153B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 = 2 × (Precision × Recall) / (Precision + Recall)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F0"/>
            </a:solidFill>
            <a:prstDash val="solid"/>
          </a:ln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600" dirty="0"/>
          </a:p>
        </p:txBody>
      </p:sp>
      <p:pic>
        <p:nvPicPr>
          <p:cNvPr id="7" name="Image 0" descr="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337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and Recall into a single score.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4114800"/>
            <a:ext cx="4480560" cy="0"/>
          </a:xfrm>
          <a:prstGeom prst="line">
            <a:avLst/>
          </a:prstGeom>
          <a:noFill/>
          <a:ln w="12700">
            <a:solidFill>
              <a:srgbClr val="E5E7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3434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F1 Score when both False Positives and False Negatives are important.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525780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E4F8EE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52578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honest number for imbalanced datasets.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943600" y="2606040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 tests the model on different data splits.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00E5C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73352" y="196596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8" name="Text 6"/>
          <p:cNvSpPr/>
          <p:nvPr/>
        </p:nvSpPr>
        <p:spPr>
          <a:xfrm>
            <a:off x="1673352" y="196596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98064" y="196596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10" name="Text 8"/>
          <p:cNvSpPr/>
          <p:nvPr/>
        </p:nvSpPr>
        <p:spPr>
          <a:xfrm>
            <a:off x="2798064" y="196596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196596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12" name="Text 10"/>
          <p:cNvSpPr/>
          <p:nvPr/>
        </p:nvSpPr>
        <p:spPr>
          <a:xfrm>
            <a:off x="3922776" y="196596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47488" y="196596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14" name="Text 12"/>
          <p:cNvSpPr/>
          <p:nvPr/>
        </p:nvSpPr>
        <p:spPr>
          <a:xfrm>
            <a:off x="5047488" y="196596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965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596896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96896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73352" y="2596896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00E5C7"/>
          </a:solidFill>
          <a:ln/>
        </p:spPr>
      </p:sp>
      <p:sp>
        <p:nvSpPr>
          <p:cNvPr id="19" name="Text 17"/>
          <p:cNvSpPr/>
          <p:nvPr/>
        </p:nvSpPr>
        <p:spPr>
          <a:xfrm>
            <a:off x="1673352" y="2596896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98064" y="2596896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21" name="Text 19"/>
          <p:cNvSpPr/>
          <p:nvPr/>
        </p:nvSpPr>
        <p:spPr>
          <a:xfrm>
            <a:off x="2798064" y="2596896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22776" y="2596896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23" name="Text 21"/>
          <p:cNvSpPr/>
          <p:nvPr/>
        </p:nvSpPr>
        <p:spPr>
          <a:xfrm>
            <a:off x="3922776" y="2596896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47488" y="2596896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25" name="Text 23"/>
          <p:cNvSpPr/>
          <p:nvPr/>
        </p:nvSpPr>
        <p:spPr>
          <a:xfrm>
            <a:off x="5047488" y="2596896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59689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227832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2783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73352" y="3227832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30" name="Text 28"/>
          <p:cNvSpPr/>
          <p:nvPr/>
        </p:nvSpPr>
        <p:spPr>
          <a:xfrm>
            <a:off x="1673352" y="322783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98064" y="3227832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00E5C7"/>
          </a:solidFill>
          <a:ln/>
        </p:spPr>
      </p:sp>
      <p:sp>
        <p:nvSpPr>
          <p:cNvPr id="32" name="Text 30"/>
          <p:cNvSpPr/>
          <p:nvPr/>
        </p:nvSpPr>
        <p:spPr>
          <a:xfrm>
            <a:off x="2798064" y="322783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22776" y="3227832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34" name="Text 32"/>
          <p:cNvSpPr/>
          <p:nvPr/>
        </p:nvSpPr>
        <p:spPr>
          <a:xfrm>
            <a:off x="3922776" y="322783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47488" y="3227832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36" name="Text 34"/>
          <p:cNvSpPr/>
          <p:nvPr/>
        </p:nvSpPr>
        <p:spPr>
          <a:xfrm>
            <a:off x="5047488" y="322783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32278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3858768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858768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73352" y="3858768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41" name="Text 39"/>
          <p:cNvSpPr/>
          <p:nvPr/>
        </p:nvSpPr>
        <p:spPr>
          <a:xfrm>
            <a:off x="1673352" y="3858768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98064" y="3858768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43" name="Text 41"/>
          <p:cNvSpPr/>
          <p:nvPr/>
        </p:nvSpPr>
        <p:spPr>
          <a:xfrm>
            <a:off x="2798064" y="3858768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922776" y="3858768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00E5C7"/>
          </a:solidFill>
          <a:ln/>
        </p:spPr>
      </p:sp>
      <p:sp>
        <p:nvSpPr>
          <p:cNvPr id="45" name="Text 43"/>
          <p:cNvSpPr/>
          <p:nvPr/>
        </p:nvSpPr>
        <p:spPr>
          <a:xfrm>
            <a:off x="3922776" y="3858768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47488" y="3858768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47" name="Text 45"/>
          <p:cNvSpPr/>
          <p:nvPr/>
        </p:nvSpPr>
        <p:spPr>
          <a:xfrm>
            <a:off x="5047488" y="3858768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63640" y="38587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48640" y="4489704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48970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673352" y="4489704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52" name="Text 50"/>
          <p:cNvSpPr/>
          <p:nvPr/>
        </p:nvSpPr>
        <p:spPr>
          <a:xfrm>
            <a:off x="1673352" y="448970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98064" y="4489704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54" name="Text 52"/>
          <p:cNvSpPr/>
          <p:nvPr/>
        </p:nvSpPr>
        <p:spPr>
          <a:xfrm>
            <a:off x="2798064" y="448970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922776" y="4489704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1B1F5C"/>
          </a:solidFill>
          <a:ln/>
        </p:spPr>
      </p:sp>
      <p:sp>
        <p:nvSpPr>
          <p:cNvPr id="56" name="Text 54"/>
          <p:cNvSpPr/>
          <p:nvPr/>
        </p:nvSpPr>
        <p:spPr>
          <a:xfrm>
            <a:off x="3922776" y="448970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47488" y="4489704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00E5C7"/>
          </a:solidFill>
          <a:ln/>
        </p:spPr>
      </p:sp>
      <p:sp>
        <p:nvSpPr>
          <p:cNvPr id="58" name="Text 56"/>
          <p:cNvSpPr/>
          <p:nvPr/>
        </p:nvSpPr>
        <p:spPr>
          <a:xfrm>
            <a:off x="5047488" y="4489704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63640" y="44897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8092440" y="1600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092440" y="20574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2153B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47888" y="2221992"/>
            <a:ext cx="530352" cy="530352"/>
          </a:xfrm>
          <a:prstGeom prst="ellipse">
            <a:avLst/>
          </a:prstGeom>
          <a:solidFill>
            <a:srgbClr val="4B4FE0"/>
          </a:solidFill>
          <a:ln/>
        </p:spPr>
      </p:sp>
      <p:pic>
        <p:nvPicPr>
          <p:cNvPr id="63" name="Image 0" descr="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331720"/>
            <a:ext cx="310896" cy="310896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8915400" y="20574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performance estimate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8092440" y="30632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2153B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8247888" y="3227832"/>
            <a:ext cx="530352" cy="530352"/>
          </a:xfrm>
          <a:prstGeom prst="ellipse">
            <a:avLst/>
          </a:prstGeom>
          <a:solidFill>
            <a:srgbClr val="4B4FE0"/>
          </a:solidFill>
          <a:ln/>
        </p:spPr>
      </p:sp>
      <p:pic>
        <p:nvPicPr>
          <p:cNvPr id="67" name="Image 1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3337560"/>
            <a:ext cx="310896" cy="310896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8915400" y="30632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</a:t>
            </a:r>
            <a:endParaRPr lang="en-US" sz="1300" dirty="0"/>
          </a:p>
        </p:txBody>
      </p:sp>
      <p:sp>
        <p:nvSpPr>
          <p:cNvPr id="69" name="Shape 65"/>
          <p:cNvSpPr/>
          <p:nvPr/>
        </p:nvSpPr>
        <p:spPr>
          <a:xfrm>
            <a:off x="8092440" y="4069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2153B"/>
          </a:solidFill>
          <a:ln/>
          <a:effectLst>
            <a:outerShdw blurRad="127000" dist="50800" dir="5400000" algn="bl" rotWithShape="0">
              <a:srgbClr val="1B1F3B">
                <a:alpha val="18000"/>
              </a:srgbClr>
            </a:outerShdw>
          </a:effectLst>
        </p:spPr>
      </p:sp>
      <p:sp>
        <p:nvSpPr>
          <p:cNvPr id="70" name="Shape 66"/>
          <p:cNvSpPr/>
          <p:nvPr/>
        </p:nvSpPr>
        <p:spPr>
          <a:xfrm>
            <a:off x="8247888" y="4233672"/>
            <a:ext cx="530352" cy="530352"/>
          </a:xfrm>
          <a:prstGeom prst="ellipse">
            <a:avLst/>
          </a:prstGeom>
          <a:solidFill>
            <a:srgbClr val="4B4FE0"/>
          </a:solidFill>
          <a:ln/>
        </p:spPr>
      </p:sp>
      <p:pic>
        <p:nvPicPr>
          <p:cNvPr id="71" name="Image 2" descr="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4343400"/>
            <a:ext cx="310896" cy="310896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8915400" y="40690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all data efficiently</a:t>
            </a:r>
            <a:endParaRPr lang="en-US" sz="1300" dirty="0"/>
          </a:p>
        </p:txBody>
      </p:sp>
      <p:sp>
        <p:nvSpPr>
          <p:cNvPr id="73" name="Text 68"/>
          <p:cNvSpPr/>
          <p:nvPr/>
        </p:nvSpPr>
        <p:spPr>
          <a:xfrm>
            <a:off x="54864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VARIATIONS</a:t>
            </a:r>
            <a:endParaRPr lang="en-US" sz="1200" dirty="0"/>
          </a:p>
        </p:txBody>
      </p:sp>
      <p:sp>
        <p:nvSpPr>
          <p:cNvPr id="74" name="Shape 69"/>
          <p:cNvSpPr/>
          <p:nvPr/>
        </p:nvSpPr>
        <p:spPr>
          <a:xfrm>
            <a:off x="548640" y="5486400"/>
            <a:ext cx="3058668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4B4FE0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548640" y="5486400"/>
            <a:ext cx="3058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</a:t>
            </a:r>
            <a:endParaRPr lang="en-US" sz="1300" dirty="0"/>
          </a:p>
        </p:txBody>
      </p:sp>
      <p:sp>
        <p:nvSpPr>
          <p:cNvPr id="76" name="Shape 71"/>
          <p:cNvSpPr/>
          <p:nvPr/>
        </p:nvSpPr>
        <p:spPr>
          <a:xfrm>
            <a:off x="3835908" y="5486400"/>
            <a:ext cx="3163824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4B4FE0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3835908" y="5486400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Cross Validation</a:t>
            </a:r>
            <a:endParaRPr lang="en-US" sz="1300" dirty="0"/>
          </a:p>
        </p:txBody>
      </p:sp>
      <p:pic>
        <p:nvPicPr>
          <p:cNvPr id="78" name="Image 3" descr="sync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10881360" y="6126480"/>
            <a:ext cx="548640" cy="54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hlinkClick r:id="rId2" action="ppaction://hlinksldjump"/>
            <a:extLst>
              <a:ext uri="{FF2B5EF4-FFF2-40B4-BE49-F238E27FC236}">
                <a16:creationId xmlns:a16="http://schemas.microsoft.com/office/drawing/2014/main" id="{BD7529CB-FBAD-7E95-C8B0-D81065FCC973}"/>
              </a:ext>
            </a:extLst>
          </p:cNvPr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1">
            <a:hlinkClick r:id="rId2" action="ppaction://hlinksldjump"/>
            <a:extLst>
              <a:ext uri="{FF2B5EF4-FFF2-40B4-BE49-F238E27FC236}">
                <a16:creationId xmlns:a16="http://schemas.microsoft.com/office/drawing/2014/main" id="{FB86EA24-F469-7C74-DE1B-CA41A100D9BA}"/>
              </a:ext>
            </a:extLst>
          </p:cNvPr>
          <p:cNvSpPr/>
          <p:nvPr/>
        </p:nvSpPr>
        <p:spPr>
          <a:xfrm>
            <a:off x="1147572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</a:t>
            </a:r>
            <a:endParaRPr lang="en-US" sz="1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BAE1F6D-B501-B197-0E75-F01CD97470F5}"/>
              </a:ext>
            </a:extLst>
          </p:cNvPr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2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5644747-E9DA-A856-3116-EEDBCFC316F7}"/>
              </a:ext>
            </a:extLst>
          </p:cNvPr>
          <p:cNvSpPr/>
          <p:nvPr/>
        </p:nvSpPr>
        <p:spPr>
          <a:xfrm>
            <a:off x="548640" y="62179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Yourself!</a:t>
            </a:r>
            <a:endParaRPr lang="en-US" sz="32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BE8941F0-DAE9-462B-C7AE-1B6342F2F7D7}"/>
              </a:ext>
            </a:extLst>
          </p:cNvPr>
          <p:cNvSpPr/>
          <p:nvPr/>
        </p:nvSpPr>
        <p:spPr>
          <a:xfrm>
            <a:off x="548640" y="1691640"/>
            <a:ext cx="11064240" cy="1463040"/>
          </a:xfrm>
          <a:prstGeom prst="roundRect">
            <a:avLst>
              <a:gd name="adj" fmla="val 8750"/>
            </a:avLst>
          </a:prstGeom>
          <a:solidFill>
            <a:srgbClr val="EAF6F5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7FACCA7-5B3D-E016-91E1-DE1A74BD542D}"/>
              </a:ext>
            </a:extLst>
          </p:cNvPr>
          <p:cNvSpPr/>
          <p:nvPr/>
        </p:nvSpPr>
        <p:spPr>
          <a:xfrm>
            <a:off x="868680" y="169164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spam model flags 30 emails as spam. Only 24 of them are actually spam. What is the Precision?</a:t>
            </a:r>
            <a:endParaRPr lang="en-US" sz="1900" dirty="0"/>
          </a:p>
        </p:txBody>
      </p:sp>
      <p:sp>
        <p:nvSpPr>
          <p:cNvPr id="15" name="Shape 6">
            <a:hlinkClick r:id="" action="ppaction://noaction"/>
            <a:extLst>
              <a:ext uri="{FF2B5EF4-FFF2-40B4-BE49-F238E27FC236}">
                <a16:creationId xmlns:a16="http://schemas.microsoft.com/office/drawing/2014/main" id="{EE199944-631F-7096-2398-38AC6A5BB2D3}"/>
              </a:ext>
            </a:extLst>
          </p:cNvPr>
          <p:cNvSpPr/>
          <p:nvPr/>
        </p:nvSpPr>
        <p:spPr>
          <a:xfrm>
            <a:off x="548640" y="35204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028090"/>
          </a:solidFill>
          <a:ln/>
          <a:effectLst>
            <a:outerShdw blurRad="63500" dist="25400" dir="5400000" algn="bl" rotWithShape="0">
              <a:srgbClr val="1F4E4E">
                <a:alpha val="20000"/>
              </a:srgbClr>
            </a:outerShdw>
          </a:effectLst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2D9A4B9-8C72-D6F4-846F-FD03117F93AF}"/>
              </a:ext>
            </a:extLst>
          </p:cNvPr>
          <p:cNvSpPr/>
          <p:nvPr/>
        </p:nvSpPr>
        <p:spPr>
          <a:xfrm>
            <a:off x="68580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Text 8">
            <a:hlinkClick r:id="" action="ppaction://noaction"/>
            <a:extLst>
              <a:ext uri="{FF2B5EF4-FFF2-40B4-BE49-F238E27FC236}">
                <a16:creationId xmlns:a16="http://schemas.microsoft.com/office/drawing/2014/main" id="{D02A743A-4913-997F-E127-83FE6490996D}"/>
              </a:ext>
            </a:extLst>
          </p:cNvPr>
          <p:cNvSpPr/>
          <p:nvPr/>
        </p:nvSpPr>
        <p:spPr>
          <a:xfrm>
            <a:off x="548640" y="35204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70%</a:t>
            </a:r>
            <a:endParaRPr lang="en-US" sz="3000" dirty="0"/>
          </a:p>
        </p:txBody>
      </p:sp>
      <p:sp>
        <p:nvSpPr>
          <p:cNvPr id="21" name="Shape 9">
            <a:hlinkClick r:id="" action="ppaction://noaction"/>
            <a:extLst>
              <a:ext uri="{FF2B5EF4-FFF2-40B4-BE49-F238E27FC236}">
                <a16:creationId xmlns:a16="http://schemas.microsoft.com/office/drawing/2014/main" id="{824E827A-38A6-6560-AB99-E639CF1D280E}"/>
              </a:ext>
            </a:extLst>
          </p:cNvPr>
          <p:cNvSpPr/>
          <p:nvPr/>
        </p:nvSpPr>
        <p:spPr>
          <a:xfrm>
            <a:off x="3383280" y="35204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00A896"/>
          </a:solidFill>
          <a:ln/>
          <a:effectLst>
            <a:outerShdw blurRad="63500" dist="25400" dir="5400000" algn="bl" rotWithShape="0">
              <a:srgbClr val="1F4E4E">
                <a:alpha val="20000"/>
              </a:srgbClr>
            </a:outerShdw>
          </a:effectLst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253BDAE-CE37-0A41-E68A-19B6BE4B86BC}"/>
              </a:ext>
            </a:extLst>
          </p:cNvPr>
          <p:cNvSpPr/>
          <p:nvPr/>
        </p:nvSpPr>
        <p:spPr>
          <a:xfrm>
            <a:off x="352044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Text 11">
            <a:hlinkClick r:id="" action="ppaction://noaction"/>
            <a:extLst>
              <a:ext uri="{FF2B5EF4-FFF2-40B4-BE49-F238E27FC236}">
                <a16:creationId xmlns:a16="http://schemas.microsoft.com/office/drawing/2014/main" id="{1A394FFC-7D6F-4D6E-6E39-2290DF3FA845}"/>
              </a:ext>
            </a:extLst>
          </p:cNvPr>
          <p:cNvSpPr/>
          <p:nvPr/>
        </p:nvSpPr>
        <p:spPr>
          <a:xfrm>
            <a:off x="3383280" y="35204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80%</a:t>
            </a:r>
            <a:endParaRPr lang="en-US" sz="3000" dirty="0"/>
          </a:p>
        </p:txBody>
      </p:sp>
      <p:sp>
        <p:nvSpPr>
          <p:cNvPr id="27" name="Shape 12">
            <a:hlinkClick r:id="" action="ppaction://noaction"/>
            <a:extLst>
              <a:ext uri="{FF2B5EF4-FFF2-40B4-BE49-F238E27FC236}">
                <a16:creationId xmlns:a16="http://schemas.microsoft.com/office/drawing/2014/main" id="{73B0D7A9-0D30-2D86-7247-FFEAEDB6ADDB}"/>
              </a:ext>
            </a:extLst>
          </p:cNvPr>
          <p:cNvSpPr/>
          <p:nvPr/>
        </p:nvSpPr>
        <p:spPr>
          <a:xfrm>
            <a:off x="6217920" y="35204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028090"/>
          </a:solidFill>
          <a:ln/>
          <a:effectLst>
            <a:outerShdw blurRad="63500" dist="25400" dir="5400000" algn="bl" rotWithShape="0">
              <a:srgbClr val="1F4E4E">
                <a:alpha val="20000"/>
              </a:srgbClr>
            </a:outerShdw>
          </a:effectLst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A7E4CF36-BD07-1AB8-C1CC-BCA27FBFF5BB}"/>
              </a:ext>
            </a:extLst>
          </p:cNvPr>
          <p:cNvSpPr/>
          <p:nvPr/>
        </p:nvSpPr>
        <p:spPr>
          <a:xfrm>
            <a:off x="635508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1" name="Text 14">
            <a:hlinkClick r:id="" action="ppaction://noaction"/>
            <a:extLst>
              <a:ext uri="{FF2B5EF4-FFF2-40B4-BE49-F238E27FC236}">
                <a16:creationId xmlns:a16="http://schemas.microsoft.com/office/drawing/2014/main" id="{6A7B5C97-97BD-A413-1458-27D71AE3A247}"/>
              </a:ext>
            </a:extLst>
          </p:cNvPr>
          <p:cNvSpPr/>
          <p:nvPr/>
        </p:nvSpPr>
        <p:spPr>
          <a:xfrm>
            <a:off x="6217920" y="35204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24%</a:t>
            </a:r>
            <a:endParaRPr lang="en-US" sz="3000" dirty="0"/>
          </a:p>
        </p:txBody>
      </p:sp>
      <p:sp>
        <p:nvSpPr>
          <p:cNvPr id="33" name="Shape 15">
            <a:hlinkClick r:id="" action="ppaction://noaction"/>
            <a:extLst>
              <a:ext uri="{FF2B5EF4-FFF2-40B4-BE49-F238E27FC236}">
                <a16:creationId xmlns:a16="http://schemas.microsoft.com/office/drawing/2014/main" id="{A53870EB-48F6-2DF9-E7D5-8909F9C0E877}"/>
              </a:ext>
            </a:extLst>
          </p:cNvPr>
          <p:cNvSpPr/>
          <p:nvPr/>
        </p:nvSpPr>
        <p:spPr>
          <a:xfrm>
            <a:off x="9052560" y="352044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00A896"/>
          </a:solidFill>
          <a:ln/>
          <a:effectLst>
            <a:outerShdw blurRad="63500" dist="25400" dir="5400000" algn="bl" rotWithShape="0">
              <a:srgbClr val="1F4E4E">
                <a:alpha val="20000"/>
              </a:srgbClr>
            </a:outerShdw>
          </a:effectLst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F7FA8631-BB91-60AF-1EE9-F1B51FB4A40C}"/>
              </a:ext>
            </a:extLst>
          </p:cNvPr>
          <p:cNvSpPr/>
          <p:nvPr/>
        </p:nvSpPr>
        <p:spPr>
          <a:xfrm>
            <a:off x="918972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7" name="Text 17">
            <a:hlinkClick r:id="" action="ppaction://noaction"/>
            <a:extLst>
              <a:ext uri="{FF2B5EF4-FFF2-40B4-BE49-F238E27FC236}">
                <a16:creationId xmlns:a16="http://schemas.microsoft.com/office/drawing/2014/main" id="{F9238721-8199-3D8C-A5EC-CEFA964E9C38}"/>
              </a:ext>
            </a:extLst>
          </p:cNvPr>
          <p:cNvSpPr/>
          <p:nvPr/>
        </p:nvSpPr>
        <p:spPr>
          <a:xfrm>
            <a:off x="9052560" y="35204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90%</a:t>
            </a:r>
            <a:endParaRPr lang="en-US" sz="30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EE4A3053-2C7A-9656-7CAB-0AC144560435}"/>
              </a:ext>
            </a:extLst>
          </p:cNvPr>
          <p:cNvSpPr/>
          <p:nvPr/>
        </p:nvSpPr>
        <p:spPr>
          <a:xfrm>
            <a:off x="54864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answer to reveal the solution →</a:t>
            </a:r>
            <a:endParaRPr lang="en-US" sz="13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3700F7AA-C182-86D0-A0C4-AD90A2CF8B6A}"/>
              </a:ext>
            </a:extLst>
          </p:cNvPr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 ·  Model Evaluation</a:t>
            </a:r>
            <a:endParaRPr lang="en-US" sz="9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6AC6F37A-B67F-6DB2-CEFC-BD02199B6661}"/>
              </a:ext>
            </a:extLst>
          </p:cNvPr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46462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 answer is D) 80%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3108960"/>
          </a:xfrm>
          <a:prstGeom prst="roundRect">
            <a:avLst>
              <a:gd name="adj" fmla="val 4118"/>
            </a:avLst>
          </a:prstGeom>
          <a:solidFill>
            <a:srgbClr val="014D4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spam = </a:t>
            </a: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
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spam (TP) = </a:t>
            </a: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
</a:t>
            </a: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TP / Predicted Yes
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24 / 30 = </a:t>
            </a: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 → 80%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818120" y="1828800"/>
            <a:ext cx="2834640" cy="2834640"/>
          </a:xfrm>
          <a:prstGeom prst="ellipse">
            <a:avLst/>
          </a:prstGeom>
          <a:ln w="254000">
            <a:solidFill>
              <a:srgbClr val="014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1828800"/>
            <a:ext cx="2834640" cy="2834640"/>
          </a:xfrm>
          <a:prstGeom prst="pie">
            <a:avLst>
              <a:gd name="adj1" fmla="val 16200000"/>
              <a:gd name="adj2" fmla="val 11880000"/>
            </a:avLst>
          </a:prstGeom>
          <a:ln w="2540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82880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b="1" dirty="0">
              <a:solidFill>
                <a:srgbClr val="FF000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endParaRPr lang="en-US" sz="4000" b="1" dirty="0">
              <a:solidFill>
                <a:srgbClr val="FF000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 ·  Model Evaluation</a:t>
            </a:r>
            <a:endParaRPr lang="en-US" sz="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</TotalTime>
  <Words>620</Words>
  <Application>Microsoft Office PowerPoint</Application>
  <PresentationFormat>Widescreen</PresentationFormat>
  <Paragraphs>165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VENKATESH .K</cp:lastModifiedBy>
  <cp:revision>2</cp:revision>
  <dcterms:created xsi:type="dcterms:W3CDTF">2026-07-14T02:48:58Z</dcterms:created>
  <dcterms:modified xsi:type="dcterms:W3CDTF">2026-07-14T02:58:05Z</dcterms:modified>
</cp:coreProperties>
</file>