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394960"/>
            <a:ext cx="1463040" cy="14630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  •  MACHINE LEARNING SERIES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Machine Learning Models using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pPr indent="0" marL="0">
              <a:buNone/>
            </a:pPr>
            <a:r>
              <a:rPr lang="en-US" sz="18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model to find its best settings — before it ever sees the test.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 Yesterday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4173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75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2075688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0756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34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8720" y="2734056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7340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3392424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3924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4050792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0507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88720" y="47091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709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09360" y="14173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better if Accuracy is 95%?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2606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answer: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with the higher accuracy.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6118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ASK...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improve accuracy even more?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3680" y="4754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answer:  </a:t>
            </a:r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Using Hyperparameter Tuning.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Hyperparameter Tuning?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E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finding the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settings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machine learning model to get the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4754880" cy="0"/>
          </a:xfrm>
          <a:prstGeom prst="line">
            <a:avLst/>
          </a:prstGeom>
          <a:noFill/>
          <a:ln w="12700">
            <a:solidFill>
              <a:srgbClr val="3E7C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776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search for the sweet spot — not too simple, not too complex.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EXAMPLE — RIDING A BIKE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buy a bike.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riding</a:t>
            </a:r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adjust: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260604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606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height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315468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3154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angle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370332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3703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position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3434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settings improve your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Similarly, we adjust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settings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improve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process is called Hyperparameter Tuning.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EVERYDAY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Cooking Rice = Tuning a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cooking rice. You decide the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amount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time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Different settings give a different taste — Machine Learning works the same way.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3796" y="28346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Settings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45636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48556" y="28346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448556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Accuracy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40396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243316" y="28346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8243316" y="28346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Settings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3796" y="47091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" y="47091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"correct" setting for every dataset — the best combination is discovered through experimentation and evaluation, not guesswork.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DISTINCTION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vs Hyperparameter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3492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Learned by the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Cannot be changed manually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Weights (in a neural network)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4630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6304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E8871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63640" y="1783080"/>
            <a:ext cx="5349240" cy="32004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630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before training begins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0175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 choose it manually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70332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K value, Tree Depth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sentence:   </a:t>
            </a:r>
            <a:pPr algn="l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learned automatically  →  </a:t>
            </a:r>
            <a:pPr algn="l"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given by us.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Settings Change Model 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tries to minimize its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(loss)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training data. Hyperparameters control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flexible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 is allowed to be — and that flexibility can go too low or too high.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35204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simple. It misses real patterns in the data.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 = 25 in KNN — too general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33172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606040"/>
            <a:ext cx="352044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3317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captures the true pattern without memorizing noise.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tuning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3317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33172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2606040"/>
            <a:ext cx="3520440" cy="274320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3317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too complex. It memorizes training data, including noise.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max_depth = None — too specific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8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searches for the balance point between underfitting and overfitting.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HYPERPARAMETERS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Across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97380" y="1920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0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Neighbors (K)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11480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 = 3, 5, 7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5204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92140" y="1920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69214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4340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35204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3520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663440" y="411480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352044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86900" y="192024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2" name="Text 20"/>
          <p:cNvSpPr/>
          <p:nvPr/>
        </p:nvSpPr>
        <p:spPr>
          <a:xfrm>
            <a:off x="94869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13816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458200" y="352044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3520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Trees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458200" y="411480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EF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Depth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expose different "knobs" — but tuning always means searching for the setting that gives the best validation performance.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Hyperparameter Tuning?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1620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TUNING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A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2011680"/>
          </a:xfrm>
          <a:prstGeom prst="roundRect">
            <a:avLst>
              <a:gd name="adj" fmla="val 6364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D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874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623560" y="1920240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2200" y="37947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12280" y="3794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47091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Model Performance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Space &amp; Cross-Validation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SEARCH SPACE?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simply the full list of hyperparameter values we are willing to try — for example K = 3, 5, 7, 9.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tools like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simply explore this space in different ways — one exhaustively, one randomly.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475488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617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search space = more combinations = more computation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"cv=5"?  RECALL: CROSS-VALIDATION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hyperparameter combination is not tested once — it's tested using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(from yesterday!).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means: split data into 5 folds, train on 4, validate on 1, and rotate 5 times — then average the score.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4434840"/>
            <a:ext cx="4754880" cy="0"/>
          </a:xfrm>
          <a:prstGeom prst="line">
            <a:avLst/>
          </a:prstGeom>
          <a:noFill/>
          <a:ln w="12700">
            <a:solidFill>
              <a:srgbClr val="3E7C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6177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choosing settings that just got lucky on one split of the data.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GridSearchCV?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E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tries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combination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hyperparameter values to find the single best one.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7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thorough — it leaves nothing to chance — but it must evaluate every cell of the grid.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values: </a:t>
            </a:r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</a:t>
            </a:r>
            <a:pPr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distance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uniform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778240" y="24231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distance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89320" y="3108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uniform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78240" y="31089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108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distance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89320" y="3794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794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uniform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78240" y="379476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7947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distance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89320" y="4709160"/>
            <a:ext cx="5577840" cy="1097280"/>
          </a:xfrm>
          <a:prstGeom prst="roundRect">
            <a:avLst>
              <a:gd name="adj" fmla="val 8333"/>
            </a:avLst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709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checks all 6 combinations, then selects the best one automatically.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— 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GridSearchCV: Checking Every Combination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values: </a:t>
            </a:r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3, 5, 7     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Size: </a:t>
            </a:r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20, 30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965960"/>
          <a:ext cx="594360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combinations checked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the model then chooses the single combination with the highest cross-validation score.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Disadvantages of GridSearchCV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Accurate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246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Combination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34924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78308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237744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2377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324612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52360" y="3246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More Time (esp. with many parameters)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 search space is small, GridSearchCV is a safe, thorough default.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RandomizedSearchCV?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every combination,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only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combinations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3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when the search space is large — a smart shortcut, not a full sweep.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920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there are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combinations</a:t>
            </a:r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total.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60604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EFF6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743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 checks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combinations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26480" y="397764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E887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 checks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 random ones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5349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— with a small trade-off in thoroughness.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vs RandomizedSearchCV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508760"/>
          <a:ext cx="960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29000"/>
                <a:gridCol w="3429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RandomizedSearchCV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all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random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accurate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accurate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80160" y="4892040"/>
            <a:ext cx="9601200" cy="1051560"/>
          </a:xfrm>
          <a:prstGeom prst="roundRect">
            <a:avLst>
              <a:gd name="adj" fmla="val 10435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4892040"/>
            <a:ext cx="9052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question: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faster?   </a:t>
            </a:r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→ RandomizedSearchCV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154680" y="18973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00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0" y="18973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00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32520" y="18973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00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98982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5468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154680" y="34518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756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315468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943600" y="34518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2648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315468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32520" y="34518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915400" y="315468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871E"/>
          </a:solidFill>
          <a:ln/>
        </p:spPr>
      </p:sp>
      <p:sp>
        <p:nvSpPr>
          <p:cNvPr id="26" name="Text 24"/>
          <p:cNvSpPr/>
          <p:nvPr/>
        </p:nvSpPr>
        <p:spPr>
          <a:xfrm>
            <a:off x="8915400" y="315468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happens between choosing a model and training the final version — it's a preparation step, not a one-time guess.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Code — GridSearchCV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4572000"/>
          </a:xfrm>
          <a:prstGeom prst="roundRect">
            <a:avLst>
              <a:gd name="adj" fmla="val 2000"/>
            </a:avLst>
          </a:prstGeom>
          <a:solidFill>
            <a:srgbClr val="1320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 =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'n_neighbors': [3, 5, 7, 9]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GridSearchCV(model, parameters, cv=5)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grid.fit(X_train, y_train)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print(grid.best_params_)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print(grid.best_score_)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52360" y="1463040"/>
            <a:ext cx="4160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best_params_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2057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best hyperparameter settings found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2926080"/>
            <a:ext cx="3657600" cy="0"/>
          </a:xfrm>
          <a:prstGeom prst="line">
            <a:avLst/>
          </a:prstGeom>
          <a:noFill/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best_score_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80960" y="34290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best cross-validated accuracy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3840480"/>
            <a:ext cx="4160520" cy="219456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4023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cv=5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5-fold cross-validation is used to score every combination fairly.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Code — RandomizedSearchCV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675120" cy="4572000"/>
          </a:xfrm>
          <a:prstGeom prst="roundRect">
            <a:avLst>
              <a:gd name="adj" fmla="val 2000"/>
            </a:avLst>
          </a:prstGeom>
          <a:solidFill>
            <a:srgbClr val="1320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RandomizedSearchCV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= RandomizedSearchCV(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parameters,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n_iter=2,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random.fit(X_train, y_train)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9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print(random.best_params_)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52360" y="1463040"/>
            <a:ext cx="416052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2668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Means: how many random combinations to check.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2668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n_iter=2</a:t>
            </a:r>
            <a:pPr indent="0" marL="0">
              <a:buNone/>
            </a:pPr>
            <a:r>
              <a:rPr lang="en-US" sz="1350" dirty="0">
                <a:solidFill>
                  <a:srgbClr val="E3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here checks only 2 random combinations out of all possible ones.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52360" y="3931920"/>
            <a:ext cx="4160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45262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randomness so the same random combinations are picked every time you run the code — for reproducible results.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Example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4520" y="2446934"/>
            <a:ext cx="2194560" cy="2765146"/>
          </a:xfrm>
          <a:prstGeom prst="roundRect">
            <a:avLst>
              <a:gd name="adj" fmla="val 3333"/>
            </a:avLst>
          </a:prstGeom>
          <a:solidFill>
            <a:srgbClr val="8AA6C2"/>
          </a:solidFill>
          <a:ln/>
        </p:spPr>
      </p:sp>
      <p:sp>
        <p:nvSpPr>
          <p:cNvPr id="5" name="Text 3"/>
          <p:cNvSpPr/>
          <p:nvPr/>
        </p:nvSpPr>
        <p:spPr>
          <a:xfrm>
            <a:off x="1874520" y="194401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Tuning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83480" y="2216506"/>
            <a:ext cx="2194560" cy="2995574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71358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2249424"/>
            <a:ext cx="2194560" cy="2962656"/>
          </a:xfrm>
          <a:prstGeom prst="roundRect">
            <a:avLst>
              <a:gd name="adj" fmla="val 3333"/>
            </a:avLst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7465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1812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80160" y="5212080"/>
            <a:ext cx="9601200" cy="0"/>
          </a:xfrm>
          <a:prstGeom prst="line">
            <a:avLst/>
          </a:prstGeom>
          <a:noFill/>
          <a:ln w="19050">
            <a:solidFill>
              <a:srgbClr val="B9CB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9893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989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tuning methods improved the model — GridSearchCV slightly more, RandomizedSearchCV far faster.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CORNER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620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is Hyperparameter Tuning?”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E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process of finding the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settings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training, in order to improve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Activity — Buying a Mobile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are buying a mobile phone. You compare: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160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...before purchasing. Is this similar to Hyperparameter Tuning?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YES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 compare different settings (specs) before selecting the best one for our needs — exactly like a model comparing hyperparameter combinations before choosing the best-performing one.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tip: ask students what would happen if they only checked ONE phone before buying — connect it back to why searching matters.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We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— finding the best model settings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50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vs Hyperparameters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008376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0083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tuning matters (underfitting ↔ overfitting)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667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6667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— exhaustive search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— fast random search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0" y="2350008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2350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GridSearchCV &amp; RandomizedSearchCV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3008376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0083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in Python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models aren't found — they're tuned.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2026-07-14T04:51:34Z</dcterms:created>
  <dcterms:modified xsi:type="dcterms:W3CDTF">2026-07-14T04:51:34Z</dcterms:modified>
</cp:coreProperties>
</file>