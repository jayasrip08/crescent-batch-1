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87018B-3113-405C-8BD9-A1C49C4AF5BB}" v="4" dt="2026-07-07T02:08:54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A" userId="d4aefb4dc3848e3c" providerId="LiveId" clId="{46E49844-1F58-4ABC-9BB8-1F83FEF183FC}"/>
    <pc:docChg chg="undo custSel modSld">
      <pc:chgData name="Rajesh A" userId="d4aefb4dc3848e3c" providerId="LiveId" clId="{46E49844-1F58-4ABC-9BB8-1F83FEF183FC}" dt="2026-07-07T02:09:04.770" v="36" actId="20577"/>
      <pc:docMkLst>
        <pc:docMk/>
      </pc:docMkLst>
      <pc:sldChg chg="modSp mod">
        <pc:chgData name="Rajesh A" userId="d4aefb4dc3848e3c" providerId="LiveId" clId="{46E49844-1F58-4ABC-9BB8-1F83FEF183FC}" dt="2026-07-07T02:09:04.770" v="36" actId="20577"/>
        <pc:sldMkLst>
          <pc:docMk/>
          <pc:sldMk cId="0" sldId="261"/>
        </pc:sldMkLst>
        <pc:spChg chg="mod">
          <ac:chgData name="Rajesh A" userId="d4aefb4dc3848e3c" providerId="LiveId" clId="{46E49844-1F58-4ABC-9BB8-1F83FEF183FC}" dt="2026-07-07T02:08:49.339" v="26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Rajesh A" userId="d4aefb4dc3848e3c" providerId="LiveId" clId="{46E49844-1F58-4ABC-9BB8-1F83FEF183FC}" dt="2026-07-07T02:09:04.770" v="36" actId="20577"/>
          <ac:spMkLst>
            <pc:docMk/>
            <pc:sldMk cId="0" sldId="261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341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E9456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F346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Part 2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2860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 •  Grouping  •  Merging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rows based on conditions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EC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325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783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data with groupby()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429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DataFrames like SQL joins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Tasks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0" y="3429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 with real data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Filtering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C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Filtering?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rows that match a condition.
Like WHERE clause in SQL.
Returns a new DataFrame with matching rows only.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297680" cy="3291840"/>
          </a:xfrm>
          <a:prstGeom prst="roundRect">
            <a:avLst>
              <a:gd name="adj" fmla="val 2778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rows where age &gt; 25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12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1200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['age']</a:t>
            </a:r>
            <a:r>
              <a:rPr lang="en-US" sz="12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2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by string value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880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12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1200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['city']</a:t>
            </a:r>
            <a:r>
              <a:rPr lang="en-US" sz="12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1200" dirty="0">
                <a:solidFill>
                  <a:srgbClr val="4ECC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'Chennai'</a:t>
            </a:r>
            <a:r>
              <a:rPr lang="en-US" sz="12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Using .query() method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3794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1200" dirty="0">
                <a:solidFill>
                  <a:srgbClr val="A8B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200" dirty="0">
                <a:solidFill>
                  <a:srgbClr val="4ECC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('age &gt; 25')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Conditions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ECC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must be True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condition is True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the condition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8412480" cy="2194560"/>
          </a:xfrm>
          <a:prstGeom prst="roundRect">
            <a:avLst>
              <a:gd name="adj" fmla="val 4167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743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- age &gt; 25 AND city is Chennai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2999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df[(df['age'] &gt; 25) &amp; (df['city'] == 'Chennai')]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5112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- age &lt; 18 OR age &gt; 60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7673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df[(df['age'] &lt; 18) | (df['age'] &gt; 60)]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2793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- exclude Chennai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5354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df[~(df['city'] == 'Chennai')]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EC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— Split → Apply → Combine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C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C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data into groups based on a column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71800" y="1737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function (sum, mean, count...)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1737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results back into a DataFrame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090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 by 'city' and calculate mean salary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1300" dirty="0">
                <a:solidFill>
                  <a:srgbClr val="A8B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1300" dirty="0">
                <a:solidFill>
                  <a:srgbClr val="4ECC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('city')</a:t>
            </a:r>
            <a:r>
              <a:rPr lang="en-US" sz="1300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['salary']</a:t>
            </a:r>
            <a:r>
              <a:rPr lang="en-US" sz="1300" dirty="0">
                <a:solidFill>
                  <a:srgbClr val="A8B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 by multiple columns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1300" dirty="0">
                <a:solidFill>
                  <a:srgbClr val="A8B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1300" dirty="0">
                <a:solidFill>
                  <a:srgbClr val="4ECC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(['city', 'dept'])</a:t>
            </a:r>
            <a:r>
              <a:rPr lang="en-US" sz="1300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['salary']</a:t>
            </a:r>
            <a:r>
              <a:rPr lang="en-US" sz="1300" dirty="0">
                <a:solidFill>
                  <a:srgbClr val="A8B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EC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Functions — agg()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14173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3258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24405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364225"/>
            <a:ext cx="1463040" cy="410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35240" y="1409209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21031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102383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median()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3756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056662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first()</a:t>
            </a:r>
            <a:endParaRPr lang="en-US" dirty="0"/>
          </a:p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7220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0" y="2788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8412480" cy="2011680"/>
          </a:xfrm>
          <a:prstGeom prst="roundRect">
            <a:avLst>
              <a:gd name="adj" fmla="val 4545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aggregations at once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1200" dirty="0">
                <a:solidFill>
                  <a:srgbClr val="A8B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1200" dirty="0">
                <a:solidFill>
                  <a:srgbClr val="4ECC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('city')</a:t>
            </a:r>
            <a:r>
              <a:rPr lang="en-US" sz="1200" dirty="0">
                <a:solidFill>
                  <a:srgbClr val="A8B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'salary' : ['mean', 'sum'],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'age'    : ['min', 'max']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D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Joins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rows from BOTH tables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Only matches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LEFT + matches from right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left rows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A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RIGHT + matches from left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right rows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9260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JOIN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 tables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886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Everything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NaN appears where there is no matching data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D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pd.merge() — Syntax &amp;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pd.merge(left_df, right_df, on='key_column', how='inner')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8412480" cy="2560320"/>
          </a:xfrm>
          <a:prstGeom prst="roundRect">
            <a:avLst>
              <a:gd name="adj" fmla="val 3571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Inner join - only matching employees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6883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pd.merge(emp_df, dept_df, on='dept_id', how='inner')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273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 join - keep all employees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pd.merge(emp_df, dept_df, on='dept_id', how='left')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41513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 on different column names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44439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pd.merge(emp_df, dept_df, left_on='deptID', right_on='id')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Group + Merge — Real 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Find average salary of Chennai employees by department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8412480" cy="3017520"/>
          </a:xfrm>
          <a:prstGeom prst="roundRect">
            <a:avLst>
              <a:gd name="adj" fmla="val 3030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019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Filter - get only Chennai employees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chennai_df = df[df['city'] == 'Chennai']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Merge with department table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merged_df = pd.merge(chennai_df, dept_df, on='dept_id', how='left')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3: Group and find average salary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merged_df.groupby('dept_name')['salary'].mean()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027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4: Sort and display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8770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result.sort_values(ascending=False)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E94560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Tasks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FILTERING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8562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AGGREGATION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69464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266090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4198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346557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94560"/>
                </a:solidFill>
                <a:latin typeface="Calibri" pitchFamily="34" charset="0"/>
              </a:rPr>
              <a:t>Task 1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</a:rPr>
              <a:t>Filtering</a:t>
            </a:r>
          </a:p>
        </p:txBody>
      </p:sp>
      <p:sp>
        <p:nvSpPr>
          <p:cNvPr id="4" name="LeftCard"/>
          <p:cNvSpPr/>
          <p:nvPr/>
        </p:nvSpPr>
        <p:spPr>
          <a:xfrm>
            <a:off x="457200" y="1371600"/>
            <a:ext cx="4114800" cy="3314700"/>
          </a:xfrm>
          <a:prstGeom prst="roundRect">
            <a:avLst>
              <a:gd name="adj" fmla="val 2778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</a:rPr>
              <a:t>Steps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1. Read CSV; show shape and first 5 rows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2. Create a Series of all Percentage values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3. Filter Percentage &gt;= 75; save to filtered_high.csv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4. Filter Maths rows with Marks &lt; 40; display count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5. Use .query() for female Class II, Percentage &gt; 60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7EC8E3"/>
                </a:solidFill>
                <a:latin typeface="Calibri" pitchFamily="34" charset="0"/>
              </a:rPr>
              <a:t>Dataset: Student_results.csv</a:t>
            </a:r>
          </a:p>
        </p:txBody>
      </p:sp>
      <p:sp>
        <p:nvSpPr>
          <p:cNvPr id="5" name="RightCard"/>
          <p:cNvSpPr/>
          <p:nvPr/>
        </p:nvSpPr>
        <p:spPr>
          <a:xfrm>
            <a:off x="4800600" y="1371600"/>
            <a:ext cx="3886200" cy="3314700"/>
          </a:xfrm>
          <a:prstGeom prst="roundRect">
            <a:avLst>
              <a:gd name="adj" fmla="val 2778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</a:rPr>
              <a:t>Questions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1. How many students have Percentage &gt;= 75?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2. What is the average Percentage of the high-% group?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3. Which student(s) in Maths scored below 40?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4. Explain when to use .loc vs .iloc for filtering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94560"/>
                </a:solidFill>
                <a:latin typeface="Calibri" pitchFamily="34" charset="0"/>
              </a:rPr>
              <a:t>Task 2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</a:rPr>
              <a:t>Grouping &amp; Aggregation</a:t>
            </a:r>
          </a:p>
        </p:txBody>
      </p:sp>
      <p:sp>
        <p:nvSpPr>
          <p:cNvPr id="4" name="LeftCard"/>
          <p:cNvSpPr/>
          <p:nvPr/>
        </p:nvSpPr>
        <p:spPr>
          <a:xfrm>
            <a:off x="457200" y="1371600"/>
            <a:ext cx="4114800" cy="3314700"/>
          </a:xfrm>
          <a:prstGeom prst="roundRect">
            <a:avLst>
              <a:gd name="adj" fmla="val 2778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</a:rPr>
              <a:t>Steps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1. Read CSV; display info (dtypes, missing counts)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2. Fill missing Marks with subject-wise mean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3. Group by Subject: count, mean, min, max Marks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4. Group by Class; compute average Marks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5. Find top 3 students by total marks (groupby + sum)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7EC8E3"/>
                </a:solidFill>
                <a:latin typeface="Calibri" pitchFamily="34" charset="0"/>
              </a:rPr>
              <a:t>Dataset: Exam_scores.csv</a:t>
            </a:r>
          </a:p>
        </p:txBody>
      </p:sp>
      <p:sp>
        <p:nvSpPr>
          <p:cNvPr id="5" name="RightCard"/>
          <p:cNvSpPr/>
          <p:nvPr/>
        </p:nvSpPr>
        <p:spPr>
          <a:xfrm>
            <a:off x="4800600" y="1371600"/>
            <a:ext cx="3886200" cy="3314700"/>
          </a:xfrm>
          <a:prstGeom prst="roundRect">
            <a:avLst>
              <a:gd name="adj" fmla="val 2778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</a:rPr>
              <a:t>Questions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1. How many missing Marks were filled and with what values?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2. Which subject has the highest mean Marks?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3. Show code to flatten a multi-aggregation result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4. Why is reset_index() necessary after groupby?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94560"/>
                </a:solidFill>
                <a:latin typeface="Calibri" pitchFamily="34" charset="0"/>
              </a:rPr>
              <a:t>Task 3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</a:rPr>
              <a:t>Merging</a:t>
            </a:r>
          </a:p>
        </p:txBody>
      </p:sp>
      <p:sp>
        <p:nvSpPr>
          <p:cNvPr id="4" name="LeftCard"/>
          <p:cNvSpPr/>
          <p:nvPr/>
        </p:nvSpPr>
        <p:spPr>
          <a:xfrm>
            <a:off x="457200" y="1371600"/>
            <a:ext cx="4114800" cy="3314700"/>
          </a:xfrm>
          <a:prstGeom prst="roundRect">
            <a:avLst>
              <a:gd name="adj" fmla="val 2778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</a:rPr>
              <a:t>Steps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1. Read both CSVs; inspect keys and duplicates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2. Inner merge on Adm_No; save as inner_merge.csv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3. Left merge; identify students without results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4. Outer merge; fill NaNs (-1 or “No Result”)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5. Merge on multiple keys (Adm_No + Term)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7EC8E3"/>
                </a:solidFill>
                <a:latin typeface="Calibri" pitchFamily="34" charset="0"/>
              </a:rPr>
              <a:t>Datasets: Students.csv + Results.csv</a:t>
            </a:r>
          </a:p>
        </p:txBody>
      </p:sp>
      <p:sp>
        <p:nvSpPr>
          <p:cNvPr id="5" name="RightCard"/>
          <p:cNvSpPr/>
          <p:nvPr/>
        </p:nvSpPr>
        <p:spPr>
          <a:xfrm>
            <a:off x="4800600" y="1371600"/>
            <a:ext cx="3886200" cy="3314700"/>
          </a:xfrm>
          <a:prstGeom prst="roundRect">
            <a:avLst>
              <a:gd name="adj" fmla="val 2778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</a:rPr>
              <a:t>Questions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1. How many rows differ between inner and left merge?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2. Show code to rename duplicate columns from merge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3. When should you use outer vs left merge?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4. If Adm_No is duplicated in Results, how does inner merge affect row counts?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94560"/>
                </a:solidFill>
                <a:latin typeface="Calibri" pitchFamily="34" charset="0"/>
              </a:rPr>
              <a:t>Task 4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</a:rPr>
              <a:t>MINI PROJECT – STUDENT PERFORMANCE ANALYSIS</a:t>
            </a:r>
          </a:p>
        </p:txBody>
      </p:sp>
      <p:sp>
        <p:nvSpPr>
          <p:cNvPr id="4" name="LeftCard"/>
          <p:cNvSpPr/>
          <p:nvPr/>
        </p:nvSpPr>
        <p:spPr>
          <a:xfrm>
            <a:off x="457200" y="1371600"/>
            <a:ext cx="4114800" cy="3314700"/>
          </a:xfrm>
          <a:prstGeom prst="roundRect">
            <a:avLst>
              <a:gd name="adj" fmla="val 2778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</a:rPr>
              <a:t>Steps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1. Read the 3 csv files.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2. Filter Results to specific Class / Term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3. Group by Adm_No: total &amp; avg Marks per student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4. Group Attendance by Adm_No; compute attendance %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5. Merge scores + attendance + Students; final_report.csv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6. Filter attendance &lt; 75% AND avg Marks &lt; 40; at_risk.csv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7EC8E3"/>
                </a:solidFill>
                <a:latin typeface="Calibri" pitchFamily="34" charset="0"/>
              </a:rPr>
              <a:t>Datasets: Students.csv + Results.csv + Attendance.csv</a:t>
            </a:r>
          </a:p>
        </p:txBody>
      </p:sp>
      <p:sp>
        <p:nvSpPr>
          <p:cNvPr id="5" name="RightCard"/>
          <p:cNvSpPr/>
          <p:nvPr/>
        </p:nvSpPr>
        <p:spPr>
          <a:xfrm>
            <a:off x="4800600" y="1371600"/>
            <a:ext cx="3886200" cy="3314700"/>
          </a:xfrm>
          <a:prstGeom prst="roundRect">
            <a:avLst>
              <a:gd name="adj" fmla="val 2778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</a:rPr>
              <a:t>Questions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1. Top 5 students by avg Marks and their attendance rates?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2. How many students flagged as at-risk?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3. How does missing Attendance bias attendance_rate?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4. Export final_report.csv with Percentage rounded to 2dp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5. Fix int vs str Adm_No type mismatch on merge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1205</Words>
  <Application>Microsoft Office PowerPoint</Application>
  <PresentationFormat>On-screen Show (16:9)</PresentationFormat>
  <Paragraphs>194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7 - Pandas Data Manipulation</dc:title>
  <dc:subject>PptxGenJS Presentation</dc:subject>
  <dc:creator>PptxGenJS</dc:creator>
  <cp:lastModifiedBy>Rajesh A</cp:lastModifiedBy>
  <cp:revision>3</cp:revision>
  <dcterms:created xsi:type="dcterms:W3CDTF">2026-07-06T11:19:58Z</dcterms:created>
  <dcterms:modified xsi:type="dcterms:W3CDTF">2026-07-07T02:09:14Z</dcterms:modified>
</cp:coreProperties>
</file>