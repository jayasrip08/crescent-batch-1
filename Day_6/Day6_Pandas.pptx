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917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78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457200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· DAY 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— Part 1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8046720" cy="548640"/>
          </a:xfrm>
          <a:prstGeom prst="roundRect">
            <a:avLst>
              <a:gd name="adj" fmla="val 50000"/>
            </a:avLst>
          </a:prstGeom>
          <a:solidFill>
            <a:srgbClr val="2A3A6B"/>
          </a:solidFill>
          <a:ln/>
        </p:spPr>
        <p:txBody>
          <a:bodyPr/>
          <a:lstStyle/>
          <a:p>
            <a:pPr algn="ctr"/>
            <a:r>
              <a:rPr lang="en-US" i="1" dirty="0" err="1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</a:t>
            </a:r>
            <a:r>
              <a:rPr lang="en-US" i="1" dirty="0">
                <a:solidFill>
                  <a:srgbClr val="CF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CSV Files · Data Cleaning · Hands-on Practice</a:t>
            </a:r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C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60 Min Class + Self-Study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7830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Fundamentals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92040" y="17830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Creation, structure, selection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08760" y="26974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&amp; Writing CSV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892040" y="26974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read_csv(), to_csv()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36118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08760" y="3611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(9 techniques)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892040" y="3611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→ reset_index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4F8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45262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508760" y="45262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92040" y="45262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tasks: Simple → Medium → Case Study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77240" y="5440680"/>
            <a:ext cx="640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08760" y="54406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892040" y="54406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submission + Day 7 preview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Pandas?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6035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NumPy — made for real-world tables of data.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explore, clean, and analyze data in a few lines of code.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data science / ML project starts with Pandas.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040880" y="1920240"/>
            <a:ext cx="4480560" cy="3291840"/>
          </a:xfrm>
          <a:prstGeom prst="roundRect">
            <a:avLst>
              <a:gd name="adj" fmla="val 2778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06640" y="2194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→  Pandas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06640" y="26974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  →  DataFrame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06640" y="3108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 →  Series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406640" y="3749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and columns, but with Python superpowers — filter, clean, calculate.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Install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49377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pandas 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Import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639312"/>
            <a:ext cx="49377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Verify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846320"/>
            <a:ext cx="539496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5010912"/>
            <a:ext cx="493776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print(pd.__version__)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0" y="1737360"/>
            <a:ext cx="5212080" cy="3886200"/>
          </a:xfrm>
          <a:prstGeom prst="roundRect">
            <a:avLst>
              <a:gd name="adj" fmla="val 2353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66560" y="2468880"/>
            <a:ext cx="44805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"pip not recognized" → use pip3 or check PATH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Anaconda users → Pandas is pre-installed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Jupyter/Colab → !pip install pandas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kernel/terminal if import fails</a:t>
            </a:r>
          </a:p>
          <a:p>
            <a:pPr marL="342900" indent="-342900">
              <a:buSzPct val="100000"/>
              <a:buChar char="•"/>
            </a:pPr>
            <a:endParaRPr lang="en-US" sz="1300" dirty="0">
              <a:solidFill>
                <a:srgbClr val="1E293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1300" dirty="0"/>
              <a:t>python -m pip install pandas ( For </a:t>
            </a:r>
            <a:r>
              <a:rPr lang="en-US" sz="1300" dirty="0" err="1"/>
              <a:t>powershell</a:t>
            </a:r>
            <a:r>
              <a:rPr lang="en-US" sz="1300" dirty="0"/>
              <a:t>)</a:t>
            </a:r>
          </a:p>
        </p:txBody>
      </p:sp>
      <p:sp>
        <p:nvSpPr>
          <p:cNvPr id="18" name="Text 16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A1-A2 · DATAFRAME BASICS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vs DataFrame — Creating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4F8FA"/>
          </a:solidFill>
          <a:ln w="12700">
            <a:solidFill>
              <a:srgbClr val="D6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Series (1-D)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633472"/>
            <a:ext cx="43891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pd.Series([85, 90, 76])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383280"/>
          <a:ext cx="274320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217920" y="178308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4F8FA"/>
          </a:solidFill>
          <a:ln w="12700">
            <a:solidFill>
              <a:srgbClr val="D6E4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492240" y="19659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DataFrame (2-D)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6492240" y="2468880"/>
            <a:ext cx="4846320" cy="1188720"/>
          </a:xfrm>
          <a:prstGeom prst="roundRect">
            <a:avLst>
              <a:gd name="adj" fmla="val 6154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20840" y="2633472"/>
            <a:ext cx="43891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{'Name': ['Arun','Priya'],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'Marks': [85, 92]}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pd.DataFrame(data)</a:t>
            </a:r>
            <a:endParaRPr lang="en-US" sz="125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3840480"/>
          <a:ext cx="4846320" cy="1005840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Arun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· STRUCTURE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Rows and Columns (Axis)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2377440"/>
          </a:xfrm>
          <a:prstGeom prst="roundRect">
            <a:avLst>
              <a:gd name="adj" fmla="val 3077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      # row labels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 # column labels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axis=0 -&gt; down the rows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axis=1 -&gt; across the columns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df.sum(axis=0)   # sum each column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go top-to-bottom (axis 0)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go left-to-right (axis 1)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Pandas functions ask "which axis?" — this is why it matters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· PREVIEW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head() and tail()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1554480"/>
          </a:xfrm>
          <a:prstGeom prst="roundRect">
            <a:avLst>
              <a:gd name="adj" fmla="val 4706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53035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# first 5 rows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df.head(3)    # first 3 rows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df.tail()     # last 5 rows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5760720" cy="1097280"/>
          </a:xfrm>
          <a:prstGeom prst="roundRect">
            <a:avLst>
              <a:gd name="adj" fmla="val 6667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tip: "head() = quick preview so we don't scroll through the whole file."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df.head(3)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286000"/>
          <a:ext cx="4937760" cy="155448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Arun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Karthik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STRUCTURE INFO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shape, columns, index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# (6, 5) -&gt; 6 rows, 5 cols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    # Index(['Name','Dept',...])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df.index       # RangeIndex(0, 6)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check these first?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tells you the size of the dataset instantly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confirms exact spelling before you use df['ColumnName']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shows how rows are labeled (useful before merging/sorting)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 · STRUCTURE INFO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46634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5120640" cy="3017520"/>
          </a:xfrm>
          <a:prstGeom prst="roundRect">
            <a:avLst>
              <a:gd name="adj" fmla="val 2424"/>
            </a:avLst>
          </a:prstGeom>
          <a:solidFill>
            <a:srgbClr val="1026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7180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&lt;class 'pandas.core.frame.DataFrame'&gt;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RangeIndex: 6 entries, 0 to 5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columns (total 5 columns):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  Column      Non-Null   Dtype 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   Name        6          object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 Marks       5          int64 </a:t>
            </a:r>
            <a:endParaRPr lang="en-US" sz="10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dtypes: int64(2), object(3)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5577840" cy="397764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info() tells you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25146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 and columns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of each column (int, float, object/text)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Non-null count — spot missing values instantly (Marks: 5 out of 6 → 1 missing!)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always the first command to run on a new 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· STATISTICS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12064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46634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3200400" cy="301752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83.8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std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9.7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67.0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86.5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07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max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95.0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023360" y="1828800"/>
            <a:ext cx="7589520" cy="397764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297680" y="2057400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statistics — no formulas needed</a:t>
            </a:r>
            <a:endParaRPr lang="en-US" sz="1500" dirty="0"/>
          </a:p>
        </p:txBody>
      </p:sp>
      <p:sp>
        <p:nvSpPr>
          <p:cNvPr id="8" name="Text 8"/>
          <p:cNvSpPr/>
          <p:nvPr/>
        </p:nvSpPr>
        <p:spPr>
          <a:xfrm>
            <a:off x="4297680" y="2514600"/>
            <a:ext cx="7040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→ how many values (helps spot missing data)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→ average value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→ how spread out the values are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/ max → lowest and highest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/ 50% / 75% → percentile splits of the data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· SELECTING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vs Multiple Column Selection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2377440"/>
          </a:xfrm>
          <a:prstGeom prst="roundRect">
            <a:avLst>
              <a:gd name="adj" fmla="val 3077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           # single column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-&gt; returns a Series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df[['Name','Marks']]  # multiple columns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# -&gt; returns a DataFrame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[ ] with one column name → Series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[[ ]] with a list of names → DataFrame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must match exactly (case-sensitive)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· SELECTING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Row Selection — loc &amp; iloc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2194560"/>
          </a:xfrm>
          <a:prstGeom prst="roundRect">
            <a:avLst>
              <a:gd name="adj" fmla="val 3333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df.loc[0]             # row by label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df.iloc[0]            # row by position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df.loc[0:2]           # rows 0 to 2 (label)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df[df['Marks'] &gt; 80]  # conditional rows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vs iloc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 → uses row LABEL (name/index value)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iloc → uses row POSITION (0, 1, 2 ...)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last line filters rows using a condition — very commonly used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READING &amp; WRITING CSV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read_csv()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2011680"/>
          </a:xfrm>
          <a:prstGeom prst="roundRect">
            <a:avLst>
              <a:gd name="adj" fmla="val 3636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530352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pd.read_csv('students.csv')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023360"/>
            <a:ext cx="5760720" cy="1371600"/>
          </a:xfrm>
          <a:prstGeom prst="roundRect">
            <a:avLst>
              <a:gd name="adj" fmla="val 5333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parameters: sep=',' (change delimiter), header=0, usecols=['Name','Marks']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students see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2286000"/>
          <a:ext cx="4846320" cy="1554480"/>
        </p:xfrm>
        <a:graphic>
          <a:graphicData uri="http://schemas.openxmlformats.org/drawingml/2006/table">
            <a:tbl>
              <a:tblPr/>
              <a:tblGrid>
                <a:gridCol w="1615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Marks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Arun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85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Priya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Karthik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76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READING &amp; WRITING CSV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to_csv()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df.to_csv('output.csv', index=False)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index=False -&gt; don't write row numbers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 the file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cleaning a dataset — save the clean version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index=False unless you specifically need row numbers saved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today's practice task asks you to submit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— 9 Techniques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56616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isnull(), notnull(), dropna(), fillna()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1920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26280" y="2029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Duplicate values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duplicated(), drop_duplicates()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064240" y="20116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202996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Rename columns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24688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rename()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6616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447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Change datatype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97680" y="33375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26280" y="3447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Replace values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replace()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333756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06424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75320" y="344728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String cleaning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75320" y="388620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str.lower(), str.upper(), str.strip()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54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56616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4864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Remove columns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297680" y="4754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31520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26280" y="4864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Sort data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2628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sort_values()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475488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1064240" y="4846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000000"/>
                </a:solidFill>
              </a:rPr>
              <a:t>🔴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75320" y="486460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Reset index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275320" y="530352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reset_index()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MISSING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isnull() and notnull()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          # True where missing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df.notnull()         # True where NOT missing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df.isnull().sum()    # count missing per column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datasets are always messy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always the very first cleaning check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isnull().sum() gives a quick column-by-column count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· MISSING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dropna() and fillna()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— Remove rows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03520" cy="777240"/>
          </a:xfrm>
          <a:prstGeom prst="roundRect">
            <a:avLst>
              <a:gd name="adj" fmla="val 9412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48463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df.dropna()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 very few rows are affected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Fill missing values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03520" cy="1554480"/>
          </a:xfrm>
          <a:prstGeom prst="roundRect">
            <a:avLst>
              <a:gd name="adj" fmla="val 4706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096512"/>
            <a:ext cx="48463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df['Marks'] = df['Marks'].fillna(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df['Marks'].mean()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df['Dept'] = df['Dept'].fillna('Unknown')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fill value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(Age, Marks) → fill with mean()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(Department, Name) → fill with a label like 'Unknown'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isnull().sum() again after cleaning to confirm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· DUPLICATE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duplicated() and drop_duplicates()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          # True for repeated rows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df.duplicated().sum()    # count duplicate rows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df.drop_duplicates()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habit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duplicated().sum() before dropping — know how many you're removing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can silently skew averages and model training later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 · RENAME COLUMNS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rename()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df.rename(columns={'Dept':'Department'},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inplace=True)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 = df.columns.str.lower()  # bulk rename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rename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rename() → change specific column names one by one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= ...str.lower() → change ALL column names at once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inplace=True saves the change directly to df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· CHANGE DATATYPE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astype()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df['Age'] = df['Age'].astype(int)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df['Marks'] = df['Marks'].astype(float)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df['Name'].astype(str)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files sometimes load numbers as text by mistake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datatype breaks calculations (can't average text!)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df.dtypes after loading a new file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· REPLACE VALUES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replace()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2103120"/>
          </a:xfrm>
          <a:prstGeom prst="roundRect">
            <a:avLst>
              <a:gd name="adj" fmla="val 3478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df['Department'] = df['Department'].replace(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'CSE', 'Computer Science'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df.replace({'CSE':'CS', 'IT':'IT Dept'})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inconsistent labels (e.g. 'CSE' vs 'cse' vs 'Cse')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category names before analysis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replace multiple values at once using a dictionary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 · STRING CLEANING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str.lower(), str.upper(), str.strip()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2103120"/>
          </a:xfrm>
          <a:prstGeom prst="roundRect">
            <a:avLst>
              <a:gd name="adj" fmla="val 3478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df['Name'].str.lower()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df['Name'].str.upper()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df['Name'] = df['Name'].str.strip()  # removes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# extra spaces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Arun" and "Arun" look the same but are NOT equal in code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strip() removes hidden leading/trailing spaces — fixes many silent bugs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lower()/upper() makes comparisons consistent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C7 · REMOVE COLUMNS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737360"/>
          </a:xfrm>
          <a:prstGeom prst="roundRect">
            <a:avLst>
              <a:gd name="adj" fmla="val 4211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df.drop(columns=['Attendance'])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df.drop(['Age','Attendance'], axis=1)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columns not needed for your analysis/model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axis=1 means "drop a column" (axis=0 would drop rows)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your DataFrame clean and focused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C8 · SORT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sort_values()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828800"/>
          </a:xfrm>
          <a:prstGeom prst="roundRect">
            <a:avLst>
              <a:gd name="adj" fmla="val 4000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df.sort_values('Marks')              # ascending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df.sort_values('Marks',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ascending=False)      # descending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 performers: sort_values('Marks', ascending=False)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sort by multiple columns: sort_values(['Dept','Marks'])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C9 · RESET INDEX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reset_index()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32720" y="3840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32720" y="38404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6400800" cy="1554480"/>
          </a:xfrm>
          <a:prstGeom prst="roundRect">
            <a:avLst>
              <a:gd name="adj" fmla="val 4706"/>
            </a:avLst>
          </a:prstGeom>
          <a:solidFill>
            <a:srgbClr val="10263B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594360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df.reset_index(drop=True)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drop=True -&gt; don't keep old index as a column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269480" y="1920240"/>
            <a:ext cx="4343400" cy="4206240"/>
          </a:xfrm>
          <a:prstGeom prst="roundRect">
            <a:avLst>
              <a:gd name="adj" fmla="val 2174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43800" y="21214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need this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43800" y="2560320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dropna(), drop_duplicates(), or sort_values() — the index gets messy (0, 2, 5...)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reset_index(drop=True) renumbers rows cleanly: 0, 1, 2, 3...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5 Tasks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Goal-based, not step-by-step — you decide which Pandas command to use. Gets harder as you go.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57400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Look at the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15000" y="205740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students.csv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869680" y="2057400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21240" y="22402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921240" y="224028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916936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2916936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291693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Basic Questions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15000" y="291693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students.csv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869680" y="2916936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921240" y="3099816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921240" y="3099816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76472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77240" y="3776472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17320" y="3776472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Based on Conditions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15000" y="377647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students.csv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869680" y="3776472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921240" y="3959352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D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921240" y="3959352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9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4636008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4636008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417320" y="4636008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Data Quality Issues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15000" y="463600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dirty_students.csv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869680" y="4636008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921240" y="4818888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D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921240" y="481888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9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549554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5495544"/>
            <a:ext cx="548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FD8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417320" y="5495544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Shortlist Report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715000" y="5495544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1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cleaned_students.csv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869680" y="5495544"/>
            <a:ext cx="1005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921240" y="5678424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921240" y="5678424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TASK 1 (~10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Look at the Data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2354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students.csv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just received a new dataset. Before doing anything else, understand what's inside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out: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and how many columns are there?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column names?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type of data does each column store — numbers or text?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 first few and last few records look like?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1031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has functions that show a quick preview, the size, and the column info of a table.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TASK 2 (~10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Basic Questions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2354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E3F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8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students.csv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your professor is asking you quick questions about the class.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scored the highest Marks?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CGPA of all students?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student has the best Attendance?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Attendance of the whole class?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1031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column, then look for a function that gives the max or the average of it.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TASK 3 (~15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 Based on Conditions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2354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D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students.csv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professor wants shortlists of students based on specific conditions.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 Marks above 80 and zero Backlogs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from the CSE department who are in 3rd Year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whose CGPA is above the class average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select rows using a condition inside square brackets, and combine more than one condition using &amp; (and) / | (or).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TASK 4 (~15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Data Quality Issues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2354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D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9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dirty_students.csv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766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file was exported with some mistakes — it may have missing values or repeated rows.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67665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whether there are any missing values or duplicate rows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sensibly how to fill missing values per column (number → average? text → a placeholder?)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any duplicate rows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the corrected file as cleaned_students.csv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1463040"/>
            <a:ext cx="3977640" cy="4343400"/>
          </a:xfrm>
          <a:prstGeom prst="roundRect">
            <a:avLst>
              <a:gd name="adj" fmla="val 2299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09560" y="1691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has separate functions to detect missing values, fill them in, detect duplicate rows, and remove them.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· TASK 5 (~20 MIN)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Shortlist Report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235440" y="384048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35440" y="3840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File: cleaned_students.csv  (from Task 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Your college is selecting students for a Merit Scholarship. Prepare the shortlist report.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6309360" cy="1234440"/>
          </a:xfrm>
          <a:prstGeom prst="roundRect">
            <a:avLst>
              <a:gd name="adj" fmla="val 5926"/>
            </a:avLst>
          </a:prstGeom>
          <a:solidFill>
            <a:srgbClr val="FBE7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6517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23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— all must be true: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297180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CGPA ≥ 8.5      •      Backlogs = 0      •      Attendance ≥ 90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report should answer: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6309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students are eligible?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their Name, Department, and CGPA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Department column for eligible students — which shows up most?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average Marks of eligible students vs. the whole class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78040" y="1828800"/>
            <a:ext cx="4434840" cy="1828800"/>
          </a:xfrm>
          <a:prstGeom prst="roundRect">
            <a:avLst>
              <a:gd name="adj" fmla="val 5000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2011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Deliverable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06640" y="2423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printed report (5-6 lines) with your findings, and save the eligible students as scholarship_shortlist.csv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78040" y="3794760"/>
            <a:ext cx="4434840" cy="2011680"/>
          </a:xfrm>
          <a:prstGeom prst="roundRect">
            <a:avLst>
              <a:gd name="adj" fmla="val 4545"/>
            </a:avLst>
          </a:prstGeom>
          <a:solidFill>
            <a:srgbClr val="E9F2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06640" y="3977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Hint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06640" y="438912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combines everything from Tasks 1-4: exploring, filtering with multiple conditions, and saving a file.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Task &amp; Recap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7692"/>
            </a:avLst>
          </a:prstGeom>
          <a:solidFill>
            <a:srgbClr val="2A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933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today: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1-3 in class. Task 4 (cleaned_students.csv) + Task 5 (scholarship_shortlist.csv) as take-home, due before Day 7.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D8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what we covered today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 basics: create, explore, select rows/columns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and writing CSV files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D6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data cleaning techniques 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0" y="3291840"/>
            <a:ext cx="3383280" cy="2743200"/>
          </a:xfrm>
          <a:prstGeom prst="roundRect">
            <a:avLst>
              <a:gd name="adj" fmla="val 3333"/>
            </a:avLst>
          </a:prstGeom>
          <a:solidFill>
            <a:srgbClr val="1C7293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0392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up: Day 7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03920" y="3931920"/>
            <a:ext cx="2834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A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 — filtering, grouping, and merging with Pandas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 · Pandas Complete Guide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15568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2826</Words>
  <Application>Microsoft Office PowerPoint</Application>
  <PresentationFormat>Widescreen</PresentationFormat>
  <Paragraphs>538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6 - Pandas Complete</dc:title>
  <dc:subject>PptxGenJS Presentation</dc:subject>
  <dc:creator>Rajesh</dc:creator>
  <cp:lastModifiedBy>Rajesh A</cp:lastModifiedBy>
  <cp:revision>2</cp:revision>
  <dcterms:created xsi:type="dcterms:W3CDTF">2026-07-05T17:14:32Z</dcterms:created>
  <dcterms:modified xsi:type="dcterms:W3CDTF">2026-07-05T17:59:36Z</dcterms:modified>
</cp:coreProperties>
</file>