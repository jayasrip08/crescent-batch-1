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5"/>
    <p:sldId id="261" r:id="rId6"/>
    <p:sldId id="262" r:id="rId7"/>
    <p:sldId id="263" r:id="rId8"/>
    <p:sldId id="264" r:id="rId9"/>
    <p:sldId id="265" r:id="rId10"/>
    <p:sldId id="259"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159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project this time — CampusLib, a library system — not a continuation of Day 2's ATM. Make that explicit at the start so students don't expect to reuse yesterday's file. Frame today as the shift from 'scripts' to 'software' via functions, modules, and files.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pause here for 5 minutes — set a visible timer. This is unrelated to CampusLib on purpose, so it tests the concept in isolation before they apply it to their own project tonight.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5-minute solo block. Also unrelated to CampusLib on purpose — this isolates the file I/O pattern before tonight's homework asks them to apply it themselves.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spec, not a solution. Walk through each row verbally, but do not live-code the implementation — that's tonight's homework, done independently.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Tasks 1-4 are required, Task 5 is bonus but encouraged. This is homework, not in-class work — they should leave class with the brief clear, then build it independently before Day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966960" y="-1554480"/>
            <a:ext cx="3931920" cy="3931920"/>
          </a:xfrm>
          <a:prstGeom prst="ellipse">
            <a:avLst/>
          </a:prstGeom>
          <a:solidFill>
            <a:srgbClr val="4950BC">
              <a:alpha val="28000"/>
            </a:srgbClr>
          </a:solidFill>
          <a:ln/>
        </p:spPr>
      </p:sp>
      <p:sp>
        <p:nvSpPr>
          <p:cNvPr id="3" name="Shape 1"/>
          <p:cNvSpPr/>
          <p:nvPr/>
        </p:nvSpPr>
        <p:spPr>
          <a:xfrm>
            <a:off x="-1371600" y="4480560"/>
            <a:ext cx="3657600" cy="3657600"/>
          </a:xfrm>
          <a:prstGeom prst="ellipse">
            <a:avLst/>
          </a:prstGeom>
          <a:solidFill>
            <a:srgbClr val="E8912B">
              <a:alpha val="18000"/>
            </a:srgbClr>
          </a:solidFill>
          <a:ln/>
        </p:spPr>
      </p:sp>
      <p:sp>
        <p:nvSpPr>
          <p:cNvPr id="4" name="Shape 2"/>
          <p:cNvSpPr/>
          <p:nvPr/>
        </p:nvSpPr>
        <p:spPr>
          <a:xfrm>
            <a:off x="502920" y="685800"/>
            <a:ext cx="2103120" cy="274320"/>
          </a:xfrm>
          <a:prstGeom prst="roundRect">
            <a:avLst>
              <a:gd name="adj" fmla="val 20000"/>
            </a:avLst>
          </a:prstGeom>
          <a:solidFill>
            <a:srgbClr val="E8912B"/>
          </a:solidFill>
          <a:ln/>
        </p:spPr>
      </p:sp>
      <p:sp>
        <p:nvSpPr>
          <p:cNvPr id="5" name="Text 3"/>
          <p:cNvSpPr/>
          <p:nvPr/>
        </p:nvSpPr>
        <p:spPr>
          <a:xfrm>
            <a:off x="502920" y="685800"/>
            <a:ext cx="2103120" cy="274320"/>
          </a:xfrm>
          <a:prstGeom prst="rect">
            <a:avLst/>
          </a:prstGeom>
          <a:noFill/>
          <a:ln/>
        </p:spPr>
        <p:txBody>
          <a:bodyPr wrap="square" lIns="0" tIns="0" rIns="0" bIns="0" rtlCol="0" anchor="ctr"/>
          <a:lstStyle/>
          <a:p>
            <a:pPr marL="0" indent="0" algn="ctr">
              <a:buNone/>
            </a:pPr>
            <a:r>
              <a:rPr lang="en-US" b="1" kern="0" spc="50" dirty="0">
                <a:solidFill>
                  <a:srgbClr val="1E2761"/>
                </a:solidFill>
                <a:latin typeface="Calibri" pitchFamily="34" charset="0"/>
                <a:ea typeface="Calibri" pitchFamily="34" charset="-122"/>
                <a:cs typeface="Calibri" pitchFamily="34" charset="-120"/>
              </a:rPr>
              <a:t>PHASE 01 </a:t>
            </a:r>
            <a:endParaRPr lang="en-US" dirty="0"/>
          </a:p>
        </p:txBody>
      </p:sp>
      <p:sp>
        <p:nvSpPr>
          <p:cNvPr id="6" name="Text 4"/>
          <p:cNvSpPr/>
          <p:nvPr/>
        </p:nvSpPr>
        <p:spPr>
          <a:xfrm>
            <a:off x="502920" y="1828800"/>
            <a:ext cx="7315200" cy="91440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Day 3</a:t>
            </a:r>
            <a:endParaRPr lang="en-US" dirty="0"/>
          </a:p>
        </p:txBody>
      </p:sp>
      <p:sp>
        <p:nvSpPr>
          <p:cNvPr id="7" name="Text 5"/>
          <p:cNvSpPr/>
          <p:nvPr/>
        </p:nvSpPr>
        <p:spPr>
          <a:xfrm>
            <a:off x="502920" y="2697480"/>
            <a:ext cx="9692640" cy="502920"/>
          </a:xfrm>
          <a:prstGeom prst="rect">
            <a:avLst/>
          </a:prstGeom>
          <a:noFill/>
          <a:ln/>
        </p:spPr>
        <p:txBody>
          <a:bodyPr wrap="square" lIns="0" tIns="0" rIns="0" bIns="0" rtlCol="0" anchor="ctr"/>
          <a:lstStyle/>
          <a:p>
            <a:pPr marL="0" indent="0">
              <a:buNone/>
            </a:pPr>
            <a:r>
              <a:rPr lang="en-US" dirty="0">
                <a:solidFill>
                  <a:srgbClr val="DADBF1"/>
                </a:solidFill>
                <a:latin typeface="Calibri" pitchFamily="34" charset="0"/>
                <a:ea typeface="Calibri" pitchFamily="34" charset="-122"/>
                <a:cs typeface="Calibri" pitchFamily="34" charset="-120"/>
              </a:rPr>
              <a:t>Functions &amp; Modules — Stop Repeating Yourself</a:t>
            </a:r>
            <a:endParaRPr lang="en-US" dirty="0"/>
          </a:p>
        </p:txBody>
      </p:sp>
      <p:sp>
        <p:nvSpPr>
          <p:cNvPr id="8" name="Shape 6"/>
          <p:cNvSpPr/>
          <p:nvPr/>
        </p:nvSpPr>
        <p:spPr>
          <a:xfrm>
            <a:off x="502920" y="3429000"/>
            <a:ext cx="8778240" cy="502920"/>
          </a:xfrm>
          <a:prstGeom prst="roundRect">
            <a:avLst>
              <a:gd name="adj" fmla="val 12727"/>
            </a:avLst>
          </a:prstGeom>
          <a:solidFill>
            <a:srgbClr val="4950BC"/>
          </a:solidFill>
          <a:ln/>
        </p:spPr>
      </p:sp>
      <p:sp>
        <p:nvSpPr>
          <p:cNvPr id="9" name="Text 7"/>
          <p:cNvSpPr/>
          <p:nvPr/>
        </p:nvSpPr>
        <p:spPr>
          <a:xfrm>
            <a:off x="685800" y="3429000"/>
            <a:ext cx="8412480" cy="502920"/>
          </a:xfrm>
          <a:prstGeom prst="rect">
            <a:avLst/>
          </a:prstGeom>
          <a:noFill/>
          <a:ln/>
        </p:spPr>
        <p:txBody>
          <a:bodyPr wrap="square" lIns="0" tIns="0" rIns="0" bIns="0" rtlCol="0" anchor="ctr"/>
          <a:lstStyle/>
          <a:p>
            <a:pPr marL="0" indent="0">
              <a:buNone/>
            </a:pPr>
            <a:r>
              <a:rPr lang="en-US" b="1" dirty="0">
                <a:solidFill>
                  <a:srgbClr val="E8912B"/>
                </a:solidFill>
                <a:latin typeface="Calibri" pitchFamily="34" charset="0"/>
                <a:ea typeface="Calibri" pitchFamily="34" charset="-122"/>
                <a:cs typeface="Calibri" pitchFamily="34" charset="-120"/>
              </a:rPr>
              <a:t>📚  Today's build: </a:t>
            </a:r>
            <a:r>
              <a:rPr lang="en-US" dirty="0">
                <a:solidFill>
                  <a:srgbClr val="FFFFFF"/>
                </a:solidFill>
                <a:latin typeface="Calibri" pitchFamily="34" charset="0"/>
                <a:ea typeface="Calibri" pitchFamily="34" charset="-122"/>
                <a:cs typeface="Calibri" pitchFamily="34" charset="-120"/>
              </a:rPr>
              <a:t>CampusLib — a library borrow/return system, built entirely by you</a:t>
            </a:r>
            <a:endParaRPr lang="en-US" dirty="0"/>
          </a:p>
        </p:txBody>
      </p:sp>
      <p:sp>
        <p:nvSpPr>
          <p:cNvPr id="10" name="Text 8"/>
          <p:cNvSpPr/>
          <p:nvPr/>
        </p:nvSpPr>
        <p:spPr>
          <a:xfrm>
            <a:off x="502920" y="6172200"/>
            <a:ext cx="7315200" cy="274320"/>
          </a:xfrm>
          <a:prstGeom prst="rect">
            <a:avLst/>
          </a:prstGeom>
          <a:noFill/>
          <a:ln/>
        </p:spPr>
        <p:txBody>
          <a:bodyPr wrap="square" lIns="0" tIns="0" rIns="0" bIns="0" rtlCol="0" anchor="ctr"/>
          <a:lstStyle/>
          <a:p>
            <a:pPr marL="0" indent="0">
              <a:buNone/>
            </a:pPr>
            <a:r>
              <a:rPr lang="en-US" dirty="0">
                <a:solidFill>
                  <a:srgbClr val="9599D6"/>
                </a:solidFill>
                <a:latin typeface="Calibri" pitchFamily="34" charset="0"/>
                <a:ea typeface="Calibri" pitchFamily="34" charset="-122"/>
                <a:cs typeface="Calibri" pitchFamily="34" charset="-120"/>
              </a:rPr>
              <a:t>Full Stack AI Developer Program · Innolift Ventures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19" y="237744"/>
            <a:ext cx="2716141" cy="420624"/>
          </a:xfrm>
          <a:prstGeom prst="roundRect">
            <a:avLst>
              <a:gd name="adj" fmla="val 20000"/>
            </a:avLst>
          </a:prstGeom>
          <a:solidFill>
            <a:srgbClr val="DADBF1"/>
          </a:solidFill>
          <a:ln/>
        </p:spPr>
      </p:sp>
      <p:sp>
        <p:nvSpPr>
          <p:cNvPr id="3" name="Text 1"/>
          <p:cNvSpPr/>
          <p:nvPr/>
        </p:nvSpPr>
        <p:spPr>
          <a:xfrm>
            <a:off x="502919" y="237744"/>
            <a:ext cx="2594844" cy="420624"/>
          </a:xfrm>
          <a:prstGeom prst="rect">
            <a:avLst/>
          </a:prstGeom>
          <a:noFill/>
          <a:ln/>
        </p:spPr>
        <p:txBody>
          <a:bodyPr wrap="square" lIns="0" tIns="0" rIns="0" bIns="0" rtlCol="0" anchor="ctr"/>
          <a:lstStyle/>
          <a:p>
            <a:pPr marL="0" indent="0" algn="ctr">
              <a:buNone/>
            </a:pPr>
            <a:r>
              <a:rPr lang="en-US" b="1" kern="0" spc="50" dirty="0">
                <a:solidFill>
                  <a:srgbClr val="4950BC"/>
                </a:solidFill>
                <a:latin typeface="Calibri" pitchFamily="34" charset="0"/>
                <a:ea typeface="Calibri" pitchFamily="34" charset="-122"/>
                <a:cs typeface="Calibri" pitchFamily="34" charset="-120"/>
              </a:rPr>
              <a:t>RECAP + TODAY'S PLAN</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You Know the Basics. Let's Go Further.</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Day 1–2 recap: variables, data types, f-strings, if/elif/else, while &amp; for loops, break/continue.</a:t>
            </a:r>
            <a:endParaRPr lang="en-US" dirty="0"/>
          </a:p>
        </p:txBody>
      </p:sp>
      <p:sp>
        <p:nvSpPr>
          <p:cNvPr id="6" name="Shape 4"/>
          <p:cNvSpPr/>
          <p:nvPr/>
        </p:nvSpPr>
        <p:spPr>
          <a:xfrm>
            <a:off x="502920" y="1783080"/>
            <a:ext cx="420624" cy="420624"/>
          </a:xfrm>
          <a:prstGeom prst="ellipse">
            <a:avLst/>
          </a:prstGeom>
          <a:solidFill>
            <a:srgbClr val="FCEEDA"/>
          </a:solidFill>
          <a:ln/>
        </p:spPr>
      </p:sp>
      <p:sp>
        <p:nvSpPr>
          <p:cNvPr id="7" name="Text 5"/>
          <p:cNvSpPr/>
          <p:nvPr/>
        </p:nvSpPr>
        <p:spPr>
          <a:xfrm>
            <a:off x="502920" y="1783080"/>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8" name="Text 6"/>
          <p:cNvSpPr/>
          <p:nvPr/>
        </p:nvSpPr>
        <p:spPr>
          <a:xfrm>
            <a:off x="1097280" y="1764792"/>
            <a:ext cx="356616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Functions, Properly</a:t>
            </a:r>
            <a:endParaRPr lang="en-US" dirty="0"/>
          </a:p>
        </p:txBody>
      </p:sp>
      <p:sp>
        <p:nvSpPr>
          <p:cNvPr id="9" name="Text 7"/>
          <p:cNvSpPr/>
          <p:nvPr/>
        </p:nvSpPr>
        <p:spPr>
          <a:xfrm>
            <a:off x="1097280" y="2039112"/>
            <a:ext cx="8229600" cy="36576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default args, keyword args, *args/**kwargs, multiple returns</a:t>
            </a:r>
            <a:endParaRPr lang="en-US" dirty="0"/>
          </a:p>
        </p:txBody>
      </p:sp>
      <p:sp>
        <p:nvSpPr>
          <p:cNvPr id="10" name="Shape 8"/>
          <p:cNvSpPr/>
          <p:nvPr/>
        </p:nvSpPr>
        <p:spPr>
          <a:xfrm>
            <a:off x="502920" y="2542032"/>
            <a:ext cx="420624" cy="420624"/>
          </a:xfrm>
          <a:prstGeom prst="ellipse">
            <a:avLst/>
          </a:prstGeom>
          <a:solidFill>
            <a:srgbClr val="DADBF1"/>
          </a:solidFill>
          <a:ln/>
        </p:spPr>
      </p:sp>
      <p:sp>
        <p:nvSpPr>
          <p:cNvPr id="11" name="Text 9"/>
          <p:cNvSpPr/>
          <p:nvPr/>
        </p:nvSpPr>
        <p:spPr>
          <a:xfrm>
            <a:off x="502920" y="2542032"/>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12" name="Text 10"/>
          <p:cNvSpPr/>
          <p:nvPr/>
        </p:nvSpPr>
        <p:spPr>
          <a:xfrm>
            <a:off x="1097280" y="2523744"/>
            <a:ext cx="356616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Scope</a:t>
            </a:r>
            <a:endParaRPr lang="en-US" dirty="0"/>
          </a:p>
        </p:txBody>
      </p:sp>
      <p:sp>
        <p:nvSpPr>
          <p:cNvPr id="13" name="Text 11"/>
          <p:cNvSpPr/>
          <p:nvPr/>
        </p:nvSpPr>
        <p:spPr>
          <a:xfrm>
            <a:off x="1097280" y="2798064"/>
            <a:ext cx="8229600" cy="36576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why your variable “isn't updating” — local vs global, explained once and for all</a:t>
            </a:r>
            <a:endParaRPr lang="en-US" dirty="0"/>
          </a:p>
        </p:txBody>
      </p:sp>
      <p:sp>
        <p:nvSpPr>
          <p:cNvPr id="14" name="Shape 12"/>
          <p:cNvSpPr/>
          <p:nvPr/>
        </p:nvSpPr>
        <p:spPr>
          <a:xfrm>
            <a:off x="502920" y="3300984"/>
            <a:ext cx="420624" cy="420624"/>
          </a:xfrm>
          <a:prstGeom prst="ellipse">
            <a:avLst/>
          </a:prstGeom>
          <a:solidFill>
            <a:srgbClr val="FCEEDA"/>
          </a:solidFill>
          <a:ln/>
        </p:spPr>
      </p:sp>
      <p:sp>
        <p:nvSpPr>
          <p:cNvPr id="15" name="Text 13"/>
          <p:cNvSpPr/>
          <p:nvPr/>
        </p:nvSpPr>
        <p:spPr>
          <a:xfrm>
            <a:off x="502920" y="3300984"/>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16" name="Text 14"/>
          <p:cNvSpPr/>
          <p:nvPr/>
        </p:nvSpPr>
        <p:spPr>
          <a:xfrm>
            <a:off x="1097280" y="3282696"/>
            <a:ext cx="356616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Modules</a:t>
            </a:r>
            <a:endParaRPr lang="en-US" dirty="0"/>
          </a:p>
        </p:txBody>
      </p:sp>
      <p:sp>
        <p:nvSpPr>
          <p:cNvPr id="17" name="Text 15"/>
          <p:cNvSpPr/>
          <p:nvPr/>
        </p:nvSpPr>
        <p:spPr>
          <a:xfrm>
            <a:off x="1097280" y="3557016"/>
            <a:ext cx="8229600" cy="36576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importing built-ins AND writing your own reusable module</a:t>
            </a:r>
            <a:endParaRPr lang="en-US" dirty="0"/>
          </a:p>
        </p:txBody>
      </p:sp>
      <p:sp>
        <p:nvSpPr>
          <p:cNvPr id="18" name="Shape 16"/>
          <p:cNvSpPr/>
          <p:nvPr/>
        </p:nvSpPr>
        <p:spPr>
          <a:xfrm>
            <a:off x="502920" y="4059936"/>
            <a:ext cx="420624" cy="420624"/>
          </a:xfrm>
          <a:prstGeom prst="ellipse">
            <a:avLst/>
          </a:prstGeom>
          <a:solidFill>
            <a:srgbClr val="DADBF1"/>
          </a:solidFill>
          <a:ln/>
        </p:spPr>
      </p:sp>
      <p:sp>
        <p:nvSpPr>
          <p:cNvPr id="19" name="Text 17"/>
          <p:cNvSpPr/>
          <p:nvPr/>
        </p:nvSpPr>
        <p:spPr>
          <a:xfrm>
            <a:off x="502920" y="4059936"/>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20" name="Text 18"/>
          <p:cNvSpPr/>
          <p:nvPr/>
        </p:nvSpPr>
        <p:spPr>
          <a:xfrm>
            <a:off x="1097280" y="4041648"/>
            <a:ext cx="356616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File I/O</a:t>
            </a:r>
            <a:endParaRPr lang="en-US" dirty="0"/>
          </a:p>
        </p:txBody>
      </p:sp>
      <p:sp>
        <p:nvSpPr>
          <p:cNvPr id="21" name="Text 19"/>
          <p:cNvSpPr/>
          <p:nvPr/>
        </p:nvSpPr>
        <p:spPr>
          <a:xfrm>
            <a:off x="1097280" y="4315968"/>
            <a:ext cx="8229600" cy="36576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reading, writing, and appending to files — your program can now remember things</a:t>
            </a:r>
            <a:endParaRPr lang="en-US" dirty="0"/>
          </a:p>
        </p:txBody>
      </p:sp>
      <p:sp>
        <p:nvSpPr>
          <p:cNvPr id="22" name="Shape 20"/>
          <p:cNvSpPr/>
          <p:nvPr/>
        </p:nvSpPr>
        <p:spPr>
          <a:xfrm>
            <a:off x="502920" y="4818888"/>
            <a:ext cx="420624" cy="420624"/>
          </a:xfrm>
          <a:prstGeom prst="ellipse">
            <a:avLst/>
          </a:prstGeom>
          <a:solidFill>
            <a:srgbClr val="FCEEDA"/>
          </a:solidFill>
          <a:ln/>
        </p:spPr>
      </p:sp>
      <p:sp>
        <p:nvSpPr>
          <p:cNvPr id="23" name="Text 21"/>
          <p:cNvSpPr/>
          <p:nvPr/>
        </p:nvSpPr>
        <p:spPr>
          <a:xfrm>
            <a:off x="502920" y="4818888"/>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24" name="Text 22"/>
          <p:cNvSpPr/>
          <p:nvPr/>
        </p:nvSpPr>
        <p:spPr>
          <a:xfrm>
            <a:off x="1097280" y="4800600"/>
            <a:ext cx="356616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New Project: CampusLib</a:t>
            </a:r>
            <a:endParaRPr lang="en-US" dirty="0"/>
          </a:p>
        </p:txBody>
      </p:sp>
      <p:sp>
        <p:nvSpPr>
          <p:cNvPr id="25" name="Text 23"/>
          <p:cNvSpPr/>
          <p:nvPr/>
        </p:nvSpPr>
        <p:spPr>
          <a:xfrm>
            <a:off x="1097280" y="5074920"/>
            <a:ext cx="8229600" cy="36576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a library borrow/return system — a fresh build, not yesterday's ATM</a:t>
            </a:r>
            <a:endParaRPr lang="en-US" dirty="0"/>
          </a:p>
        </p:txBody>
      </p:sp>
      <p:sp>
        <p:nvSpPr>
          <p:cNvPr id="26" name="Text 24"/>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103120" cy="274320"/>
          </a:xfrm>
          <a:prstGeom prst="roundRect">
            <a:avLst>
              <a:gd name="adj" fmla="val 20000"/>
            </a:avLst>
          </a:prstGeom>
          <a:solidFill>
            <a:srgbClr val="FCEEDA"/>
          </a:solidFill>
          <a:ln/>
        </p:spPr>
      </p:sp>
      <p:sp>
        <p:nvSpPr>
          <p:cNvPr id="3" name="Text 1"/>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b="1" kern="0" spc="50" dirty="0">
                <a:solidFill>
                  <a:srgbClr val="E8912B"/>
                </a:solidFill>
                <a:latin typeface="Calibri" pitchFamily="34" charset="0"/>
                <a:ea typeface="Calibri" pitchFamily="34" charset="-122"/>
                <a:cs typeface="Calibri" pitchFamily="34" charset="-120"/>
              </a:rPr>
              <a:t>THE HOOK</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Why This Is the Real Turning Point</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Days 1–2 gave you logic. Today gives you structure — the difference between a script and software.</a:t>
            </a:r>
            <a:endParaRPr lang="en-US" dirty="0"/>
          </a:p>
        </p:txBody>
      </p:sp>
      <p:sp>
        <p:nvSpPr>
          <p:cNvPr id="6" name="Shape 4"/>
          <p:cNvSpPr/>
          <p:nvPr/>
        </p:nvSpPr>
        <p:spPr>
          <a:xfrm>
            <a:off x="502920" y="1783080"/>
            <a:ext cx="5193792" cy="1874520"/>
          </a:xfrm>
          <a:prstGeom prst="roundRect">
            <a:avLst>
              <a:gd name="adj" fmla="val 3415"/>
            </a:avLst>
          </a:prstGeom>
          <a:solidFill>
            <a:srgbClr val="F5F5F7"/>
          </a:solidFill>
          <a:ln/>
        </p:spPr>
      </p:sp>
      <p:sp>
        <p:nvSpPr>
          <p:cNvPr id="7" name="Shape 5"/>
          <p:cNvSpPr/>
          <p:nvPr/>
        </p:nvSpPr>
        <p:spPr>
          <a:xfrm>
            <a:off x="731520" y="2011680"/>
            <a:ext cx="420624" cy="420624"/>
          </a:xfrm>
          <a:prstGeom prst="ellipse">
            <a:avLst/>
          </a:prstGeom>
          <a:solidFill>
            <a:srgbClr val="FFFFFF"/>
          </a:solidFill>
          <a:ln/>
        </p:spPr>
      </p:sp>
      <p:sp>
        <p:nvSpPr>
          <p:cNvPr id="8" name="Text 6"/>
          <p:cNvSpPr/>
          <p:nvPr/>
        </p:nvSpPr>
        <p:spPr>
          <a:xfrm>
            <a:off x="731520" y="2011680"/>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9" name="Text 7"/>
          <p:cNvSpPr/>
          <p:nvPr/>
        </p:nvSpPr>
        <p:spPr>
          <a:xfrm>
            <a:off x="1280160" y="2002536"/>
            <a:ext cx="4187952" cy="438912"/>
          </a:xfrm>
          <a:prstGeom prst="rect">
            <a:avLst/>
          </a:prstGeom>
          <a:noFill/>
          <a:ln/>
        </p:spPr>
        <p:txBody>
          <a:bodyPr wrap="square" lIns="0" tIns="0" rIns="0" bIns="0" rtlCol="0" anchor="t"/>
          <a:lstStyle/>
          <a:p>
            <a:pPr marL="0" indent="0">
              <a:buNone/>
            </a:pPr>
            <a:r>
              <a:rPr lang="en-US" b="1" dirty="0">
                <a:solidFill>
                  <a:srgbClr val="272525"/>
                </a:solidFill>
                <a:latin typeface="Calibri" pitchFamily="34" charset="0"/>
                <a:ea typeface="Calibri" pitchFamily="34" charset="-122"/>
                <a:cs typeface="Calibri" pitchFamily="34" charset="-120"/>
              </a:rPr>
              <a:t>Every library you'll ever use is a module</a:t>
            </a:r>
            <a:endParaRPr lang="en-US" dirty="0"/>
          </a:p>
        </p:txBody>
      </p:sp>
      <p:sp>
        <p:nvSpPr>
          <p:cNvPr id="10" name="Text 8"/>
          <p:cNvSpPr/>
          <p:nvPr/>
        </p:nvSpPr>
        <p:spPr>
          <a:xfrm>
            <a:off x="731520" y="2532888"/>
            <a:ext cx="4736592" cy="1005840"/>
          </a:xfrm>
          <a:prstGeom prst="rect">
            <a:avLst/>
          </a:prstGeom>
          <a:noFill/>
          <a:ln/>
        </p:spPr>
        <p:txBody>
          <a:bodyPr wrap="square" lIns="0" tIns="0" rIns="0" bIns="0" rtlCol="0" anchor="t"/>
          <a:lstStyle/>
          <a:p>
            <a:pPr marL="0" indent="0">
              <a:buNone/>
            </a:pPr>
            <a:r>
              <a:rPr lang="en-US" dirty="0">
                <a:solidFill>
                  <a:srgbClr val="6B6B6B"/>
                </a:solidFill>
                <a:latin typeface="Calibri" pitchFamily="34" charset="0"/>
                <a:ea typeface="Calibri" pitchFamily="34" charset="-122"/>
                <a:cs typeface="Calibri" pitchFamily="34" charset="-120"/>
              </a:rPr>
              <a:t>Flask, Pandas, scikit-learn — all just modules someone wrote with functions inside. Today you write your first one.</a:t>
            </a:r>
            <a:endParaRPr lang="en-US" dirty="0"/>
          </a:p>
        </p:txBody>
      </p:sp>
      <p:sp>
        <p:nvSpPr>
          <p:cNvPr id="11" name="Shape 9"/>
          <p:cNvSpPr/>
          <p:nvPr/>
        </p:nvSpPr>
        <p:spPr>
          <a:xfrm>
            <a:off x="6016752" y="1783080"/>
            <a:ext cx="5193792" cy="1874520"/>
          </a:xfrm>
          <a:prstGeom prst="roundRect">
            <a:avLst>
              <a:gd name="adj" fmla="val 3415"/>
            </a:avLst>
          </a:prstGeom>
          <a:solidFill>
            <a:srgbClr val="F5F5F7"/>
          </a:solidFill>
          <a:ln/>
        </p:spPr>
      </p:sp>
      <p:sp>
        <p:nvSpPr>
          <p:cNvPr id="12" name="Shape 10"/>
          <p:cNvSpPr/>
          <p:nvPr/>
        </p:nvSpPr>
        <p:spPr>
          <a:xfrm>
            <a:off x="6245352" y="2011680"/>
            <a:ext cx="420624" cy="420624"/>
          </a:xfrm>
          <a:prstGeom prst="ellipse">
            <a:avLst/>
          </a:prstGeom>
          <a:solidFill>
            <a:srgbClr val="FFFFFF"/>
          </a:solidFill>
          <a:ln/>
        </p:spPr>
      </p:sp>
      <p:sp>
        <p:nvSpPr>
          <p:cNvPr id="13" name="Text 11"/>
          <p:cNvSpPr/>
          <p:nvPr/>
        </p:nvSpPr>
        <p:spPr>
          <a:xfrm>
            <a:off x="6245352" y="2011680"/>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14" name="Text 12"/>
          <p:cNvSpPr/>
          <p:nvPr/>
        </p:nvSpPr>
        <p:spPr>
          <a:xfrm>
            <a:off x="6793992" y="2002536"/>
            <a:ext cx="4187952" cy="438912"/>
          </a:xfrm>
          <a:prstGeom prst="rect">
            <a:avLst/>
          </a:prstGeom>
          <a:noFill/>
          <a:ln/>
        </p:spPr>
        <p:txBody>
          <a:bodyPr wrap="square" lIns="0" tIns="0" rIns="0" bIns="0" rtlCol="0" anchor="t"/>
          <a:lstStyle/>
          <a:p>
            <a:pPr marL="0" indent="0">
              <a:buNone/>
            </a:pPr>
            <a:r>
              <a:rPr lang="en-US" b="1" dirty="0">
                <a:solidFill>
                  <a:srgbClr val="272525"/>
                </a:solidFill>
                <a:latin typeface="Calibri" pitchFamily="34" charset="0"/>
                <a:ea typeface="Calibri" pitchFamily="34" charset="-122"/>
                <a:cs typeface="Calibri" pitchFamily="34" charset="-120"/>
              </a:rPr>
              <a:t>Functions kill copy-paste bugs</a:t>
            </a:r>
            <a:endParaRPr lang="en-US" dirty="0"/>
          </a:p>
        </p:txBody>
      </p:sp>
      <p:sp>
        <p:nvSpPr>
          <p:cNvPr id="15" name="Text 13"/>
          <p:cNvSpPr/>
          <p:nvPr/>
        </p:nvSpPr>
        <p:spPr>
          <a:xfrm>
            <a:off x="6245352" y="2532888"/>
            <a:ext cx="4736592" cy="1005840"/>
          </a:xfrm>
          <a:prstGeom prst="rect">
            <a:avLst/>
          </a:prstGeom>
          <a:noFill/>
          <a:ln/>
        </p:spPr>
        <p:txBody>
          <a:bodyPr wrap="square" lIns="0" tIns="0" rIns="0" bIns="0" rtlCol="0" anchor="t"/>
          <a:lstStyle/>
          <a:p>
            <a:pPr marL="0" indent="0">
              <a:buNone/>
            </a:pPr>
            <a:r>
              <a:rPr lang="en-US" dirty="0">
                <a:solidFill>
                  <a:srgbClr val="6B6B6B"/>
                </a:solidFill>
                <a:latin typeface="Calibri" pitchFamily="34" charset="0"/>
                <a:ea typeface="Calibri" pitchFamily="34" charset="-122"/>
                <a:cs typeface="Calibri" pitchFamily="34" charset="-120"/>
              </a:rPr>
              <a:t>Fix a bug once inside a function instead of hunting for it in five copy-pasted blocks.</a:t>
            </a:r>
            <a:endParaRPr lang="en-US" dirty="0"/>
          </a:p>
        </p:txBody>
      </p:sp>
      <p:sp>
        <p:nvSpPr>
          <p:cNvPr id="16" name="Shape 14"/>
          <p:cNvSpPr/>
          <p:nvPr/>
        </p:nvSpPr>
        <p:spPr>
          <a:xfrm>
            <a:off x="502920" y="3886200"/>
            <a:ext cx="5193792" cy="1874520"/>
          </a:xfrm>
          <a:prstGeom prst="roundRect">
            <a:avLst>
              <a:gd name="adj" fmla="val 3415"/>
            </a:avLst>
          </a:prstGeom>
          <a:solidFill>
            <a:srgbClr val="F5F5F7"/>
          </a:solidFill>
          <a:ln/>
        </p:spPr>
      </p:sp>
      <p:sp>
        <p:nvSpPr>
          <p:cNvPr id="17" name="Shape 15"/>
          <p:cNvSpPr/>
          <p:nvPr/>
        </p:nvSpPr>
        <p:spPr>
          <a:xfrm>
            <a:off x="731520" y="4114800"/>
            <a:ext cx="420624" cy="420624"/>
          </a:xfrm>
          <a:prstGeom prst="ellipse">
            <a:avLst/>
          </a:prstGeom>
          <a:solidFill>
            <a:srgbClr val="FFFFFF"/>
          </a:solidFill>
          <a:ln/>
        </p:spPr>
      </p:sp>
      <p:sp>
        <p:nvSpPr>
          <p:cNvPr id="18" name="Text 16"/>
          <p:cNvSpPr/>
          <p:nvPr/>
        </p:nvSpPr>
        <p:spPr>
          <a:xfrm>
            <a:off x="731520" y="4114800"/>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19" name="Text 17"/>
          <p:cNvSpPr/>
          <p:nvPr/>
        </p:nvSpPr>
        <p:spPr>
          <a:xfrm>
            <a:off x="1280160" y="4105656"/>
            <a:ext cx="4187952" cy="438912"/>
          </a:xfrm>
          <a:prstGeom prst="rect">
            <a:avLst/>
          </a:prstGeom>
          <a:noFill/>
          <a:ln/>
        </p:spPr>
        <p:txBody>
          <a:bodyPr wrap="square" lIns="0" tIns="0" rIns="0" bIns="0" rtlCol="0" anchor="t"/>
          <a:lstStyle/>
          <a:p>
            <a:pPr marL="0" indent="0">
              <a:buNone/>
            </a:pPr>
            <a:r>
              <a:rPr lang="en-US" b="1" dirty="0">
                <a:solidFill>
                  <a:srgbClr val="272525"/>
                </a:solidFill>
                <a:latin typeface="Calibri" pitchFamily="34" charset="0"/>
                <a:ea typeface="Calibri" pitchFamily="34" charset="-122"/>
                <a:cs typeface="Calibri" pitchFamily="34" charset="-120"/>
              </a:rPr>
              <a:t>File I/O = your program has memory</a:t>
            </a:r>
            <a:endParaRPr lang="en-US" dirty="0"/>
          </a:p>
        </p:txBody>
      </p:sp>
      <p:sp>
        <p:nvSpPr>
          <p:cNvPr id="20" name="Text 18"/>
          <p:cNvSpPr/>
          <p:nvPr/>
        </p:nvSpPr>
        <p:spPr>
          <a:xfrm>
            <a:off x="731520" y="4636008"/>
            <a:ext cx="4736592" cy="1005840"/>
          </a:xfrm>
          <a:prstGeom prst="rect">
            <a:avLst/>
          </a:prstGeom>
          <a:noFill/>
          <a:ln/>
        </p:spPr>
        <p:txBody>
          <a:bodyPr wrap="square" lIns="0" tIns="0" rIns="0" bIns="0" rtlCol="0" anchor="t"/>
          <a:lstStyle/>
          <a:p>
            <a:pPr marL="0" indent="0">
              <a:buNone/>
            </a:pPr>
            <a:r>
              <a:rPr lang="en-US" dirty="0">
                <a:solidFill>
                  <a:srgbClr val="6B6B6B"/>
                </a:solidFill>
                <a:latin typeface="Calibri" pitchFamily="34" charset="0"/>
                <a:ea typeface="Calibri" pitchFamily="34" charset="-122"/>
                <a:cs typeface="Calibri" pitchFamily="34" charset="-120"/>
              </a:rPr>
              <a:t>Right now your programs forget everything on exit. Today they start keeping a permanent record.</a:t>
            </a:r>
            <a:endParaRPr lang="en-US" dirty="0"/>
          </a:p>
        </p:txBody>
      </p:sp>
      <p:sp>
        <p:nvSpPr>
          <p:cNvPr id="21" name="Shape 19"/>
          <p:cNvSpPr/>
          <p:nvPr/>
        </p:nvSpPr>
        <p:spPr>
          <a:xfrm>
            <a:off x="6016752" y="3886200"/>
            <a:ext cx="5193792" cy="1874520"/>
          </a:xfrm>
          <a:prstGeom prst="roundRect">
            <a:avLst>
              <a:gd name="adj" fmla="val 3415"/>
            </a:avLst>
          </a:prstGeom>
          <a:solidFill>
            <a:srgbClr val="F5F5F7"/>
          </a:solidFill>
          <a:ln/>
        </p:spPr>
      </p:sp>
      <p:sp>
        <p:nvSpPr>
          <p:cNvPr id="22" name="Shape 20"/>
          <p:cNvSpPr/>
          <p:nvPr/>
        </p:nvSpPr>
        <p:spPr>
          <a:xfrm>
            <a:off x="6245352" y="4114800"/>
            <a:ext cx="420624" cy="420624"/>
          </a:xfrm>
          <a:prstGeom prst="ellipse">
            <a:avLst/>
          </a:prstGeom>
          <a:solidFill>
            <a:srgbClr val="FFFFFF"/>
          </a:solidFill>
          <a:ln/>
        </p:spPr>
      </p:sp>
      <p:sp>
        <p:nvSpPr>
          <p:cNvPr id="23" name="Text 21"/>
          <p:cNvSpPr/>
          <p:nvPr/>
        </p:nvSpPr>
        <p:spPr>
          <a:xfrm>
            <a:off x="6245352" y="4114800"/>
            <a:ext cx="420624" cy="420624"/>
          </a:xfrm>
          <a:prstGeom prst="rect">
            <a:avLst/>
          </a:prstGeom>
          <a:noFill/>
          <a:ln/>
        </p:spPr>
        <p:txBody>
          <a:bodyPr wrap="square" lIns="0" tIns="0" rIns="0" bIns="0" rtlCol="0" anchor="ctr"/>
          <a:lstStyle/>
          <a:p>
            <a:pPr marL="0" indent="0" algn="ctr">
              <a:buNone/>
            </a:pPr>
            <a:r>
              <a:rPr lang="en-US" dirty="0">
                <a:solidFill>
                  <a:srgbClr val="000000"/>
                </a:solidFill>
              </a:rPr>
              <a:t>🏗️</a:t>
            </a:r>
            <a:endParaRPr lang="en-US" dirty="0"/>
          </a:p>
        </p:txBody>
      </p:sp>
      <p:sp>
        <p:nvSpPr>
          <p:cNvPr id="24" name="Text 22"/>
          <p:cNvSpPr/>
          <p:nvPr/>
        </p:nvSpPr>
        <p:spPr>
          <a:xfrm>
            <a:off x="6793992" y="4105656"/>
            <a:ext cx="4187952" cy="438912"/>
          </a:xfrm>
          <a:prstGeom prst="rect">
            <a:avLst/>
          </a:prstGeom>
          <a:noFill/>
          <a:ln/>
        </p:spPr>
        <p:txBody>
          <a:bodyPr wrap="square" lIns="0" tIns="0" rIns="0" bIns="0" rtlCol="0" anchor="t"/>
          <a:lstStyle/>
          <a:p>
            <a:pPr marL="0" indent="0">
              <a:buNone/>
            </a:pPr>
            <a:r>
              <a:rPr lang="en-US" b="1" dirty="0">
                <a:solidFill>
                  <a:srgbClr val="272525"/>
                </a:solidFill>
                <a:latin typeface="Calibri" pitchFamily="34" charset="0"/>
                <a:ea typeface="Calibri" pitchFamily="34" charset="-122"/>
                <a:cs typeface="Calibri" pitchFamily="34" charset="-120"/>
              </a:rPr>
              <a:t>This is how Phase 4–5 backends work</a:t>
            </a:r>
            <a:endParaRPr lang="en-US" dirty="0"/>
          </a:p>
        </p:txBody>
      </p:sp>
      <p:sp>
        <p:nvSpPr>
          <p:cNvPr id="25" name="Text 23"/>
          <p:cNvSpPr/>
          <p:nvPr/>
        </p:nvSpPr>
        <p:spPr>
          <a:xfrm>
            <a:off x="6245352" y="4636008"/>
            <a:ext cx="4736592" cy="1005840"/>
          </a:xfrm>
          <a:prstGeom prst="rect">
            <a:avLst/>
          </a:prstGeom>
          <a:noFill/>
          <a:ln/>
        </p:spPr>
        <p:txBody>
          <a:bodyPr wrap="square" lIns="0" tIns="0" rIns="0" bIns="0" rtlCol="0" anchor="t"/>
          <a:lstStyle/>
          <a:p>
            <a:pPr marL="0" indent="0">
              <a:buNone/>
            </a:pPr>
            <a:r>
              <a:rPr lang="en-US" dirty="0">
                <a:solidFill>
                  <a:srgbClr val="6B6B6B"/>
                </a:solidFill>
                <a:latin typeface="Calibri" pitchFamily="34" charset="0"/>
                <a:ea typeface="Calibri" pitchFamily="34" charset="-122"/>
                <a:cs typeface="Calibri" pitchFamily="34" charset="-120"/>
              </a:rPr>
              <a:t>Flask apps ARE organized functions + modules. You're building that muscle starting today.</a:t>
            </a:r>
            <a:endParaRPr lang="en-US" dirty="0"/>
          </a:p>
        </p:txBody>
      </p:sp>
      <p:sp>
        <p:nvSpPr>
          <p:cNvPr id="26" name="Text 24"/>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103120" cy="274320"/>
          </a:xfrm>
          <a:prstGeom prst="roundRect">
            <a:avLst>
              <a:gd name="adj" fmla="val 20000"/>
            </a:avLst>
          </a:prstGeom>
          <a:solidFill>
            <a:srgbClr val="DADBF1"/>
          </a:solidFill>
          <a:ln/>
        </p:spPr>
      </p:sp>
      <p:sp>
        <p:nvSpPr>
          <p:cNvPr id="3" name="Text 1"/>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b="1" kern="0" spc="50" dirty="0">
                <a:solidFill>
                  <a:srgbClr val="4950BC"/>
                </a:solidFill>
                <a:latin typeface="Calibri" pitchFamily="34" charset="0"/>
                <a:ea typeface="Calibri" pitchFamily="34" charset="-122"/>
                <a:cs typeface="Calibri" pitchFamily="34" charset="-120"/>
              </a:rPr>
              <a:t>PART 1</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Functions — Past the Basics</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You know def and return. Here's what makes functions actually useful.</a:t>
            </a:r>
            <a:endParaRPr lang="en-US" dirty="0"/>
          </a:p>
        </p:txBody>
      </p:sp>
      <p:sp>
        <p:nvSpPr>
          <p:cNvPr id="6" name="Shape 4"/>
          <p:cNvSpPr/>
          <p:nvPr/>
        </p:nvSpPr>
        <p:spPr>
          <a:xfrm>
            <a:off x="502920" y="1645920"/>
            <a:ext cx="6263640" cy="3905794"/>
          </a:xfrm>
          <a:prstGeom prst="roundRect">
            <a:avLst>
              <a:gd name="adj" fmla="val 1064"/>
            </a:avLst>
          </a:prstGeom>
          <a:solidFill>
            <a:srgbClr val="1E1E2E"/>
          </a:solidFill>
          <a:ln/>
          <a:effectLst>
            <a:outerShdw blurRad="76200" dist="25400" dir="5400000" algn="bl" rotWithShape="0">
              <a:srgbClr val="000000">
                <a:alpha val="16000"/>
              </a:srgbClr>
            </a:outerShdw>
          </a:effectLst>
        </p:spPr>
      </p:sp>
      <p:sp>
        <p:nvSpPr>
          <p:cNvPr id="7" name="Shape 5"/>
          <p:cNvSpPr/>
          <p:nvPr/>
        </p:nvSpPr>
        <p:spPr>
          <a:xfrm>
            <a:off x="640080" y="1755648"/>
            <a:ext cx="82296" cy="82296"/>
          </a:xfrm>
          <a:prstGeom prst="ellipse">
            <a:avLst/>
          </a:prstGeom>
          <a:solidFill>
            <a:srgbClr val="FF5F56"/>
          </a:solidFill>
          <a:ln/>
        </p:spPr>
      </p:sp>
      <p:sp>
        <p:nvSpPr>
          <p:cNvPr id="8" name="Shape 6"/>
          <p:cNvSpPr/>
          <p:nvPr/>
        </p:nvSpPr>
        <p:spPr>
          <a:xfrm>
            <a:off x="795528" y="1755648"/>
            <a:ext cx="82296" cy="82296"/>
          </a:xfrm>
          <a:prstGeom prst="ellipse">
            <a:avLst/>
          </a:prstGeom>
          <a:solidFill>
            <a:srgbClr val="FFBD2E"/>
          </a:solidFill>
          <a:ln/>
        </p:spPr>
      </p:sp>
      <p:sp>
        <p:nvSpPr>
          <p:cNvPr id="9" name="Shape 7"/>
          <p:cNvSpPr/>
          <p:nvPr/>
        </p:nvSpPr>
        <p:spPr>
          <a:xfrm>
            <a:off x="950976" y="1755648"/>
            <a:ext cx="82296" cy="82296"/>
          </a:xfrm>
          <a:prstGeom prst="ellipse">
            <a:avLst/>
          </a:prstGeom>
          <a:solidFill>
            <a:srgbClr val="27C93F"/>
          </a:solidFill>
          <a:ln/>
        </p:spPr>
      </p:sp>
      <p:sp>
        <p:nvSpPr>
          <p:cNvPr id="10" name="Text 8"/>
          <p:cNvSpPr/>
          <p:nvPr/>
        </p:nvSpPr>
        <p:spPr>
          <a:xfrm>
            <a:off x="722376" y="1938528"/>
            <a:ext cx="58247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def </a:t>
            </a:r>
            <a:r>
              <a:rPr lang="en-US" dirty="0">
                <a:solidFill>
                  <a:srgbClr val="E4E4EE"/>
                </a:solidFill>
                <a:latin typeface="Consolas" pitchFamily="34" charset="0"/>
                <a:ea typeface="Consolas" pitchFamily="34" charset="-122"/>
                <a:cs typeface="Consolas" pitchFamily="34" charset="-120"/>
              </a:rPr>
              <a:t>greet(name, greeting=</a:t>
            </a:r>
            <a:r>
              <a:rPr lang="en-US" dirty="0">
                <a:solidFill>
                  <a:srgbClr val="F2C978"/>
                </a:solidFill>
                <a:latin typeface="Consolas" pitchFamily="34" charset="0"/>
                <a:ea typeface="Consolas" pitchFamily="34" charset="-122"/>
                <a:cs typeface="Consolas" pitchFamily="34" charset="-120"/>
              </a:rPr>
              <a:t>"Hello"</a:t>
            </a:r>
            <a:r>
              <a:rPr lang="en-US" dirty="0">
                <a:solidFill>
                  <a:srgbClr val="E4E4EE"/>
                </a:solidFill>
                <a:latin typeface="Consolas" pitchFamily="34" charset="0"/>
                <a:ea typeface="Consolas" pitchFamily="34" charset="-122"/>
                <a:cs typeface="Consolas" pitchFamily="34" charset="-120"/>
              </a:rPr>
              <a:t>):</a:t>
            </a:r>
            <a:endParaRPr lang="en-US" dirty="0"/>
          </a:p>
        </p:txBody>
      </p:sp>
      <p:sp>
        <p:nvSpPr>
          <p:cNvPr id="11" name="Text 9"/>
          <p:cNvSpPr/>
          <p:nvPr/>
        </p:nvSpPr>
        <p:spPr>
          <a:xfrm>
            <a:off x="722376" y="2231136"/>
            <a:ext cx="58247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return </a:t>
            </a:r>
            <a:r>
              <a:rPr lang="en-US" dirty="0">
                <a:solidFill>
                  <a:srgbClr val="F2C978"/>
                </a:solidFill>
                <a:latin typeface="Consolas" pitchFamily="34" charset="0"/>
                <a:ea typeface="Consolas" pitchFamily="34" charset="-122"/>
                <a:cs typeface="Consolas" pitchFamily="34" charset="-120"/>
              </a:rPr>
              <a:t>f"{greeting}, {name}!"</a:t>
            </a:r>
            <a:endParaRPr lang="en-US" dirty="0"/>
          </a:p>
        </p:txBody>
      </p:sp>
      <p:sp>
        <p:nvSpPr>
          <p:cNvPr id="12" name="Text 10"/>
          <p:cNvSpPr/>
          <p:nvPr/>
        </p:nvSpPr>
        <p:spPr>
          <a:xfrm>
            <a:off x="722376" y="2523744"/>
            <a:ext cx="5824728" cy="292608"/>
          </a:xfrm>
          <a:prstGeom prst="rect">
            <a:avLst/>
          </a:prstGeom>
          <a:noFill/>
          <a:ln/>
        </p:spPr>
        <p:txBody>
          <a:bodyPr wrap="square" lIns="0" tIns="0" rIns="0" bIns="0" rtlCol="0" anchor="ctr"/>
          <a:lstStyle/>
          <a:p>
            <a:pPr marL="0" indent="0">
              <a:buNone/>
            </a:pPr>
            <a:r>
              <a:rPr lang="en-US" dirty="0">
                <a:solidFill>
                  <a:srgbClr val="8A8FA3"/>
                </a:solidFill>
                <a:latin typeface="Consolas" pitchFamily="34" charset="0"/>
                <a:ea typeface="Consolas" pitchFamily="34" charset="-122"/>
                <a:cs typeface="Consolas" pitchFamily="34" charset="-120"/>
              </a:rPr>
              <a:t># default parameter -- optional to pass</a:t>
            </a:r>
            <a:endParaRPr lang="en-US" dirty="0"/>
          </a:p>
        </p:txBody>
      </p:sp>
      <p:sp>
        <p:nvSpPr>
          <p:cNvPr id="13" name="Text 11"/>
          <p:cNvSpPr/>
          <p:nvPr/>
        </p:nvSpPr>
        <p:spPr>
          <a:xfrm>
            <a:off x="722376" y="2816352"/>
            <a:ext cx="582472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greet(</a:t>
            </a:r>
            <a:r>
              <a:rPr lang="en-US" dirty="0">
                <a:solidFill>
                  <a:srgbClr val="F2C978"/>
                </a:solidFill>
                <a:latin typeface="Consolas" pitchFamily="34" charset="0"/>
                <a:ea typeface="Consolas" pitchFamily="34" charset="-122"/>
                <a:cs typeface="Consolas" pitchFamily="34" charset="-120"/>
              </a:rPr>
              <a:t>"AAAA"</a:t>
            </a:r>
            <a:r>
              <a:rPr lang="en-US" dirty="0">
                <a:solidFill>
                  <a:srgbClr val="E4E4EE"/>
                </a:solidFill>
                <a:latin typeface="Consolas" pitchFamily="34" charset="0"/>
                <a:ea typeface="Consolas" pitchFamily="34" charset="-122"/>
                <a:cs typeface="Consolas" pitchFamily="34" charset="-120"/>
              </a:rPr>
              <a:t>)</a:t>
            </a:r>
            <a:endParaRPr lang="en-US" dirty="0"/>
          </a:p>
        </p:txBody>
      </p:sp>
      <p:sp>
        <p:nvSpPr>
          <p:cNvPr id="14" name="Text 12"/>
          <p:cNvSpPr/>
          <p:nvPr/>
        </p:nvSpPr>
        <p:spPr>
          <a:xfrm>
            <a:off x="722376" y="3108960"/>
            <a:ext cx="5824728" cy="292608"/>
          </a:xfrm>
          <a:prstGeom prst="rect">
            <a:avLst/>
          </a:prstGeom>
          <a:noFill/>
          <a:ln/>
        </p:spPr>
        <p:txBody>
          <a:bodyPr wrap="square" lIns="0" tIns="0" rIns="0" bIns="0" rtlCol="0" anchor="ctr"/>
          <a:lstStyle/>
          <a:p>
            <a:pPr marL="0" indent="0">
              <a:buNone/>
            </a:pPr>
            <a:endParaRPr lang="en-US" dirty="0"/>
          </a:p>
        </p:txBody>
      </p:sp>
      <p:sp>
        <p:nvSpPr>
          <p:cNvPr id="15" name="Text 13"/>
          <p:cNvSpPr/>
          <p:nvPr/>
        </p:nvSpPr>
        <p:spPr>
          <a:xfrm>
            <a:off x="722376" y="3401568"/>
            <a:ext cx="58247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def </a:t>
            </a:r>
            <a:r>
              <a:rPr lang="en-US" dirty="0">
                <a:solidFill>
                  <a:srgbClr val="E4E4EE"/>
                </a:solidFill>
                <a:latin typeface="Consolas" pitchFamily="34" charset="0"/>
                <a:ea typeface="Consolas" pitchFamily="34" charset="-122"/>
                <a:cs typeface="Consolas" pitchFamily="34" charset="-120"/>
              </a:rPr>
              <a:t>total(*amounts):</a:t>
            </a:r>
            <a:endParaRPr lang="en-US" dirty="0"/>
          </a:p>
        </p:txBody>
      </p:sp>
      <p:sp>
        <p:nvSpPr>
          <p:cNvPr id="16" name="Text 14"/>
          <p:cNvSpPr/>
          <p:nvPr/>
        </p:nvSpPr>
        <p:spPr>
          <a:xfrm>
            <a:off x="722376" y="3694176"/>
            <a:ext cx="58247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return </a:t>
            </a:r>
            <a:r>
              <a:rPr lang="en-US" dirty="0">
                <a:solidFill>
                  <a:srgbClr val="E4E4EE"/>
                </a:solidFill>
                <a:latin typeface="Consolas" pitchFamily="34" charset="0"/>
                <a:ea typeface="Consolas" pitchFamily="34" charset="-122"/>
                <a:cs typeface="Consolas" pitchFamily="34" charset="-120"/>
              </a:rPr>
              <a:t>sum(amounts)</a:t>
            </a:r>
            <a:endParaRPr lang="en-US" dirty="0"/>
          </a:p>
        </p:txBody>
      </p:sp>
      <p:sp>
        <p:nvSpPr>
          <p:cNvPr id="17" name="Text 15"/>
          <p:cNvSpPr/>
          <p:nvPr/>
        </p:nvSpPr>
        <p:spPr>
          <a:xfrm>
            <a:off x="722376" y="3986784"/>
            <a:ext cx="5824728" cy="292608"/>
          </a:xfrm>
          <a:prstGeom prst="rect">
            <a:avLst/>
          </a:prstGeom>
          <a:noFill/>
          <a:ln/>
        </p:spPr>
        <p:txBody>
          <a:bodyPr wrap="square" lIns="0" tIns="0" rIns="0" bIns="0" rtlCol="0" anchor="ctr"/>
          <a:lstStyle/>
          <a:p>
            <a:pPr marL="0" indent="0">
              <a:buNone/>
            </a:pPr>
            <a:r>
              <a:rPr lang="en-US" dirty="0">
                <a:solidFill>
                  <a:srgbClr val="8A8FA3"/>
                </a:solidFill>
                <a:latin typeface="Consolas" pitchFamily="34" charset="0"/>
                <a:ea typeface="Consolas" pitchFamily="34" charset="-122"/>
                <a:cs typeface="Consolas" pitchFamily="34" charset="-120"/>
              </a:rPr>
              <a:t># *args -- any number of arguments</a:t>
            </a:r>
            <a:endParaRPr lang="en-US" dirty="0"/>
          </a:p>
        </p:txBody>
      </p:sp>
      <p:sp>
        <p:nvSpPr>
          <p:cNvPr id="18" name="Text 16"/>
          <p:cNvSpPr/>
          <p:nvPr/>
        </p:nvSpPr>
        <p:spPr>
          <a:xfrm>
            <a:off x="722376" y="4279392"/>
            <a:ext cx="582472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total(100, 200, 50)</a:t>
            </a:r>
            <a:r>
              <a:rPr lang="en-US" dirty="0">
                <a:solidFill>
                  <a:srgbClr val="8A8FA3"/>
                </a:solidFill>
                <a:latin typeface="Consolas" pitchFamily="34" charset="0"/>
                <a:ea typeface="Consolas" pitchFamily="34" charset="-122"/>
                <a:cs typeface="Consolas" pitchFamily="34" charset="-120"/>
              </a:rPr>
              <a:t>  # 350</a:t>
            </a:r>
            <a:endParaRPr lang="en-US" dirty="0"/>
          </a:p>
        </p:txBody>
      </p:sp>
      <p:sp>
        <p:nvSpPr>
          <p:cNvPr id="19" name="Text 17"/>
          <p:cNvSpPr/>
          <p:nvPr/>
        </p:nvSpPr>
        <p:spPr>
          <a:xfrm>
            <a:off x="722376" y="4572000"/>
            <a:ext cx="582472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total(100, 200, 50, 75)</a:t>
            </a:r>
            <a:r>
              <a:rPr lang="en-US" dirty="0">
                <a:solidFill>
                  <a:srgbClr val="8A8FA3"/>
                </a:solidFill>
                <a:latin typeface="Consolas" pitchFamily="34" charset="0"/>
                <a:ea typeface="Consolas" pitchFamily="34" charset="-122"/>
                <a:cs typeface="Consolas" pitchFamily="34" charset="-120"/>
              </a:rPr>
              <a:t>  # 425</a:t>
            </a:r>
            <a:endParaRPr lang="en-US" dirty="0"/>
          </a:p>
        </p:txBody>
      </p:sp>
      <p:sp>
        <p:nvSpPr>
          <p:cNvPr id="20" name="Shape 18"/>
          <p:cNvSpPr/>
          <p:nvPr/>
        </p:nvSpPr>
        <p:spPr>
          <a:xfrm>
            <a:off x="7406640" y="1645920"/>
            <a:ext cx="4251960" cy="4297680"/>
          </a:xfrm>
          <a:prstGeom prst="roundRect">
            <a:avLst>
              <a:gd name="adj" fmla="val 1505"/>
            </a:avLst>
          </a:prstGeom>
          <a:solidFill>
            <a:srgbClr val="F5F5F7"/>
          </a:solidFill>
          <a:ln/>
        </p:spPr>
      </p:sp>
      <p:sp>
        <p:nvSpPr>
          <p:cNvPr id="21" name="Text 19"/>
          <p:cNvSpPr/>
          <p:nvPr/>
        </p:nvSpPr>
        <p:spPr>
          <a:xfrm>
            <a:off x="7635240" y="1810512"/>
            <a:ext cx="3840480" cy="320040"/>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Key Ideas</a:t>
            </a:r>
            <a:endParaRPr lang="en-US" dirty="0"/>
          </a:p>
        </p:txBody>
      </p:sp>
      <p:sp>
        <p:nvSpPr>
          <p:cNvPr id="22" name="Shape 20"/>
          <p:cNvSpPr/>
          <p:nvPr/>
        </p:nvSpPr>
        <p:spPr>
          <a:xfrm>
            <a:off x="7635240" y="2258568"/>
            <a:ext cx="182880" cy="182880"/>
          </a:xfrm>
          <a:prstGeom prst="ellipse">
            <a:avLst/>
          </a:prstGeom>
          <a:solidFill>
            <a:srgbClr val="2F9E44"/>
          </a:solidFill>
          <a:ln/>
        </p:spPr>
      </p:sp>
      <p:sp>
        <p:nvSpPr>
          <p:cNvPr id="23" name="Text 21"/>
          <p:cNvSpPr/>
          <p:nvPr/>
        </p:nvSpPr>
        <p:spPr>
          <a:xfrm>
            <a:off x="7635240" y="2258568"/>
            <a:ext cx="182880" cy="182880"/>
          </a:xfrm>
          <a:prstGeom prst="rect">
            <a:avLst/>
          </a:prstGeom>
          <a:noFill/>
          <a:ln/>
        </p:spPr>
        <p:txBody>
          <a:bodyPr wrap="square" lIns="0" tIns="0" rIns="0" bIns="0" rtlCol="0" anchor="ctr"/>
          <a:lstStyle/>
          <a:p>
            <a:pPr marL="0" indent="0" algn="ctr">
              <a:buNone/>
            </a:pPr>
            <a:r>
              <a:rPr lang="en-US" b="1" dirty="0">
                <a:solidFill>
                  <a:srgbClr val="FFFFFF"/>
                </a:solidFill>
              </a:rPr>
              <a:t>✓</a:t>
            </a:r>
            <a:endParaRPr lang="en-US" dirty="0"/>
          </a:p>
        </p:txBody>
      </p:sp>
      <p:sp>
        <p:nvSpPr>
          <p:cNvPr id="24" name="Text 22"/>
          <p:cNvSpPr/>
          <p:nvPr/>
        </p:nvSpPr>
        <p:spPr>
          <a:xfrm>
            <a:off x="7909560" y="2185416"/>
            <a:ext cx="3657600" cy="64008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Default parameters make arguments optional</a:t>
            </a:r>
            <a:endParaRPr lang="en-US" dirty="0"/>
          </a:p>
        </p:txBody>
      </p:sp>
      <p:sp>
        <p:nvSpPr>
          <p:cNvPr id="25" name="Shape 23"/>
          <p:cNvSpPr/>
          <p:nvPr/>
        </p:nvSpPr>
        <p:spPr>
          <a:xfrm>
            <a:off x="7635240" y="2971800"/>
            <a:ext cx="182880" cy="182880"/>
          </a:xfrm>
          <a:prstGeom prst="ellipse">
            <a:avLst/>
          </a:prstGeom>
          <a:solidFill>
            <a:srgbClr val="2F9E44"/>
          </a:solidFill>
          <a:ln/>
        </p:spPr>
      </p:sp>
      <p:sp>
        <p:nvSpPr>
          <p:cNvPr id="26" name="Text 24"/>
          <p:cNvSpPr/>
          <p:nvPr/>
        </p:nvSpPr>
        <p:spPr>
          <a:xfrm>
            <a:off x="7635240" y="2971800"/>
            <a:ext cx="182880" cy="182880"/>
          </a:xfrm>
          <a:prstGeom prst="rect">
            <a:avLst/>
          </a:prstGeom>
          <a:noFill/>
          <a:ln/>
        </p:spPr>
        <p:txBody>
          <a:bodyPr wrap="square" lIns="0" tIns="0" rIns="0" bIns="0" rtlCol="0" anchor="ctr"/>
          <a:lstStyle/>
          <a:p>
            <a:pPr marL="0" indent="0" algn="ctr">
              <a:buNone/>
            </a:pPr>
            <a:r>
              <a:rPr lang="en-US" b="1" dirty="0">
                <a:solidFill>
                  <a:srgbClr val="FFFFFF"/>
                </a:solidFill>
              </a:rPr>
              <a:t>✓</a:t>
            </a:r>
            <a:endParaRPr lang="en-US" dirty="0"/>
          </a:p>
        </p:txBody>
      </p:sp>
      <p:sp>
        <p:nvSpPr>
          <p:cNvPr id="27" name="Text 25"/>
          <p:cNvSpPr/>
          <p:nvPr/>
        </p:nvSpPr>
        <p:spPr>
          <a:xfrm>
            <a:off x="7909560" y="2898648"/>
            <a:ext cx="3657600" cy="64008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Keyword arguments: name=value, order stops mattering</a:t>
            </a:r>
            <a:endParaRPr lang="en-US" dirty="0"/>
          </a:p>
        </p:txBody>
      </p:sp>
      <p:sp>
        <p:nvSpPr>
          <p:cNvPr id="28" name="Shape 26"/>
          <p:cNvSpPr/>
          <p:nvPr/>
        </p:nvSpPr>
        <p:spPr>
          <a:xfrm>
            <a:off x="7635240" y="3685032"/>
            <a:ext cx="182880" cy="182880"/>
          </a:xfrm>
          <a:prstGeom prst="ellipse">
            <a:avLst/>
          </a:prstGeom>
          <a:solidFill>
            <a:srgbClr val="2F9E44"/>
          </a:solidFill>
          <a:ln/>
        </p:spPr>
      </p:sp>
      <p:sp>
        <p:nvSpPr>
          <p:cNvPr id="29" name="Text 27"/>
          <p:cNvSpPr/>
          <p:nvPr/>
        </p:nvSpPr>
        <p:spPr>
          <a:xfrm>
            <a:off x="7635240" y="3685032"/>
            <a:ext cx="182880" cy="182880"/>
          </a:xfrm>
          <a:prstGeom prst="rect">
            <a:avLst/>
          </a:prstGeom>
          <a:noFill/>
          <a:ln/>
        </p:spPr>
        <p:txBody>
          <a:bodyPr wrap="square" lIns="0" tIns="0" rIns="0" bIns="0" rtlCol="0" anchor="ctr"/>
          <a:lstStyle/>
          <a:p>
            <a:pPr marL="0" indent="0" algn="ctr">
              <a:buNone/>
            </a:pPr>
            <a:r>
              <a:rPr lang="en-US" b="1" dirty="0">
                <a:solidFill>
                  <a:srgbClr val="FFFFFF"/>
                </a:solidFill>
              </a:rPr>
              <a:t>✓</a:t>
            </a:r>
            <a:endParaRPr lang="en-US" dirty="0"/>
          </a:p>
        </p:txBody>
      </p:sp>
      <p:sp>
        <p:nvSpPr>
          <p:cNvPr id="30" name="Text 28"/>
          <p:cNvSpPr/>
          <p:nvPr/>
        </p:nvSpPr>
        <p:spPr>
          <a:xfrm>
            <a:off x="7909560" y="3611880"/>
            <a:ext cx="3657600" cy="64008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*args collects extra positional args into a tuple</a:t>
            </a:r>
            <a:endParaRPr lang="en-US" dirty="0"/>
          </a:p>
        </p:txBody>
      </p:sp>
      <p:sp>
        <p:nvSpPr>
          <p:cNvPr id="31" name="Shape 29"/>
          <p:cNvSpPr/>
          <p:nvPr/>
        </p:nvSpPr>
        <p:spPr>
          <a:xfrm>
            <a:off x="7635240" y="4398264"/>
            <a:ext cx="182880" cy="182880"/>
          </a:xfrm>
          <a:prstGeom prst="ellipse">
            <a:avLst/>
          </a:prstGeom>
          <a:solidFill>
            <a:srgbClr val="2F9E44"/>
          </a:solidFill>
          <a:ln/>
        </p:spPr>
      </p:sp>
      <p:sp>
        <p:nvSpPr>
          <p:cNvPr id="32" name="Text 30"/>
          <p:cNvSpPr/>
          <p:nvPr/>
        </p:nvSpPr>
        <p:spPr>
          <a:xfrm>
            <a:off x="7635240" y="4398264"/>
            <a:ext cx="182880" cy="182880"/>
          </a:xfrm>
          <a:prstGeom prst="rect">
            <a:avLst/>
          </a:prstGeom>
          <a:noFill/>
          <a:ln/>
        </p:spPr>
        <p:txBody>
          <a:bodyPr wrap="square" lIns="0" tIns="0" rIns="0" bIns="0" rtlCol="0" anchor="ctr"/>
          <a:lstStyle/>
          <a:p>
            <a:pPr marL="0" indent="0" algn="ctr">
              <a:buNone/>
            </a:pPr>
            <a:r>
              <a:rPr lang="en-US" b="1" dirty="0">
                <a:solidFill>
                  <a:srgbClr val="FFFFFF"/>
                </a:solidFill>
              </a:rPr>
              <a:t>✓</a:t>
            </a:r>
            <a:endParaRPr lang="en-US" dirty="0"/>
          </a:p>
        </p:txBody>
      </p:sp>
      <p:sp>
        <p:nvSpPr>
          <p:cNvPr id="33" name="Text 31"/>
          <p:cNvSpPr/>
          <p:nvPr/>
        </p:nvSpPr>
        <p:spPr>
          <a:xfrm>
            <a:off x="7909560" y="4325112"/>
            <a:ext cx="3657600" cy="64008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**kwargs collects extra named args into a dict</a:t>
            </a:r>
            <a:endParaRPr lang="en-US" dirty="0"/>
          </a:p>
        </p:txBody>
      </p:sp>
      <p:sp>
        <p:nvSpPr>
          <p:cNvPr id="34" name="Shape 32"/>
          <p:cNvSpPr/>
          <p:nvPr/>
        </p:nvSpPr>
        <p:spPr>
          <a:xfrm>
            <a:off x="7635240" y="5111496"/>
            <a:ext cx="182880" cy="182880"/>
          </a:xfrm>
          <a:prstGeom prst="ellipse">
            <a:avLst/>
          </a:prstGeom>
          <a:solidFill>
            <a:srgbClr val="2F9E44"/>
          </a:solidFill>
          <a:ln/>
        </p:spPr>
      </p:sp>
      <p:sp>
        <p:nvSpPr>
          <p:cNvPr id="35" name="Text 33"/>
          <p:cNvSpPr/>
          <p:nvPr/>
        </p:nvSpPr>
        <p:spPr>
          <a:xfrm>
            <a:off x="7635240" y="5111496"/>
            <a:ext cx="182880" cy="182880"/>
          </a:xfrm>
          <a:prstGeom prst="rect">
            <a:avLst/>
          </a:prstGeom>
          <a:noFill/>
          <a:ln/>
        </p:spPr>
        <p:txBody>
          <a:bodyPr wrap="square" lIns="0" tIns="0" rIns="0" bIns="0" rtlCol="0" anchor="ctr"/>
          <a:lstStyle/>
          <a:p>
            <a:pPr marL="0" indent="0" algn="ctr">
              <a:buNone/>
            </a:pPr>
            <a:r>
              <a:rPr lang="en-US" b="1" dirty="0">
                <a:solidFill>
                  <a:srgbClr val="FFFFFF"/>
                </a:solidFill>
              </a:rPr>
              <a:t>✓</a:t>
            </a:r>
            <a:endParaRPr lang="en-US" dirty="0"/>
          </a:p>
        </p:txBody>
      </p:sp>
      <p:sp>
        <p:nvSpPr>
          <p:cNvPr id="36" name="Text 34"/>
          <p:cNvSpPr/>
          <p:nvPr/>
        </p:nvSpPr>
        <p:spPr>
          <a:xfrm>
            <a:off x="7909560" y="5038344"/>
            <a:ext cx="3657600" cy="64008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A function can return multiple values at once</a:t>
            </a:r>
            <a:endParaRPr lang="en-US" dirty="0"/>
          </a:p>
        </p:txBody>
      </p:sp>
      <p:sp>
        <p:nvSpPr>
          <p:cNvPr id="37" name="Text 35"/>
          <p:cNvSpPr/>
          <p:nvPr/>
        </p:nvSpPr>
        <p:spPr>
          <a:xfrm>
            <a:off x="502920" y="6053328"/>
            <a:ext cx="11183112" cy="27432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Note: this greet/total example is just for syntax practice — it's not part of CampusLib.</a:t>
            </a:r>
            <a:endParaRPr lang="en-US" sz="1400" dirty="0"/>
          </a:p>
        </p:txBody>
      </p:sp>
      <p:sp>
        <p:nvSpPr>
          <p:cNvPr id="38" name="Text 36"/>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651760" cy="274320"/>
          </a:xfrm>
          <a:prstGeom prst="roundRect">
            <a:avLst>
              <a:gd name="adj" fmla="val 20000"/>
            </a:avLst>
          </a:prstGeom>
          <a:solidFill>
            <a:srgbClr val="E8912B"/>
          </a:solidFill>
          <a:ln/>
        </p:spPr>
      </p:sp>
      <p:sp>
        <p:nvSpPr>
          <p:cNvPr id="3" name="Text 1"/>
          <p:cNvSpPr/>
          <p:nvPr/>
        </p:nvSpPr>
        <p:spPr>
          <a:xfrm>
            <a:off x="502920" y="384048"/>
            <a:ext cx="2651760" cy="274320"/>
          </a:xfrm>
          <a:prstGeom prst="rect">
            <a:avLst/>
          </a:prstGeom>
          <a:noFill/>
          <a:ln/>
        </p:spPr>
        <p:txBody>
          <a:bodyPr wrap="square" lIns="0" tIns="0" rIns="0" bIns="0" rtlCol="0" anchor="ctr"/>
          <a:lstStyle/>
          <a:p>
            <a:pPr marL="0" indent="0" algn="ctr">
              <a:buNone/>
            </a:pPr>
            <a:r>
              <a:rPr lang="en-US" b="1" dirty="0">
                <a:solidFill>
                  <a:srgbClr val="1E2761"/>
                </a:solidFill>
                <a:latin typeface="Calibri" pitchFamily="34" charset="0"/>
                <a:ea typeface="Calibri" pitchFamily="34" charset="-122"/>
                <a:cs typeface="Calibri" pitchFamily="34" charset="-120"/>
              </a:rPr>
              <a:t>QUICK PRACTICE · ROUND 1</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Try It Yourself: Flexible Receipt Builder</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Pause the lesson. Write this solo, then we compare approaches.</a:t>
            </a:r>
            <a:endParaRPr lang="en-US" dirty="0"/>
          </a:p>
        </p:txBody>
      </p:sp>
      <p:sp>
        <p:nvSpPr>
          <p:cNvPr id="6" name="Shape 4"/>
          <p:cNvSpPr/>
          <p:nvPr/>
        </p:nvSpPr>
        <p:spPr>
          <a:xfrm>
            <a:off x="9326880" y="384048"/>
            <a:ext cx="1280160" cy="310896"/>
          </a:xfrm>
          <a:prstGeom prst="roundRect">
            <a:avLst>
              <a:gd name="adj" fmla="val 50000"/>
            </a:avLst>
          </a:prstGeom>
          <a:solidFill>
            <a:srgbClr val="FBEAEA"/>
          </a:solidFill>
          <a:ln/>
        </p:spPr>
      </p:sp>
      <p:sp>
        <p:nvSpPr>
          <p:cNvPr id="7" name="Text 5"/>
          <p:cNvSpPr/>
          <p:nvPr/>
        </p:nvSpPr>
        <p:spPr>
          <a:xfrm>
            <a:off x="9326880" y="384048"/>
            <a:ext cx="1280160" cy="310896"/>
          </a:xfrm>
          <a:prstGeom prst="rect">
            <a:avLst/>
          </a:prstGeom>
          <a:noFill/>
          <a:ln/>
        </p:spPr>
        <p:txBody>
          <a:bodyPr wrap="square" lIns="0" tIns="0" rIns="0" bIns="0" rtlCol="0" anchor="ctr"/>
          <a:lstStyle/>
          <a:p>
            <a:pPr marL="0" indent="0" algn="ctr">
              <a:buNone/>
            </a:pPr>
            <a:r>
              <a:rPr lang="en-US" b="1" dirty="0">
                <a:solidFill>
                  <a:srgbClr val="C0392B"/>
                </a:solidFill>
                <a:latin typeface="Calibri" pitchFamily="34" charset="0"/>
                <a:ea typeface="Calibri" pitchFamily="34" charset="-122"/>
                <a:cs typeface="Calibri" pitchFamily="34" charset="-120"/>
              </a:rPr>
              <a:t>⏱  5 min</a:t>
            </a:r>
            <a:endParaRPr lang="en-US" dirty="0"/>
          </a:p>
        </p:txBody>
      </p:sp>
      <p:sp>
        <p:nvSpPr>
          <p:cNvPr id="8" name="Shape 6"/>
          <p:cNvSpPr/>
          <p:nvPr/>
        </p:nvSpPr>
        <p:spPr>
          <a:xfrm>
            <a:off x="502920" y="1600200"/>
            <a:ext cx="11183112" cy="502920"/>
          </a:xfrm>
          <a:prstGeom prst="roundRect">
            <a:avLst>
              <a:gd name="adj" fmla="val 10909"/>
            </a:avLst>
          </a:prstGeom>
          <a:solidFill>
            <a:srgbClr val="FCEEDA"/>
          </a:solidFill>
          <a:ln/>
        </p:spPr>
      </p:sp>
      <p:sp>
        <p:nvSpPr>
          <p:cNvPr id="9" name="Text 7"/>
          <p:cNvSpPr/>
          <p:nvPr/>
        </p:nvSpPr>
        <p:spPr>
          <a:xfrm>
            <a:off x="731520" y="1600200"/>
            <a:ext cx="10725912" cy="502920"/>
          </a:xfrm>
          <a:prstGeom prst="rect">
            <a:avLst/>
          </a:prstGeom>
          <a:noFill/>
          <a:ln/>
        </p:spPr>
        <p:txBody>
          <a:bodyPr wrap="square" lIns="0" tIns="0" rIns="0" bIns="0" rtlCol="0" anchor="ctr"/>
          <a:lstStyle/>
          <a:p>
            <a:pPr marL="0" indent="0">
              <a:buNone/>
            </a:pPr>
            <a:r>
              <a:rPr lang="en-US" b="1" dirty="0">
                <a:solidFill>
                  <a:srgbClr val="E8912B"/>
                </a:solidFill>
                <a:latin typeface="Calibri" pitchFamily="34" charset="0"/>
                <a:ea typeface="Calibri" pitchFamily="34" charset="-122"/>
                <a:cs typeface="Calibri" pitchFamily="34" charset="-120"/>
              </a:rPr>
              <a:t>Task:  </a:t>
            </a:r>
            <a:r>
              <a:rPr lang="en-US" dirty="0">
                <a:solidFill>
                  <a:srgbClr val="272525"/>
                </a:solidFill>
                <a:latin typeface="Calibri" pitchFamily="34" charset="0"/>
                <a:ea typeface="Calibri" pitchFamily="34" charset="-122"/>
                <a:cs typeface="Calibri" pitchFamily="34" charset="-120"/>
              </a:rPr>
              <a:t>Write a function using **kwargs to build a formatted receipt</a:t>
            </a:r>
            <a:endParaRPr lang="en-US" dirty="0"/>
          </a:p>
        </p:txBody>
      </p:sp>
      <p:sp>
        <p:nvSpPr>
          <p:cNvPr id="10" name="Shape 8"/>
          <p:cNvSpPr/>
          <p:nvPr/>
        </p:nvSpPr>
        <p:spPr>
          <a:xfrm>
            <a:off x="502920" y="2331720"/>
            <a:ext cx="365760" cy="365760"/>
          </a:xfrm>
          <a:prstGeom prst="ellipse">
            <a:avLst/>
          </a:prstGeom>
          <a:solidFill>
            <a:srgbClr val="4950BC"/>
          </a:solidFill>
          <a:ln/>
        </p:spPr>
      </p:sp>
      <p:sp>
        <p:nvSpPr>
          <p:cNvPr id="11" name="Text 9"/>
          <p:cNvSpPr/>
          <p:nvPr/>
        </p:nvSpPr>
        <p:spPr>
          <a:xfrm>
            <a:off x="502920" y="233172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2" name="Text 10"/>
          <p:cNvSpPr/>
          <p:nvPr/>
        </p:nvSpPr>
        <p:spPr>
          <a:xfrm>
            <a:off x="1005840" y="2313432"/>
            <a:ext cx="10332720" cy="68580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Create receipt_practice.py</a:t>
            </a:r>
            <a:endParaRPr lang="en-US" dirty="0"/>
          </a:p>
        </p:txBody>
      </p:sp>
      <p:sp>
        <p:nvSpPr>
          <p:cNvPr id="13" name="Shape 11"/>
          <p:cNvSpPr/>
          <p:nvPr/>
        </p:nvSpPr>
        <p:spPr>
          <a:xfrm>
            <a:off x="502920" y="3108960"/>
            <a:ext cx="365760" cy="365760"/>
          </a:xfrm>
          <a:prstGeom prst="ellipse">
            <a:avLst/>
          </a:prstGeom>
          <a:solidFill>
            <a:srgbClr val="4950BC"/>
          </a:solidFill>
          <a:ln/>
        </p:spPr>
      </p:sp>
      <p:sp>
        <p:nvSpPr>
          <p:cNvPr id="14" name="Text 12"/>
          <p:cNvSpPr/>
          <p:nvPr/>
        </p:nvSpPr>
        <p:spPr>
          <a:xfrm>
            <a:off x="502920" y="310896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5" name="Text 13"/>
          <p:cNvSpPr/>
          <p:nvPr/>
        </p:nvSpPr>
        <p:spPr>
          <a:xfrm>
            <a:off x="1005840" y="3090672"/>
            <a:ext cx="10332720" cy="68580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Write build_receipt(**details) that returns each key: value on its own line</a:t>
            </a:r>
            <a:endParaRPr lang="en-US" dirty="0"/>
          </a:p>
        </p:txBody>
      </p:sp>
      <p:sp>
        <p:nvSpPr>
          <p:cNvPr id="16" name="Shape 14"/>
          <p:cNvSpPr/>
          <p:nvPr/>
        </p:nvSpPr>
        <p:spPr>
          <a:xfrm>
            <a:off x="502920" y="3886200"/>
            <a:ext cx="365760" cy="365760"/>
          </a:xfrm>
          <a:prstGeom prst="ellipse">
            <a:avLst/>
          </a:prstGeom>
          <a:solidFill>
            <a:srgbClr val="4950BC"/>
          </a:solidFill>
          <a:ln/>
        </p:spPr>
      </p:sp>
      <p:sp>
        <p:nvSpPr>
          <p:cNvPr id="17" name="Text 15"/>
          <p:cNvSpPr/>
          <p:nvPr/>
        </p:nvSpPr>
        <p:spPr>
          <a:xfrm>
            <a:off x="502920" y="388620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8" name="Text 16"/>
          <p:cNvSpPr/>
          <p:nvPr/>
        </p:nvSpPr>
        <p:spPr>
          <a:xfrm>
            <a:off x="1005840" y="3867912"/>
            <a:ext cx="10332720" cy="68580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Call it with different sets of details each time, e.g. name, amount, type, or add a 4th field — it should just work</a:t>
            </a:r>
            <a:endParaRPr lang="en-US" dirty="0"/>
          </a:p>
        </p:txBody>
      </p:sp>
      <p:sp>
        <p:nvSpPr>
          <p:cNvPr id="19" name="Shape 17"/>
          <p:cNvSpPr/>
          <p:nvPr/>
        </p:nvSpPr>
        <p:spPr>
          <a:xfrm>
            <a:off x="502920" y="4892040"/>
            <a:ext cx="11183112" cy="685800"/>
          </a:xfrm>
          <a:prstGeom prst="roundRect">
            <a:avLst>
              <a:gd name="adj" fmla="val 9333"/>
            </a:avLst>
          </a:prstGeom>
          <a:solidFill>
            <a:srgbClr val="DADBF1"/>
          </a:solidFill>
          <a:ln/>
        </p:spPr>
      </p:sp>
      <p:sp>
        <p:nvSpPr>
          <p:cNvPr id="20" name="Text 18"/>
          <p:cNvSpPr/>
          <p:nvPr/>
        </p:nvSpPr>
        <p:spPr>
          <a:xfrm>
            <a:off x="731520" y="4892040"/>
            <a:ext cx="10725912" cy="685800"/>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 Hint:  </a:t>
            </a:r>
            <a:r>
              <a:rPr lang="en-US" dirty="0">
                <a:solidFill>
                  <a:srgbClr val="1E2761"/>
                </a:solidFill>
                <a:latin typeface="Calibri" pitchFamily="34" charset="0"/>
                <a:ea typeface="Calibri" pitchFamily="34" charset="-122"/>
                <a:cs typeface="Calibri" pitchFamily="34" charset="-120"/>
              </a:rPr>
              <a:t>Loop over details.items() inside the function — same pattern as the demo you just saw.</a:t>
            </a:r>
            <a:endParaRPr lang="en-US" dirty="0"/>
          </a:p>
        </p:txBody>
      </p:sp>
      <p:sp>
        <p:nvSpPr>
          <p:cNvPr id="21" name="Text 19"/>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74320"/>
          </a:xfrm>
          <a:prstGeom prst="roundRect">
            <a:avLst>
              <a:gd name="adj" fmla="val 20000"/>
            </a:avLst>
          </a:prstGeom>
          <a:solidFill>
            <a:srgbClr val="DADBF1"/>
          </a:solidFill>
          <a:ln/>
        </p:spPr>
      </p:sp>
      <p:sp>
        <p:nvSpPr>
          <p:cNvPr id="3" name="Text 1"/>
          <p:cNvSpPr/>
          <p:nvPr/>
        </p:nvSpPr>
        <p:spPr>
          <a:xfrm>
            <a:off x="502920" y="384048"/>
            <a:ext cx="2377440" cy="274320"/>
          </a:xfrm>
          <a:prstGeom prst="rect">
            <a:avLst/>
          </a:prstGeom>
          <a:noFill/>
          <a:ln/>
        </p:spPr>
        <p:txBody>
          <a:bodyPr wrap="square" lIns="0" tIns="0" rIns="0" bIns="0" rtlCol="0" anchor="ctr"/>
          <a:lstStyle/>
          <a:p>
            <a:pPr marL="0" indent="0" algn="ctr">
              <a:buNone/>
            </a:pPr>
            <a:r>
              <a:rPr lang="en-US" b="1" kern="0" spc="50" dirty="0">
                <a:solidFill>
                  <a:srgbClr val="4950BC"/>
                </a:solidFill>
                <a:latin typeface="Calibri" pitchFamily="34" charset="0"/>
                <a:ea typeface="Calibri" pitchFamily="34" charset="-122"/>
                <a:cs typeface="Calibri" pitchFamily="34" charset="-120"/>
              </a:rPr>
              <a:t>PART 1 · CONTINUED</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Scope: Local vs Global</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The #1 source of “why isn't my variable updating” bugs — explained once, for good.</a:t>
            </a:r>
            <a:endParaRPr lang="en-US" dirty="0"/>
          </a:p>
        </p:txBody>
      </p:sp>
      <p:sp>
        <p:nvSpPr>
          <p:cNvPr id="6" name="Shape 4"/>
          <p:cNvSpPr/>
          <p:nvPr/>
        </p:nvSpPr>
        <p:spPr>
          <a:xfrm>
            <a:off x="502920" y="1645920"/>
            <a:ext cx="11183112" cy="3154680"/>
          </a:xfrm>
          <a:prstGeom prst="roundRect">
            <a:avLst>
              <a:gd name="adj" fmla="val 1449"/>
            </a:avLst>
          </a:prstGeom>
          <a:solidFill>
            <a:srgbClr val="1E1E2E"/>
          </a:solidFill>
          <a:ln/>
          <a:effectLst>
            <a:outerShdw blurRad="76200" dist="25400" dir="5400000" algn="bl" rotWithShape="0">
              <a:srgbClr val="000000">
                <a:alpha val="16000"/>
              </a:srgbClr>
            </a:outerShdw>
          </a:effectLst>
        </p:spPr>
      </p:sp>
      <p:sp>
        <p:nvSpPr>
          <p:cNvPr id="7" name="Shape 5"/>
          <p:cNvSpPr/>
          <p:nvPr/>
        </p:nvSpPr>
        <p:spPr>
          <a:xfrm>
            <a:off x="640080" y="1755648"/>
            <a:ext cx="82296" cy="82296"/>
          </a:xfrm>
          <a:prstGeom prst="ellipse">
            <a:avLst/>
          </a:prstGeom>
          <a:solidFill>
            <a:srgbClr val="FF5F56"/>
          </a:solidFill>
          <a:ln/>
        </p:spPr>
      </p:sp>
      <p:sp>
        <p:nvSpPr>
          <p:cNvPr id="8" name="Shape 6"/>
          <p:cNvSpPr/>
          <p:nvPr/>
        </p:nvSpPr>
        <p:spPr>
          <a:xfrm>
            <a:off x="795528" y="1755648"/>
            <a:ext cx="82296" cy="82296"/>
          </a:xfrm>
          <a:prstGeom prst="ellipse">
            <a:avLst/>
          </a:prstGeom>
          <a:solidFill>
            <a:srgbClr val="FFBD2E"/>
          </a:solidFill>
          <a:ln/>
        </p:spPr>
      </p:sp>
      <p:sp>
        <p:nvSpPr>
          <p:cNvPr id="9" name="Shape 7"/>
          <p:cNvSpPr/>
          <p:nvPr/>
        </p:nvSpPr>
        <p:spPr>
          <a:xfrm>
            <a:off x="950976" y="1755648"/>
            <a:ext cx="82296" cy="82296"/>
          </a:xfrm>
          <a:prstGeom prst="ellipse">
            <a:avLst/>
          </a:prstGeom>
          <a:solidFill>
            <a:srgbClr val="27C93F"/>
          </a:solidFill>
          <a:ln/>
        </p:spPr>
      </p:sp>
      <p:sp>
        <p:nvSpPr>
          <p:cNvPr id="10" name="Text 8"/>
          <p:cNvSpPr/>
          <p:nvPr/>
        </p:nvSpPr>
        <p:spPr>
          <a:xfrm>
            <a:off x="722376" y="1938528"/>
            <a:ext cx="10744200" cy="301752"/>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counter = 0</a:t>
            </a:r>
            <a:r>
              <a:rPr lang="en-US" dirty="0">
                <a:solidFill>
                  <a:srgbClr val="8A8FA3"/>
                </a:solidFill>
                <a:latin typeface="Consolas" pitchFamily="34" charset="0"/>
                <a:ea typeface="Consolas" pitchFamily="34" charset="-122"/>
                <a:cs typeface="Consolas" pitchFamily="34" charset="-120"/>
              </a:rPr>
              <a:t>  # global</a:t>
            </a:r>
            <a:endParaRPr lang="en-US" dirty="0"/>
          </a:p>
        </p:txBody>
      </p:sp>
      <p:sp>
        <p:nvSpPr>
          <p:cNvPr id="11" name="Text 9"/>
          <p:cNvSpPr/>
          <p:nvPr/>
        </p:nvSpPr>
        <p:spPr>
          <a:xfrm>
            <a:off x="722376" y="2240280"/>
            <a:ext cx="10744200" cy="301752"/>
          </a:xfrm>
          <a:prstGeom prst="rect">
            <a:avLst/>
          </a:prstGeom>
          <a:noFill/>
          <a:ln/>
        </p:spPr>
        <p:txBody>
          <a:bodyPr wrap="square" lIns="0" tIns="0" rIns="0" bIns="0" rtlCol="0" anchor="ctr"/>
          <a:lstStyle/>
          <a:p>
            <a:pPr marL="0" indent="0">
              <a:buNone/>
            </a:pPr>
            <a:endParaRPr lang="en-US" dirty="0"/>
          </a:p>
        </p:txBody>
      </p:sp>
      <p:sp>
        <p:nvSpPr>
          <p:cNvPr id="12" name="Text 10"/>
          <p:cNvSpPr/>
          <p:nvPr/>
        </p:nvSpPr>
        <p:spPr>
          <a:xfrm>
            <a:off x="722376" y="2542032"/>
            <a:ext cx="10744200" cy="301752"/>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def </a:t>
            </a:r>
            <a:r>
              <a:rPr lang="en-US" dirty="0">
                <a:solidFill>
                  <a:srgbClr val="E4E4EE"/>
                </a:solidFill>
                <a:latin typeface="Consolas" pitchFamily="34" charset="0"/>
                <a:ea typeface="Consolas" pitchFamily="34" charset="-122"/>
                <a:cs typeface="Consolas" pitchFamily="34" charset="-120"/>
              </a:rPr>
              <a:t>increment_wrong():</a:t>
            </a:r>
            <a:endParaRPr lang="en-US" dirty="0"/>
          </a:p>
        </p:txBody>
      </p:sp>
      <p:sp>
        <p:nvSpPr>
          <p:cNvPr id="13" name="Text 11"/>
          <p:cNvSpPr/>
          <p:nvPr/>
        </p:nvSpPr>
        <p:spPr>
          <a:xfrm>
            <a:off x="722376" y="2843784"/>
            <a:ext cx="10744200" cy="301752"/>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    counter = counter + 1</a:t>
            </a:r>
            <a:r>
              <a:rPr lang="en-US" dirty="0">
                <a:solidFill>
                  <a:srgbClr val="C0392B"/>
                </a:solidFill>
                <a:latin typeface="Consolas" pitchFamily="34" charset="0"/>
                <a:ea typeface="Consolas" pitchFamily="34" charset="-122"/>
                <a:cs typeface="Consolas" pitchFamily="34" charset="-120"/>
              </a:rPr>
              <a:t>   # UnboundLocalError!</a:t>
            </a:r>
            <a:endParaRPr lang="en-US" dirty="0"/>
          </a:p>
        </p:txBody>
      </p:sp>
      <p:sp>
        <p:nvSpPr>
          <p:cNvPr id="14" name="Text 12"/>
          <p:cNvSpPr/>
          <p:nvPr/>
        </p:nvSpPr>
        <p:spPr>
          <a:xfrm>
            <a:off x="722376" y="3145536"/>
            <a:ext cx="10744200" cy="301752"/>
          </a:xfrm>
          <a:prstGeom prst="rect">
            <a:avLst/>
          </a:prstGeom>
          <a:noFill/>
          <a:ln/>
        </p:spPr>
        <p:txBody>
          <a:bodyPr wrap="square" lIns="0" tIns="0" rIns="0" bIns="0" rtlCol="0" anchor="ctr"/>
          <a:lstStyle/>
          <a:p>
            <a:pPr marL="0" indent="0">
              <a:buNone/>
            </a:pPr>
            <a:endParaRPr lang="en-US" dirty="0"/>
          </a:p>
        </p:txBody>
      </p:sp>
      <p:sp>
        <p:nvSpPr>
          <p:cNvPr id="15" name="Text 13"/>
          <p:cNvSpPr/>
          <p:nvPr/>
        </p:nvSpPr>
        <p:spPr>
          <a:xfrm>
            <a:off x="722376" y="3447288"/>
            <a:ext cx="10744200" cy="301752"/>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def </a:t>
            </a:r>
            <a:r>
              <a:rPr lang="en-US" dirty="0">
                <a:solidFill>
                  <a:srgbClr val="E4E4EE"/>
                </a:solidFill>
                <a:latin typeface="Consolas" pitchFamily="34" charset="0"/>
                <a:ea typeface="Consolas" pitchFamily="34" charset="-122"/>
                <a:cs typeface="Consolas" pitchFamily="34" charset="-120"/>
              </a:rPr>
              <a:t>increment_correct(current_value):</a:t>
            </a:r>
            <a:endParaRPr lang="en-US" dirty="0"/>
          </a:p>
        </p:txBody>
      </p:sp>
      <p:sp>
        <p:nvSpPr>
          <p:cNvPr id="16" name="Text 14"/>
          <p:cNvSpPr/>
          <p:nvPr/>
        </p:nvSpPr>
        <p:spPr>
          <a:xfrm>
            <a:off x="722376" y="3749040"/>
            <a:ext cx="10744200" cy="301752"/>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return </a:t>
            </a:r>
            <a:r>
              <a:rPr lang="en-US" dirty="0">
                <a:solidFill>
                  <a:srgbClr val="E4E4EE"/>
                </a:solidFill>
                <a:latin typeface="Consolas" pitchFamily="34" charset="0"/>
                <a:ea typeface="Consolas" pitchFamily="34" charset="-122"/>
                <a:cs typeface="Consolas" pitchFamily="34" charset="-120"/>
              </a:rPr>
              <a:t>current_value + 1</a:t>
            </a:r>
            <a:r>
              <a:rPr lang="en-US" dirty="0">
                <a:solidFill>
                  <a:srgbClr val="8A8FA3"/>
                </a:solidFill>
                <a:latin typeface="Consolas" pitchFamily="34" charset="0"/>
                <a:ea typeface="Consolas" pitchFamily="34" charset="-122"/>
                <a:cs typeface="Consolas" pitchFamily="34" charset="-120"/>
              </a:rPr>
              <a:t>    # take it, return it</a:t>
            </a:r>
            <a:endParaRPr lang="en-US" dirty="0"/>
          </a:p>
        </p:txBody>
      </p:sp>
      <p:sp>
        <p:nvSpPr>
          <p:cNvPr id="17" name="Text 15"/>
          <p:cNvSpPr/>
          <p:nvPr/>
        </p:nvSpPr>
        <p:spPr>
          <a:xfrm>
            <a:off x="722376" y="4050792"/>
            <a:ext cx="10744200" cy="301752"/>
          </a:xfrm>
          <a:prstGeom prst="rect">
            <a:avLst/>
          </a:prstGeom>
          <a:noFill/>
          <a:ln/>
        </p:spPr>
        <p:txBody>
          <a:bodyPr wrap="square" lIns="0" tIns="0" rIns="0" bIns="0" rtlCol="0" anchor="ctr"/>
          <a:lstStyle/>
          <a:p>
            <a:pPr marL="0" indent="0">
              <a:buNone/>
            </a:pPr>
            <a:endParaRPr lang="en-US" dirty="0"/>
          </a:p>
        </p:txBody>
      </p:sp>
      <p:sp>
        <p:nvSpPr>
          <p:cNvPr id="18" name="Text 16"/>
          <p:cNvSpPr/>
          <p:nvPr/>
        </p:nvSpPr>
        <p:spPr>
          <a:xfrm>
            <a:off x="722376" y="4352544"/>
            <a:ext cx="10744200" cy="301752"/>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counter = increment_correct(counter)</a:t>
            </a:r>
            <a:r>
              <a:rPr lang="en-US" dirty="0">
                <a:solidFill>
                  <a:srgbClr val="8A8FA3"/>
                </a:solidFill>
                <a:latin typeface="Consolas" pitchFamily="34" charset="0"/>
                <a:ea typeface="Consolas" pitchFamily="34" charset="-122"/>
                <a:cs typeface="Consolas" pitchFamily="34" charset="-120"/>
              </a:rPr>
              <a:t>   # 1</a:t>
            </a:r>
            <a:endParaRPr lang="en-US" dirty="0"/>
          </a:p>
        </p:txBody>
      </p:sp>
      <p:sp>
        <p:nvSpPr>
          <p:cNvPr id="19" name="Shape 17"/>
          <p:cNvSpPr/>
          <p:nvPr/>
        </p:nvSpPr>
        <p:spPr>
          <a:xfrm>
            <a:off x="502920" y="4983480"/>
            <a:ext cx="11183112" cy="822960"/>
          </a:xfrm>
          <a:prstGeom prst="roundRect">
            <a:avLst>
              <a:gd name="adj" fmla="val 7778"/>
            </a:avLst>
          </a:prstGeom>
          <a:solidFill>
            <a:srgbClr val="DADBF1"/>
          </a:solidFill>
          <a:ln/>
        </p:spPr>
      </p:sp>
      <p:sp>
        <p:nvSpPr>
          <p:cNvPr id="20" name="Text 18"/>
          <p:cNvSpPr/>
          <p:nvPr/>
        </p:nvSpPr>
        <p:spPr>
          <a:xfrm>
            <a:off x="731520" y="4983480"/>
            <a:ext cx="10725912" cy="822960"/>
          </a:xfrm>
          <a:prstGeom prst="rect">
            <a:avLst/>
          </a:prstGeom>
          <a:noFill/>
          <a:ln/>
        </p:spPr>
        <p:txBody>
          <a:bodyPr wrap="square" lIns="0" tIns="0" rIns="0" bIns="0" rtlCol="0" anchor="ctr"/>
          <a:lstStyle/>
          <a:p>
            <a:pPr marL="0" indent="0">
              <a:lnSpc>
                <a:spcPct val="120000"/>
              </a:lnSpc>
              <a:buNone/>
            </a:pPr>
            <a:r>
              <a:rPr lang="en-US" b="1" dirty="0">
                <a:solidFill>
                  <a:srgbClr val="1E2761"/>
                </a:solidFill>
                <a:latin typeface="Calibri" pitchFamily="34" charset="0"/>
                <a:ea typeface="Calibri" pitchFamily="34" charset="-122"/>
                <a:cs typeface="Calibri" pitchFamily="34" charset="-120"/>
              </a:rPr>
              <a:t>Rule we follow all program:  </a:t>
            </a:r>
            <a:r>
              <a:rPr lang="en-US" dirty="0">
                <a:solidFill>
                  <a:srgbClr val="1E2761"/>
                </a:solidFill>
                <a:latin typeface="Calibri" pitchFamily="34" charset="0"/>
                <a:ea typeface="Calibri" pitchFamily="34" charset="-122"/>
                <a:cs typeface="Calibri" pitchFamily="34" charset="-120"/>
              </a:rPr>
              <a:t>functions take what they need as parameters and return the result. Don't reach out and modify a global variable from inside a function.</a:t>
            </a:r>
            <a:endParaRPr lang="en-US" dirty="0"/>
          </a:p>
        </p:txBody>
      </p:sp>
      <p:sp>
        <p:nvSpPr>
          <p:cNvPr id="21" name="Text 19"/>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103120" cy="274320"/>
          </a:xfrm>
          <a:prstGeom prst="roundRect">
            <a:avLst>
              <a:gd name="adj" fmla="val 20000"/>
            </a:avLst>
          </a:prstGeom>
          <a:solidFill>
            <a:srgbClr val="DADBF1"/>
          </a:solidFill>
          <a:ln/>
        </p:spPr>
      </p:sp>
      <p:sp>
        <p:nvSpPr>
          <p:cNvPr id="3" name="Text 1"/>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b="1" kern="0" spc="50" dirty="0">
                <a:solidFill>
                  <a:srgbClr val="4950BC"/>
                </a:solidFill>
                <a:latin typeface="Calibri" pitchFamily="34" charset="0"/>
                <a:ea typeface="Calibri" pitchFamily="34" charset="-122"/>
                <a:cs typeface="Calibri" pitchFamily="34" charset="-120"/>
              </a:rPr>
              <a:t>PART 2</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Modules — Built-In, Then Your Own</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Every library you'll use in this program (Flask, Pandas, scikit-learn) is just a module.</a:t>
            </a:r>
            <a:endParaRPr lang="en-US" dirty="0"/>
          </a:p>
        </p:txBody>
      </p:sp>
      <p:sp>
        <p:nvSpPr>
          <p:cNvPr id="6" name="Text 4"/>
          <p:cNvSpPr/>
          <p:nvPr/>
        </p:nvSpPr>
        <p:spPr>
          <a:xfrm>
            <a:off x="502920" y="1645920"/>
            <a:ext cx="521208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Built-in modules</a:t>
            </a:r>
            <a:endParaRPr lang="en-US" dirty="0"/>
          </a:p>
        </p:txBody>
      </p:sp>
      <p:sp>
        <p:nvSpPr>
          <p:cNvPr id="7" name="Shape 5"/>
          <p:cNvSpPr/>
          <p:nvPr/>
        </p:nvSpPr>
        <p:spPr>
          <a:xfrm>
            <a:off x="502920" y="1993392"/>
            <a:ext cx="5394960" cy="2450592"/>
          </a:xfrm>
          <a:prstGeom prst="roundRect">
            <a:avLst>
              <a:gd name="adj" fmla="val 1866"/>
            </a:avLst>
          </a:prstGeom>
          <a:solidFill>
            <a:srgbClr val="1E1E2E"/>
          </a:solidFill>
          <a:ln/>
          <a:effectLst>
            <a:outerShdw blurRad="76200" dist="25400" dir="5400000" algn="bl" rotWithShape="0">
              <a:srgbClr val="000000">
                <a:alpha val="16000"/>
              </a:srgbClr>
            </a:outerShdw>
          </a:effectLst>
        </p:spPr>
      </p:sp>
      <p:sp>
        <p:nvSpPr>
          <p:cNvPr id="8" name="Shape 6"/>
          <p:cNvSpPr/>
          <p:nvPr/>
        </p:nvSpPr>
        <p:spPr>
          <a:xfrm>
            <a:off x="640080" y="2103120"/>
            <a:ext cx="82296" cy="82296"/>
          </a:xfrm>
          <a:prstGeom prst="ellipse">
            <a:avLst/>
          </a:prstGeom>
          <a:solidFill>
            <a:srgbClr val="FF5F56"/>
          </a:solidFill>
          <a:ln/>
        </p:spPr>
      </p:sp>
      <p:sp>
        <p:nvSpPr>
          <p:cNvPr id="9" name="Shape 7"/>
          <p:cNvSpPr/>
          <p:nvPr/>
        </p:nvSpPr>
        <p:spPr>
          <a:xfrm>
            <a:off x="795528" y="2103120"/>
            <a:ext cx="82296" cy="82296"/>
          </a:xfrm>
          <a:prstGeom prst="ellipse">
            <a:avLst/>
          </a:prstGeom>
          <a:solidFill>
            <a:srgbClr val="FFBD2E"/>
          </a:solidFill>
          <a:ln/>
        </p:spPr>
      </p:sp>
      <p:sp>
        <p:nvSpPr>
          <p:cNvPr id="10" name="Shape 8"/>
          <p:cNvSpPr/>
          <p:nvPr/>
        </p:nvSpPr>
        <p:spPr>
          <a:xfrm>
            <a:off x="950976" y="2103120"/>
            <a:ext cx="82296" cy="82296"/>
          </a:xfrm>
          <a:prstGeom prst="ellipse">
            <a:avLst/>
          </a:prstGeom>
          <a:solidFill>
            <a:srgbClr val="27C93F"/>
          </a:solidFill>
          <a:ln/>
        </p:spPr>
      </p:sp>
      <p:sp>
        <p:nvSpPr>
          <p:cNvPr id="11" name="Text 9"/>
          <p:cNvSpPr/>
          <p:nvPr/>
        </p:nvSpPr>
        <p:spPr>
          <a:xfrm>
            <a:off x="722376" y="2286000"/>
            <a:ext cx="495604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import </a:t>
            </a:r>
            <a:r>
              <a:rPr lang="en-US" dirty="0">
                <a:solidFill>
                  <a:srgbClr val="E4E4EE"/>
                </a:solidFill>
                <a:latin typeface="Consolas" pitchFamily="34" charset="0"/>
                <a:ea typeface="Consolas" pitchFamily="34" charset="-122"/>
                <a:cs typeface="Consolas" pitchFamily="34" charset="-120"/>
              </a:rPr>
              <a:t>math, random</a:t>
            </a:r>
            <a:endParaRPr lang="en-US" dirty="0"/>
          </a:p>
        </p:txBody>
      </p:sp>
      <p:sp>
        <p:nvSpPr>
          <p:cNvPr id="12" name="Text 10"/>
          <p:cNvSpPr/>
          <p:nvPr/>
        </p:nvSpPr>
        <p:spPr>
          <a:xfrm>
            <a:off x="722376" y="2578608"/>
            <a:ext cx="495604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from </a:t>
            </a:r>
            <a:r>
              <a:rPr lang="en-US" dirty="0">
                <a:solidFill>
                  <a:srgbClr val="E4E4EE"/>
                </a:solidFill>
                <a:latin typeface="Consolas" pitchFamily="34" charset="0"/>
                <a:ea typeface="Consolas" pitchFamily="34" charset="-122"/>
                <a:cs typeface="Consolas" pitchFamily="34" charset="-120"/>
              </a:rPr>
              <a:t>datetime </a:t>
            </a:r>
            <a:r>
              <a:rPr lang="en-US" dirty="0">
                <a:solidFill>
                  <a:srgbClr val="7FB4FF"/>
                </a:solidFill>
                <a:latin typeface="Consolas" pitchFamily="34" charset="0"/>
                <a:ea typeface="Consolas" pitchFamily="34" charset="-122"/>
                <a:cs typeface="Consolas" pitchFamily="34" charset="-120"/>
              </a:rPr>
              <a:t>import </a:t>
            </a:r>
            <a:r>
              <a:rPr lang="en-US" dirty="0">
                <a:solidFill>
                  <a:srgbClr val="E4E4EE"/>
                </a:solidFill>
                <a:latin typeface="Consolas" pitchFamily="34" charset="0"/>
                <a:ea typeface="Consolas" pitchFamily="34" charset="-122"/>
                <a:cs typeface="Consolas" pitchFamily="34" charset="-120"/>
              </a:rPr>
              <a:t>datetime</a:t>
            </a:r>
            <a:endParaRPr lang="en-US" dirty="0"/>
          </a:p>
        </p:txBody>
      </p:sp>
      <p:sp>
        <p:nvSpPr>
          <p:cNvPr id="13" name="Text 11"/>
          <p:cNvSpPr/>
          <p:nvPr/>
        </p:nvSpPr>
        <p:spPr>
          <a:xfrm>
            <a:off x="722376" y="2871216"/>
            <a:ext cx="4956048" cy="292608"/>
          </a:xfrm>
          <a:prstGeom prst="rect">
            <a:avLst/>
          </a:prstGeom>
          <a:noFill/>
          <a:ln/>
        </p:spPr>
        <p:txBody>
          <a:bodyPr wrap="square" lIns="0" tIns="0" rIns="0" bIns="0" rtlCol="0" anchor="ctr"/>
          <a:lstStyle/>
          <a:p>
            <a:pPr marL="0" indent="0">
              <a:buNone/>
            </a:pPr>
            <a:endParaRPr lang="en-US" dirty="0"/>
          </a:p>
        </p:txBody>
      </p:sp>
      <p:sp>
        <p:nvSpPr>
          <p:cNvPr id="14" name="Text 12"/>
          <p:cNvSpPr/>
          <p:nvPr/>
        </p:nvSpPr>
        <p:spPr>
          <a:xfrm>
            <a:off x="722376" y="3163824"/>
            <a:ext cx="495604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math.sqrt(64)</a:t>
            </a:r>
            <a:r>
              <a:rPr lang="en-US" dirty="0">
                <a:solidFill>
                  <a:srgbClr val="8A8FA3"/>
                </a:solidFill>
                <a:latin typeface="Consolas" pitchFamily="34" charset="0"/>
                <a:ea typeface="Consolas" pitchFamily="34" charset="-122"/>
                <a:cs typeface="Consolas" pitchFamily="34" charset="-120"/>
              </a:rPr>
              <a:t>           # 8.0</a:t>
            </a:r>
            <a:endParaRPr lang="en-US" dirty="0"/>
          </a:p>
        </p:txBody>
      </p:sp>
      <p:sp>
        <p:nvSpPr>
          <p:cNvPr id="15" name="Text 13"/>
          <p:cNvSpPr/>
          <p:nvPr/>
        </p:nvSpPr>
        <p:spPr>
          <a:xfrm>
            <a:off x="722376" y="3456432"/>
            <a:ext cx="495604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random.randint(1, 100)</a:t>
            </a:r>
            <a:endParaRPr lang="en-US" dirty="0"/>
          </a:p>
        </p:txBody>
      </p:sp>
      <p:sp>
        <p:nvSpPr>
          <p:cNvPr id="16" name="Text 14"/>
          <p:cNvSpPr/>
          <p:nvPr/>
        </p:nvSpPr>
        <p:spPr>
          <a:xfrm>
            <a:off x="722376" y="3749040"/>
            <a:ext cx="495604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datetime.now()</a:t>
            </a:r>
            <a:endParaRPr lang="en-US" dirty="0"/>
          </a:p>
        </p:txBody>
      </p:sp>
      <p:sp>
        <p:nvSpPr>
          <p:cNvPr id="17" name="Text 15"/>
          <p:cNvSpPr/>
          <p:nvPr/>
        </p:nvSpPr>
        <p:spPr>
          <a:xfrm>
            <a:off x="6355080" y="1645920"/>
            <a:ext cx="5349240" cy="292608"/>
          </a:xfrm>
          <a:prstGeom prst="rect">
            <a:avLst/>
          </a:prstGeom>
          <a:noFill/>
          <a:ln/>
        </p:spPr>
        <p:txBody>
          <a:bodyPr wrap="square" lIns="0" tIns="0" rIns="0" bIns="0" rtlCol="0" anchor="ctr"/>
          <a:lstStyle/>
          <a:p>
            <a:pPr marL="0" indent="0">
              <a:buNone/>
            </a:pPr>
            <a:r>
              <a:rPr lang="en-US" b="1" dirty="0">
                <a:solidFill>
                  <a:srgbClr val="272525"/>
                </a:solidFill>
                <a:latin typeface="Calibri" pitchFamily="34" charset="0"/>
                <a:ea typeface="Calibri" pitchFamily="34" charset="-122"/>
                <a:cs typeface="Calibri" pitchFamily="34" charset="-120"/>
              </a:rPr>
              <a:t>A tiny module of your own (string_utils.py)</a:t>
            </a:r>
            <a:endParaRPr lang="en-US" dirty="0"/>
          </a:p>
        </p:txBody>
      </p:sp>
      <p:sp>
        <p:nvSpPr>
          <p:cNvPr id="18" name="Shape 16"/>
          <p:cNvSpPr/>
          <p:nvPr/>
        </p:nvSpPr>
        <p:spPr>
          <a:xfrm>
            <a:off x="6355080" y="1993392"/>
            <a:ext cx="5349240" cy="2450592"/>
          </a:xfrm>
          <a:prstGeom prst="roundRect">
            <a:avLst>
              <a:gd name="adj" fmla="val 1866"/>
            </a:avLst>
          </a:prstGeom>
          <a:solidFill>
            <a:srgbClr val="1E1E2E"/>
          </a:solidFill>
          <a:ln/>
          <a:effectLst>
            <a:outerShdw blurRad="76200" dist="25400" dir="5400000" algn="bl" rotWithShape="0">
              <a:srgbClr val="000000">
                <a:alpha val="16000"/>
              </a:srgbClr>
            </a:outerShdw>
          </a:effectLst>
        </p:spPr>
      </p:sp>
      <p:sp>
        <p:nvSpPr>
          <p:cNvPr id="19" name="Shape 17"/>
          <p:cNvSpPr/>
          <p:nvPr/>
        </p:nvSpPr>
        <p:spPr>
          <a:xfrm>
            <a:off x="6492240" y="2103120"/>
            <a:ext cx="82296" cy="82296"/>
          </a:xfrm>
          <a:prstGeom prst="ellipse">
            <a:avLst/>
          </a:prstGeom>
          <a:solidFill>
            <a:srgbClr val="FF5F56"/>
          </a:solidFill>
          <a:ln/>
        </p:spPr>
      </p:sp>
      <p:sp>
        <p:nvSpPr>
          <p:cNvPr id="20" name="Shape 18"/>
          <p:cNvSpPr/>
          <p:nvPr/>
        </p:nvSpPr>
        <p:spPr>
          <a:xfrm>
            <a:off x="6647688" y="2103120"/>
            <a:ext cx="82296" cy="82296"/>
          </a:xfrm>
          <a:prstGeom prst="ellipse">
            <a:avLst/>
          </a:prstGeom>
          <a:solidFill>
            <a:srgbClr val="FFBD2E"/>
          </a:solidFill>
          <a:ln/>
        </p:spPr>
      </p:sp>
      <p:sp>
        <p:nvSpPr>
          <p:cNvPr id="21" name="Shape 19"/>
          <p:cNvSpPr/>
          <p:nvPr/>
        </p:nvSpPr>
        <p:spPr>
          <a:xfrm>
            <a:off x="6803136" y="2103120"/>
            <a:ext cx="82296" cy="82296"/>
          </a:xfrm>
          <a:prstGeom prst="ellipse">
            <a:avLst/>
          </a:prstGeom>
          <a:solidFill>
            <a:srgbClr val="27C93F"/>
          </a:solidFill>
          <a:ln/>
        </p:spPr>
      </p:sp>
      <p:sp>
        <p:nvSpPr>
          <p:cNvPr id="22" name="Text 20"/>
          <p:cNvSpPr/>
          <p:nvPr/>
        </p:nvSpPr>
        <p:spPr>
          <a:xfrm>
            <a:off x="6574536" y="2286000"/>
            <a:ext cx="4910328" cy="292608"/>
          </a:xfrm>
          <a:prstGeom prst="rect">
            <a:avLst/>
          </a:prstGeom>
          <a:noFill/>
          <a:ln/>
        </p:spPr>
        <p:txBody>
          <a:bodyPr wrap="square" lIns="0" tIns="0" rIns="0" bIns="0" rtlCol="0" anchor="ctr"/>
          <a:lstStyle/>
          <a:p>
            <a:pPr marL="0" indent="0">
              <a:buNone/>
            </a:pPr>
            <a:r>
              <a:rPr lang="en-US" dirty="0">
                <a:solidFill>
                  <a:srgbClr val="8A8FA3"/>
                </a:solidFill>
                <a:latin typeface="Consolas" pitchFamily="34" charset="0"/>
                <a:ea typeface="Consolas" pitchFamily="34" charset="-122"/>
                <a:cs typeface="Consolas" pitchFamily="34" charset="-120"/>
              </a:rPr>
              <a:t># string_utils.py -- a separate file</a:t>
            </a:r>
            <a:endParaRPr lang="en-US" dirty="0"/>
          </a:p>
        </p:txBody>
      </p:sp>
      <p:sp>
        <p:nvSpPr>
          <p:cNvPr id="23" name="Text 21"/>
          <p:cNvSpPr/>
          <p:nvPr/>
        </p:nvSpPr>
        <p:spPr>
          <a:xfrm>
            <a:off x="6574536" y="2578608"/>
            <a:ext cx="49103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def </a:t>
            </a:r>
            <a:r>
              <a:rPr lang="en-US" dirty="0">
                <a:solidFill>
                  <a:srgbClr val="E4E4EE"/>
                </a:solidFill>
                <a:latin typeface="Consolas" pitchFamily="34" charset="0"/>
                <a:ea typeface="Consolas" pitchFamily="34" charset="-122"/>
                <a:cs typeface="Consolas" pitchFamily="34" charset="-120"/>
              </a:rPr>
              <a:t>title_case(text):</a:t>
            </a:r>
            <a:endParaRPr lang="en-US" dirty="0"/>
          </a:p>
        </p:txBody>
      </p:sp>
      <p:sp>
        <p:nvSpPr>
          <p:cNvPr id="24" name="Text 22"/>
          <p:cNvSpPr/>
          <p:nvPr/>
        </p:nvSpPr>
        <p:spPr>
          <a:xfrm>
            <a:off x="6574536" y="2871216"/>
            <a:ext cx="49103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return </a:t>
            </a:r>
            <a:r>
              <a:rPr lang="en-US" dirty="0">
                <a:solidFill>
                  <a:srgbClr val="E4E4EE"/>
                </a:solidFill>
                <a:latin typeface="Consolas" pitchFamily="34" charset="0"/>
                <a:ea typeface="Consolas" pitchFamily="34" charset="-122"/>
                <a:cs typeface="Consolas" pitchFamily="34" charset="-120"/>
              </a:rPr>
              <a:t>text.strip().title()</a:t>
            </a:r>
            <a:endParaRPr lang="en-US" dirty="0"/>
          </a:p>
        </p:txBody>
      </p:sp>
      <p:sp>
        <p:nvSpPr>
          <p:cNvPr id="25" name="Text 23"/>
          <p:cNvSpPr/>
          <p:nvPr/>
        </p:nvSpPr>
        <p:spPr>
          <a:xfrm>
            <a:off x="6574536" y="3163824"/>
            <a:ext cx="4910328" cy="292608"/>
          </a:xfrm>
          <a:prstGeom prst="rect">
            <a:avLst/>
          </a:prstGeom>
          <a:noFill/>
          <a:ln/>
        </p:spPr>
        <p:txBody>
          <a:bodyPr wrap="square" lIns="0" tIns="0" rIns="0" bIns="0" rtlCol="0" anchor="ctr"/>
          <a:lstStyle/>
          <a:p>
            <a:pPr marL="0" indent="0">
              <a:buNone/>
            </a:pPr>
            <a:endParaRPr lang="en-US" dirty="0"/>
          </a:p>
        </p:txBody>
      </p:sp>
      <p:sp>
        <p:nvSpPr>
          <p:cNvPr id="26" name="Text 24"/>
          <p:cNvSpPr/>
          <p:nvPr/>
        </p:nvSpPr>
        <p:spPr>
          <a:xfrm>
            <a:off x="6574536" y="3456432"/>
            <a:ext cx="4910328" cy="292608"/>
          </a:xfrm>
          <a:prstGeom prst="rect">
            <a:avLst/>
          </a:prstGeom>
          <a:noFill/>
          <a:ln/>
        </p:spPr>
        <p:txBody>
          <a:bodyPr wrap="square" lIns="0" tIns="0" rIns="0" bIns="0" rtlCol="0" anchor="ctr"/>
          <a:lstStyle/>
          <a:p>
            <a:pPr marL="0" indent="0">
              <a:buNone/>
            </a:pPr>
            <a:r>
              <a:rPr lang="en-US" dirty="0">
                <a:solidFill>
                  <a:srgbClr val="8A8FA3"/>
                </a:solidFill>
                <a:latin typeface="Consolas" pitchFamily="34" charset="0"/>
                <a:ea typeface="Consolas" pitchFamily="34" charset="-122"/>
                <a:cs typeface="Consolas" pitchFamily="34" charset="-120"/>
              </a:rPr>
              <a:t># main.py</a:t>
            </a:r>
            <a:endParaRPr lang="en-US" dirty="0"/>
          </a:p>
        </p:txBody>
      </p:sp>
      <p:sp>
        <p:nvSpPr>
          <p:cNvPr id="27" name="Text 25"/>
          <p:cNvSpPr/>
          <p:nvPr/>
        </p:nvSpPr>
        <p:spPr>
          <a:xfrm>
            <a:off x="6574536" y="3749040"/>
            <a:ext cx="4910328" cy="292608"/>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import </a:t>
            </a:r>
            <a:r>
              <a:rPr lang="en-US" dirty="0">
                <a:solidFill>
                  <a:srgbClr val="E4E4EE"/>
                </a:solidFill>
                <a:latin typeface="Consolas" pitchFamily="34" charset="0"/>
                <a:ea typeface="Consolas" pitchFamily="34" charset="-122"/>
                <a:cs typeface="Consolas" pitchFamily="34" charset="-120"/>
              </a:rPr>
              <a:t>string_utils</a:t>
            </a:r>
            <a:endParaRPr lang="en-US" dirty="0"/>
          </a:p>
        </p:txBody>
      </p:sp>
      <p:sp>
        <p:nvSpPr>
          <p:cNvPr id="28" name="Text 26"/>
          <p:cNvSpPr/>
          <p:nvPr/>
        </p:nvSpPr>
        <p:spPr>
          <a:xfrm>
            <a:off x="6574536" y="4041648"/>
            <a:ext cx="4910328" cy="292608"/>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string_utils.title_case(</a:t>
            </a:r>
            <a:r>
              <a:rPr lang="en-US" dirty="0">
                <a:solidFill>
                  <a:srgbClr val="F2C978"/>
                </a:solidFill>
                <a:latin typeface="Consolas" pitchFamily="34" charset="0"/>
                <a:ea typeface="Consolas" pitchFamily="34" charset="-122"/>
                <a:cs typeface="Consolas" pitchFamily="34" charset="-120"/>
              </a:rPr>
              <a:t>"clean code"</a:t>
            </a:r>
            <a:r>
              <a:rPr lang="en-US" dirty="0">
                <a:solidFill>
                  <a:srgbClr val="E4E4EE"/>
                </a:solidFill>
                <a:latin typeface="Consolas" pitchFamily="34" charset="0"/>
                <a:ea typeface="Consolas" pitchFamily="34" charset="-122"/>
                <a:cs typeface="Consolas" pitchFamily="34" charset="-120"/>
              </a:rPr>
              <a:t>)</a:t>
            </a:r>
            <a:endParaRPr lang="en-US" dirty="0"/>
          </a:p>
        </p:txBody>
      </p:sp>
      <p:sp>
        <p:nvSpPr>
          <p:cNvPr id="29" name="Shape 27"/>
          <p:cNvSpPr/>
          <p:nvPr/>
        </p:nvSpPr>
        <p:spPr>
          <a:xfrm>
            <a:off x="502920" y="4572000"/>
            <a:ext cx="11183112" cy="1051560"/>
          </a:xfrm>
          <a:prstGeom prst="roundRect">
            <a:avLst>
              <a:gd name="adj" fmla="val 6087"/>
            </a:avLst>
          </a:prstGeom>
          <a:solidFill>
            <a:srgbClr val="F5F5F7"/>
          </a:solidFill>
          <a:ln/>
        </p:spPr>
      </p:sp>
      <p:sp>
        <p:nvSpPr>
          <p:cNvPr id="30" name="Text 28"/>
          <p:cNvSpPr/>
          <p:nvPr/>
        </p:nvSpPr>
        <p:spPr>
          <a:xfrm>
            <a:off x="777240" y="4572000"/>
            <a:ext cx="10634472" cy="1051560"/>
          </a:xfrm>
          <a:prstGeom prst="rect">
            <a:avLst/>
          </a:prstGeom>
          <a:noFill/>
          <a:ln/>
        </p:spPr>
        <p:txBody>
          <a:bodyPr wrap="square" lIns="0" tIns="0" rIns="0" bIns="0" rtlCol="0" anchor="ctr"/>
          <a:lstStyle/>
          <a:p>
            <a:pPr marL="0" indent="0">
              <a:lnSpc>
                <a:spcPct val="120000"/>
              </a:lnSpc>
              <a:buNone/>
            </a:pPr>
            <a:r>
              <a:rPr lang="en-US" b="1" dirty="0">
                <a:solidFill>
                  <a:srgbClr val="4950BC"/>
                </a:solidFill>
                <a:latin typeface="Calibri" pitchFamily="34" charset="0"/>
                <a:ea typeface="Calibri" pitchFamily="34" charset="-122"/>
                <a:cs typeface="Calibri" pitchFamily="34" charset="-120"/>
              </a:rPr>
              <a:t>Tonight's build:  </a:t>
            </a:r>
            <a:r>
              <a:rPr lang="en-US" dirty="0">
                <a:solidFill>
                  <a:srgbClr val="272525"/>
                </a:solidFill>
                <a:latin typeface="Calibri" pitchFamily="34" charset="0"/>
                <a:ea typeface="Calibri" pitchFamily="34" charset="-122"/>
                <a:cs typeface="Calibri" pitchFamily="34" charset="-120"/>
              </a:rPr>
              <a:t>you'll create your own library_utils.py for CampusLib — same mechanism as string_utils.py above, just with your own functions inside.</a:t>
            </a:r>
            <a:endParaRPr lang="en-US" dirty="0"/>
          </a:p>
        </p:txBody>
      </p:sp>
      <p:sp>
        <p:nvSpPr>
          <p:cNvPr id="31" name="Text 29"/>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103120" cy="274320"/>
          </a:xfrm>
          <a:prstGeom prst="roundRect">
            <a:avLst>
              <a:gd name="adj" fmla="val 20000"/>
            </a:avLst>
          </a:prstGeom>
          <a:solidFill>
            <a:srgbClr val="DADBF1"/>
          </a:solidFill>
          <a:ln/>
        </p:spPr>
      </p:sp>
      <p:sp>
        <p:nvSpPr>
          <p:cNvPr id="3" name="Text 1"/>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b="1" kern="0" spc="50" dirty="0">
                <a:solidFill>
                  <a:srgbClr val="4950BC"/>
                </a:solidFill>
                <a:latin typeface="Calibri" pitchFamily="34" charset="0"/>
                <a:ea typeface="Calibri" pitchFamily="34" charset="-122"/>
                <a:cs typeface="Calibri" pitchFamily="34" charset="-120"/>
              </a:rPr>
              <a:t>PART 3</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File I/O — Giving Your Program Memory</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Right now, everything disappears when your script ends. Files change that.</a:t>
            </a:r>
            <a:endParaRPr lang="en-US" dirty="0"/>
          </a:p>
        </p:txBody>
      </p:sp>
      <p:sp>
        <p:nvSpPr>
          <p:cNvPr id="6" name="Shape 4"/>
          <p:cNvSpPr/>
          <p:nvPr/>
        </p:nvSpPr>
        <p:spPr>
          <a:xfrm>
            <a:off x="502920" y="1645920"/>
            <a:ext cx="11183112" cy="3429000"/>
          </a:xfrm>
          <a:prstGeom prst="roundRect">
            <a:avLst>
              <a:gd name="adj" fmla="val 1333"/>
            </a:avLst>
          </a:prstGeom>
          <a:solidFill>
            <a:srgbClr val="1E1E2E"/>
          </a:solidFill>
          <a:ln/>
          <a:effectLst>
            <a:outerShdw blurRad="76200" dist="25400" dir="5400000" algn="bl" rotWithShape="0">
              <a:srgbClr val="000000">
                <a:alpha val="16000"/>
              </a:srgbClr>
            </a:outerShdw>
          </a:effectLst>
        </p:spPr>
      </p:sp>
      <p:sp>
        <p:nvSpPr>
          <p:cNvPr id="7" name="Shape 5"/>
          <p:cNvSpPr/>
          <p:nvPr/>
        </p:nvSpPr>
        <p:spPr>
          <a:xfrm>
            <a:off x="640080" y="1755648"/>
            <a:ext cx="82296" cy="82296"/>
          </a:xfrm>
          <a:prstGeom prst="ellipse">
            <a:avLst/>
          </a:prstGeom>
          <a:solidFill>
            <a:srgbClr val="FF5F56"/>
          </a:solidFill>
          <a:ln/>
        </p:spPr>
      </p:sp>
      <p:sp>
        <p:nvSpPr>
          <p:cNvPr id="8" name="Shape 6"/>
          <p:cNvSpPr/>
          <p:nvPr/>
        </p:nvSpPr>
        <p:spPr>
          <a:xfrm>
            <a:off x="795528" y="1755648"/>
            <a:ext cx="82296" cy="82296"/>
          </a:xfrm>
          <a:prstGeom prst="ellipse">
            <a:avLst/>
          </a:prstGeom>
          <a:solidFill>
            <a:srgbClr val="FFBD2E"/>
          </a:solidFill>
          <a:ln/>
        </p:spPr>
      </p:sp>
      <p:sp>
        <p:nvSpPr>
          <p:cNvPr id="9" name="Shape 7"/>
          <p:cNvSpPr/>
          <p:nvPr/>
        </p:nvSpPr>
        <p:spPr>
          <a:xfrm>
            <a:off x="950976" y="1755648"/>
            <a:ext cx="82296" cy="82296"/>
          </a:xfrm>
          <a:prstGeom prst="ellipse">
            <a:avLst/>
          </a:prstGeom>
          <a:solidFill>
            <a:srgbClr val="27C93F"/>
          </a:solidFill>
          <a:ln/>
        </p:spPr>
      </p:sp>
      <p:sp>
        <p:nvSpPr>
          <p:cNvPr id="10" name="Text 8"/>
          <p:cNvSpPr/>
          <p:nvPr/>
        </p:nvSpPr>
        <p:spPr>
          <a:xfrm>
            <a:off x="722376" y="1938528"/>
            <a:ext cx="10744200" cy="265176"/>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with open(</a:t>
            </a:r>
            <a:r>
              <a:rPr lang="en-US" dirty="0">
                <a:solidFill>
                  <a:srgbClr val="F2C978"/>
                </a:solidFill>
                <a:latin typeface="Consolas" pitchFamily="34" charset="0"/>
                <a:ea typeface="Consolas" pitchFamily="34" charset="-122"/>
                <a:cs typeface="Consolas" pitchFamily="34" charset="-120"/>
              </a:rPr>
              <a:t>"activity.log"</a:t>
            </a:r>
            <a:r>
              <a:rPr lang="en-US" dirty="0">
                <a:solidFill>
                  <a:srgbClr val="E4E4EE"/>
                </a:solidFill>
                <a:latin typeface="Consolas" pitchFamily="34" charset="0"/>
                <a:ea typeface="Consolas" pitchFamily="34" charset="-122"/>
                <a:cs typeface="Consolas" pitchFamily="34" charset="-120"/>
              </a:rPr>
              <a:t>, </a:t>
            </a:r>
            <a:r>
              <a:rPr lang="en-US" dirty="0">
                <a:solidFill>
                  <a:srgbClr val="F2C978"/>
                </a:solidFill>
                <a:latin typeface="Consolas" pitchFamily="34" charset="0"/>
                <a:ea typeface="Consolas" pitchFamily="34" charset="-122"/>
                <a:cs typeface="Consolas" pitchFamily="34" charset="-120"/>
              </a:rPr>
              <a:t>"a"</a:t>
            </a:r>
            <a:r>
              <a:rPr lang="en-US" dirty="0">
                <a:solidFill>
                  <a:srgbClr val="E4E4EE"/>
                </a:solidFill>
                <a:latin typeface="Consolas" pitchFamily="34" charset="0"/>
                <a:ea typeface="Consolas" pitchFamily="34" charset="-122"/>
                <a:cs typeface="Consolas" pitchFamily="34" charset="-120"/>
              </a:rPr>
              <a:t>) as f:</a:t>
            </a:r>
            <a:endParaRPr lang="en-US" dirty="0"/>
          </a:p>
        </p:txBody>
      </p:sp>
      <p:sp>
        <p:nvSpPr>
          <p:cNvPr id="11" name="Text 9"/>
          <p:cNvSpPr/>
          <p:nvPr/>
        </p:nvSpPr>
        <p:spPr>
          <a:xfrm>
            <a:off x="722376" y="2203704"/>
            <a:ext cx="10744200" cy="265176"/>
          </a:xfrm>
          <a:prstGeom prst="rect">
            <a:avLst/>
          </a:prstGeom>
          <a:noFill/>
          <a:ln/>
        </p:spPr>
        <p:txBody>
          <a:bodyPr wrap="square" lIns="0" tIns="0" rIns="0" bIns="0" rtlCol="0" anchor="ctr"/>
          <a:lstStyle/>
          <a:p>
            <a:pPr marL="0" indent="0">
              <a:buNone/>
            </a:pPr>
            <a:r>
              <a:rPr lang="en-US" dirty="0">
                <a:solidFill>
                  <a:srgbClr val="F2C978"/>
                </a:solidFill>
                <a:latin typeface="Consolas" pitchFamily="34" charset="0"/>
                <a:ea typeface="Consolas" pitchFamily="34" charset="-122"/>
                <a:cs typeface="Consolas" pitchFamily="34" charset="-120"/>
              </a:rPr>
              <a:t>    f.write("User logged in\n")</a:t>
            </a:r>
            <a:r>
              <a:rPr lang="en-US" dirty="0">
                <a:solidFill>
                  <a:srgbClr val="8A8FA3"/>
                </a:solidFill>
                <a:latin typeface="Consolas" pitchFamily="34" charset="0"/>
                <a:ea typeface="Consolas" pitchFamily="34" charset="-122"/>
                <a:cs typeface="Consolas" pitchFamily="34" charset="-120"/>
              </a:rPr>
              <a:t>   # "a" = append, adds to the end</a:t>
            </a:r>
            <a:endParaRPr lang="en-US" dirty="0"/>
          </a:p>
        </p:txBody>
      </p:sp>
      <p:sp>
        <p:nvSpPr>
          <p:cNvPr id="12" name="Text 10"/>
          <p:cNvSpPr/>
          <p:nvPr/>
        </p:nvSpPr>
        <p:spPr>
          <a:xfrm>
            <a:off x="722376" y="2468880"/>
            <a:ext cx="10744200" cy="265176"/>
          </a:xfrm>
          <a:prstGeom prst="rect">
            <a:avLst/>
          </a:prstGeom>
          <a:noFill/>
          <a:ln/>
        </p:spPr>
        <p:txBody>
          <a:bodyPr wrap="square" lIns="0" tIns="0" rIns="0" bIns="0" rtlCol="0" anchor="ctr"/>
          <a:lstStyle/>
          <a:p>
            <a:pPr marL="0" indent="0">
              <a:buNone/>
            </a:pPr>
            <a:endParaRPr lang="en-US" dirty="0"/>
          </a:p>
        </p:txBody>
      </p:sp>
      <p:sp>
        <p:nvSpPr>
          <p:cNvPr id="13" name="Text 11"/>
          <p:cNvSpPr/>
          <p:nvPr/>
        </p:nvSpPr>
        <p:spPr>
          <a:xfrm>
            <a:off x="722376" y="2734056"/>
            <a:ext cx="10744200" cy="265176"/>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with open(</a:t>
            </a:r>
            <a:r>
              <a:rPr lang="en-US" dirty="0">
                <a:solidFill>
                  <a:srgbClr val="F2C978"/>
                </a:solidFill>
                <a:latin typeface="Consolas" pitchFamily="34" charset="0"/>
                <a:ea typeface="Consolas" pitchFamily="34" charset="-122"/>
                <a:cs typeface="Consolas" pitchFamily="34" charset="-120"/>
              </a:rPr>
              <a:t>"activity.log"</a:t>
            </a:r>
            <a:r>
              <a:rPr lang="en-US" dirty="0">
                <a:solidFill>
                  <a:srgbClr val="E4E4EE"/>
                </a:solidFill>
                <a:latin typeface="Consolas" pitchFamily="34" charset="0"/>
                <a:ea typeface="Consolas" pitchFamily="34" charset="-122"/>
                <a:cs typeface="Consolas" pitchFamily="34" charset="-120"/>
              </a:rPr>
              <a:t>, </a:t>
            </a:r>
            <a:r>
              <a:rPr lang="en-US" dirty="0">
                <a:solidFill>
                  <a:srgbClr val="F2C978"/>
                </a:solidFill>
                <a:latin typeface="Consolas" pitchFamily="34" charset="0"/>
                <a:ea typeface="Consolas" pitchFamily="34" charset="-122"/>
                <a:cs typeface="Consolas" pitchFamily="34" charset="-120"/>
              </a:rPr>
              <a:t>"r"</a:t>
            </a:r>
            <a:r>
              <a:rPr lang="en-US" dirty="0">
                <a:solidFill>
                  <a:srgbClr val="E4E4EE"/>
                </a:solidFill>
                <a:latin typeface="Consolas" pitchFamily="34" charset="0"/>
                <a:ea typeface="Consolas" pitchFamily="34" charset="-122"/>
                <a:cs typeface="Consolas" pitchFamily="34" charset="-120"/>
              </a:rPr>
              <a:t>) as f:</a:t>
            </a:r>
            <a:endParaRPr lang="en-US" dirty="0"/>
          </a:p>
        </p:txBody>
      </p:sp>
      <p:sp>
        <p:nvSpPr>
          <p:cNvPr id="14" name="Text 12"/>
          <p:cNvSpPr/>
          <p:nvPr/>
        </p:nvSpPr>
        <p:spPr>
          <a:xfrm>
            <a:off x="722376" y="2999232"/>
            <a:ext cx="10744200" cy="265176"/>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for line in f:</a:t>
            </a:r>
            <a:endParaRPr lang="en-US" dirty="0"/>
          </a:p>
        </p:txBody>
      </p:sp>
      <p:sp>
        <p:nvSpPr>
          <p:cNvPr id="15" name="Text 13"/>
          <p:cNvSpPr/>
          <p:nvPr/>
        </p:nvSpPr>
        <p:spPr>
          <a:xfrm>
            <a:off x="722376" y="3264408"/>
            <a:ext cx="10744200" cy="265176"/>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        print(line.strip())</a:t>
            </a:r>
            <a:r>
              <a:rPr lang="en-US" dirty="0">
                <a:solidFill>
                  <a:srgbClr val="8A8FA3"/>
                </a:solidFill>
                <a:latin typeface="Consolas" pitchFamily="34" charset="0"/>
                <a:ea typeface="Consolas" pitchFamily="34" charset="-122"/>
                <a:cs typeface="Consolas" pitchFamily="34" charset="-120"/>
              </a:rPr>
              <a:t>        # "r" = read</a:t>
            </a:r>
            <a:endParaRPr lang="en-US" dirty="0"/>
          </a:p>
        </p:txBody>
      </p:sp>
      <p:sp>
        <p:nvSpPr>
          <p:cNvPr id="16" name="Text 14"/>
          <p:cNvSpPr/>
          <p:nvPr/>
        </p:nvSpPr>
        <p:spPr>
          <a:xfrm>
            <a:off x="722376" y="3529584"/>
            <a:ext cx="10744200" cy="265176"/>
          </a:xfrm>
          <a:prstGeom prst="rect">
            <a:avLst/>
          </a:prstGeom>
          <a:noFill/>
          <a:ln/>
        </p:spPr>
        <p:txBody>
          <a:bodyPr wrap="square" lIns="0" tIns="0" rIns="0" bIns="0" rtlCol="0" anchor="ctr"/>
          <a:lstStyle/>
          <a:p>
            <a:pPr marL="0" indent="0">
              <a:buNone/>
            </a:pPr>
            <a:endParaRPr lang="en-US" dirty="0"/>
          </a:p>
        </p:txBody>
      </p:sp>
      <p:sp>
        <p:nvSpPr>
          <p:cNvPr id="17" name="Text 15"/>
          <p:cNvSpPr/>
          <p:nvPr/>
        </p:nvSpPr>
        <p:spPr>
          <a:xfrm>
            <a:off x="722376" y="3794760"/>
            <a:ext cx="10744200" cy="265176"/>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try:</a:t>
            </a:r>
            <a:endParaRPr lang="en-US" dirty="0"/>
          </a:p>
        </p:txBody>
      </p:sp>
      <p:sp>
        <p:nvSpPr>
          <p:cNvPr id="18" name="Text 16"/>
          <p:cNvSpPr/>
          <p:nvPr/>
        </p:nvSpPr>
        <p:spPr>
          <a:xfrm>
            <a:off x="722376" y="4059936"/>
            <a:ext cx="10744200" cy="265176"/>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    open("missing.txt", "r")</a:t>
            </a:r>
            <a:endParaRPr lang="en-US" dirty="0"/>
          </a:p>
        </p:txBody>
      </p:sp>
      <p:sp>
        <p:nvSpPr>
          <p:cNvPr id="19" name="Text 17"/>
          <p:cNvSpPr/>
          <p:nvPr/>
        </p:nvSpPr>
        <p:spPr>
          <a:xfrm>
            <a:off x="722376" y="4325112"/>
            <a:ext cx="10744200" cy="265176"/>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except </a:t>
            </a:r>
            <a:r>
              <a:rPr lang="en-US" dirty="0">
                <a:solidFill>
                  <a:srgbClr val="E4E4EE"/>
                </a:solidFill>
                <a:latin typeface="Consolas" pitchFamily="34" charset="0"/>
                <a:ea typeface="Consolas" pitchFamily="34" charset="-122"/>
                <a:cs typeface="Consolas" pitchFamily="34" charset="-120"/>
              </a:rPr>
              <a:t>FileNotFoundError:</a:t>
            </a:r>
            <a:endParaRPr lang="en-US" dirty="0"/>
          </a:p>
        </p:txBody>
      </p:sp>
      <p:sp>
        <p:nvSpPr>
          <p:cNvPr id="20" name="Text 18"/>
          <p:cNvSpPr/>
          <p:nvPr/>
        </p:nvSpPr>
        <p:spPr>
          <a:xfrm>
            <a:off x="722376" y="4590288"/>
            <a:ext cx="10744200" cy="265176"/>
          </a:xfrm>
          <a:prstGeom prst="rect">
            <a:avLst/>
          </a:prstGeom>
          <a:noFill/>
          <a:ln/>
        </p:spPr>
        <p:txBody>
          <a:bodyPr wrap="square" lIns="0" tIns="0" rIns="0" bIns="0" rtlCol="0" anchor="ctr"/>
          <a:lstStyle/>
          <a:p>
            <a:pPr marL="0" indent="0">
              <a:buNone/>
            </a:pPr>
            <a:r>
              <a:rPr lang="en-US" dirty="0">
                <a:solidFill>
                  <a:srgbClr val="F2C978"/>
                </a:solidFill>
                <a:latin typeface="Consolas" pitchFamily="34" charset="0"/>
                <a:ea typeface="Consolas" pitchFamily="34" charset="-122"/>
                <a:cs typeface="Consolas" pitchFamily="34" charset="-120"/>
              </a:rPr>
              <a:t>    print("Handled gracefully")</a:t>
            </a:r>
            <a:endParaRPr lang="en-US" dirty="0"/>
          </a:p>
        </p:txBody>
      </p:sp>
      <p:sp>
        <p:nvSpPr>
          <p:cNvPr id="21" name="Shape 19"/>
          <p:cNvSpPr/>
          <p:nvPr/>
        </p:nvSpPr>
        <p:spPr>
          <a:xfrm>
            <a:off x="502920" y="5257800"/>
            <a:ext cx="11183112" cy="777240"/>
          </a:xfrm>
          <a:prstGeom prst="roundRect">
            <a:avLst>
              <a:gd name="adj" fmla="val 8235"/>
            </a:avLst>
          </a:prstGeom>
          <a:solidFill>
            <a:srgbClr val="DADBF1"/>
          </a:solidFill>
          <a:ln/>
        </p:spPr>
      </p:sp>
      <p:sp>
        <p:nvSpPr>
          <p:cNvPr id="22" name="Text 20"/>
          <p:cNvSpPr/>
          <p:nvPr/>
        </p:nvSpPr>
        <p:spPr>
          <a:xfrm>
            <a:off x="731520" y="5257800"/>
            <a:ext cx="10725912" cy="777240"/>
          </a:xfrm>
          <a:prstGeom prst="rect">
            <a:avLst/>
          </a:prstGeom>
          <a:noFill/>
          <a:ln/>
        </p:spPr>
        <p:txBody>
          <a:bodyPr wrap="square" lIns="0" tIns="0" rIns="0" bIns="0" rtlCol="0" anchor="ctr"/>
          <a:lstStyle/>
          <a:p>
            <a:pPr marL="0" indent="0">
              <a:lnSpc>
                <a:spcPct val="120000"/>
              </a:lnSpc>
              <a:buNone/>
            </a:pPr>
            <a:r>
              <a:rPr lang="en-US" b="1" dirty="0">
                <a:solidFill>
                  <a:srgbClr val="1E2761"/>
                </a:solidFill>
                <a:latin typeface="Calibri" pitchFamily="34" charset="0"/>
                <a:ea typeface="Calibri" pitchFamily="34" charset="-122"/>
                <a:cs typeface="Calibri" pitchFamily="34" charset="-120"/>
              </a:rPr>
              <a:t>"w" vs "a":  </a:t>
            </a:r>
            <a:r>
              <a:rPr lang="en-US" dirty="0">
                <a:solidFill>
                  <a:srgbClr val="1E2761"/>
                </a:solidFill>
                <a:latin typeface="Calibri" pitchFamily="34" charset="0"/>
                <a:ea typeface="Calibri" pitchFamily="34" charset="-122"/>
                <a:cs typeface="Calibri" pitchFamily="34" charset="-120"/>
              </a:rPr>
              <a:t>"w" wipes the file and starts fresh every time. "a" adds on without erasing — exactly what a borrow log needs.</a:t>
            </a:r>
            <a:endParaRPr lang="en-US" dirty="0"/>
          </a:p>
        </p:txBody>
      </p:sp>
      <p:sp>
        <p:nvSpPr>
          <p:cNvPr id="23" name="Text 21"/>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651760" cy="274320"/>
          </a:xfrm>
          <a:prstGeom prst="roundRect">
            <a:avLst>
              <a:gd name="adj" fmla="val 20000"/>
            </a:avLst>
          </a:prstGeom>
          <a:solidFill>
            <a:srgbClr val="E8912B"/>
          </a:solidFill>
          <a:ln/>
        </p:spPr>
      </p:sp>
      <p:sp>
        <p:nvSpPr>
          <p:cNvPr id="3" name="Text 1"/>
          <p:cNvSpPr/>
          <p:nvPr/>
        </p:nvSpPr>
        <p:spPr>
          <a:xfrm>
            <a:off x="502920" y="384048"/>
            <a:ext cx="2651760" cy="274320"/>
          </a:xfrm>
          <a:prstGeom prst="rect">
            <a:avLst/>
          </a:prstGeom>
          <a:noFill/>
          <a:ln/>
        </p:spPr>
        <p:txBody>
          <a:bodyPr wrap="square" lIns="0" tIns="0" rIns="0" bIns="0" rtlCol="0" anchor="ctr"/>
          <a:lstStyle/>
          <a:p>
            <a:pPr marL="0" indent="0" algn="ctr">
              <a:buNone/>
            </a:pPr>
            <a:r>
              <a:rPr lang="en-US" b="1" dirty="0">
                <a:solidFill>
                  <a:srgbClr val="1E2761"/>
                </a:solidFill>
                <a:latin typeface="Calibri" pitchFamily="34" charset="0"/>
                <a:ea typeface="Calibri" pitchFamily="34" charset="-122"/>
                <a:cs typeface="Calibri" pitchFamily="34" charset="-120"/>
              </a:rPr>
              <a:t>QUICK PRACTICE · ROUND 2</a:t>
            </a:r>
            <a:endParaRPr lang="en-US"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Try It Yourself: Daily Journal Logger</a:t>
            </a:r>
            <a:endParaRPr lang="en-US"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dirty="0">
                <a:solidFill>
                  <a:srgbClr val="6B6B6B"/>
                </a:solidFill>
                <a:latin typeface="Calibri" pitchFamily="34" charset="0"/>
                <a:ea typeface="Calibri" pitchFamily="34" charset="-122"/>
                <a:cs typeface="Calibri" pitchFamily="34" charset="-120"/>
              </a:rPr>
              <a:t>Same deal — solo attempt, then we compare.</a:t>
            </a:r>
            <a:endParaRPr lang="en-US" dirty="0"/>
          </a:p>
        </p:txBody>
      </p:sp>
      <p:sp>
        <p:nvSpPr>
          <p:cNvPr id="6" name="Shape 4"/>
          <p:cNvSpPr/>
          <p:nvPr/>
        </p:nvSpPr>
        <p:spPr>
          <a:xfrm>
            <a:off x="9326880" y="384048"/>
            <a:ext cx="1280160" cy="310896"/>
          </a:xfrm>
          <a:prstGeom prst="roundRect">
            <a:avLst>
              <a:gd name="adj" fmla="val 50000"/>
            </a:avLst>
          </a:prstGeom>
          <a:solidFill>
            <a:srgbClr val="FBEAEA"/>
          </a:solidFill>
          <a:ln/>
        </p:spPr>
      </p:sp>
      <p:sp>
        <p:nvSpPr>
          <p:cNvPr id="7" name="Text 5"/>
          <p:cNvSpPr/>
          <p:nvPr/>
        </p:nvSpPr>
        <p:spPr>
          <a:xfrm>
            <a:off x="9326880" y="384048"/>
            <a:ext cx="1280160" cy="310896"/>
          </a:xfrm>
          <a:prstGeom prst="rect">
            <a:avLst/>
          </a:prstGeom>
          <a:noFill/>
          <a:ln/>
        </p:spPr>
        <p:txBody>
          <a:bodyPr wrap="square" lIns="0" tIns="0" rIns="0" bIns="0" rtlCol="0" anchor="ctr"/>
          <a:lstStyle/>
          <a:p>
            <a:pPr marL="0" indent="0" algn="ctr">
              <a:buNone/>
            </a:pPr>
            <a:r>
              <a:rPr lang="en-US" b="1" dirty="0">
                <a:solidFill>
                  <a:srgbClr val="C0392B"/>
                </a:solidFill>
                <a:latin typeface="Calibri" pitchFamily="34" charset="0"/>
                <a:ea typeface="Calibri" pitchFamily="34" charset="-122"/>
                <a:cs typeface="Calibri" pitchFamily="34" charset="-120"/>
              </a:rPr>
              <a:t>⏱  5 min</a:t>
            </a:r>
            <a:endParaRPr lang="en-US" dirty="0"/>
          </a:p>
        </p:txBody>
      </p:sp>
      <p:sp>
        <p:nvSpPr>
          <p:cNvPr id="8" name="Shape 6"/>
          <p:cNvSpPr/>
          <p:nvPr/>
        </p:nvSpPr>
        <p:spPr>
          <a:xfrm>
            <a:off x="502920" y="1600200"/>
            <a:ext cx="11183112" cy="502920"/>
          </a:xfrm>
          <a:prstGeom prst="roundRect">
            <a:avLst>
              <a:gd name="adj" fmla="val 10909"/>
            </a:avLst>
          </a:prstGeom>
          <a:solidFill>
            <a:srgbClr val="FCEEDA"/>
          </a:solidFill>
          <a:ln/>
        </p:spPr>
      </p:sp>
      <p:sp>
        <p:nvSpPr>
          <p:cNvPr id="9" name="Text 7"/>
          <p:cNvSpPr/>
          <p:nvPr/>
        </p:nvSpPr>
        <p:spPr>
          <a:xfrm>
            <a:off x="731520" y="1600200"/>
            <a:ext cx="10725912" cy="502920"/>
          </a:xfrm>
          <a:prstGeom prst="rect">
            <a:avLst/>
          </a:prstGeom>
          <a:noFill/>
          <a:ln/>
        </p:spPr>
        <p:txBody>
          <a:bodyPr wrap="square" lIns="0" tIns="0" rIns="0" bIns="0" rtlCol="0" anchor="ctr"/>
          <a:lstStyle/>
          <a:p>
            <a:pPr marL="0" indent="0">
              <a:buNone/>
            </a:pPr>
            <a:r>
              <a:rPr lang="en-US" b="1" dirty="0">
                <a:solidFill>
                  <a:srgbClr val="E8912B"/>
                </a:solidFill>
                <a:latin typeface="Calibri" pitchFamily="34" charset="0"/>
                <a:ea typeface="Calibri" pitchFamily="34" charset="-122"/>
                <a:cs typeface="Calibri" pitchFamily="34" charset="-120"/>
              </a:rPr>
              <a:t>Task:  </a:t>
            </a:r>
            <a:r>
              <a:rPr lang="en-US" dirty="0">
                <a:solidFill>
                  <a:srgbClr val="272525"/>
                </a:solidFill>
                <a:latin typeface="Calibri" pitchFamily="34" charset="0"/>
                <a:ea typeface="Calibri" pitchFamily="34" charset="-122"/>
                <a:cs typeface="Calibri" pitchFamily="34" charset="-120"/>
              </a:rPr>
              <a:t>Write a tiny journal script using file append + read</a:t>
            </a:r>
            <a:endParaRPr lang="en-US" dirty="0"/>
          </a:p>
        </p:txBody>
      </p:sp>
      <p:sp>
        <p:nvSpPr>
          <p:cNvPr id="10" name="Shape 8"/>
          <p:cNvSpPr/>
          <p:nvPr/>
        </p:nvSpPr>
        <p:spPr>
          <a:xfrm>
            <a:off x="502920" y="2286000"/>
            <a:ext cx="329184" cy="329184"/>
          </a:xfrm>
          <a:prstGeom prst="ellipse">
            <a:avLst/>
          </a:prstGeom>
          <a:solidFill>
            <a:srgbClr val="4950BC"/>
          </a:solidFill>
          <a:ln/>
        </p:spPr>
      </p:sp>
      <p:sp>
        <p:nvSpPr>
          <p:cNvPr id="11" name="Text 9"/>
          <p:cNvSpPr/>
          <p:nvPr/>
        </p:nvSpPr>
        <p:spPr>
          <a:xfrm>
            <a:off x="502920" y="2286000"/>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2" name="Text 10"/>
          <p:cNvSpPr/>
          <p:nvPr/>
        </p:nvSpPr>
        <p:spPr>
          <a:xfrm>
            <a:off x="960120" y="2258568"/>
            <a:ext cx="10332720" cy="54864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Create journal_practice.py</a:t>
            </a:r>
            <a:endParaRPr lang="en-US" dirty="0"/>
          </a:p>
        </p:txBody>
      </p:sp>
      <p:sp>
        <p:nvSpPr>
          <p:cNvPr id="13" name="Shape 11"/>
          <p:cNvSpPr/>
          <p:nvPr/>
        </p:nvSpPr>
        <p:spPr>
          <a:xfrm>
            <a:off x="502920" y="2907792"/>
            <a:ext cx="329184" cy="329184"/>
          </a:xfrm>
          <a:prstGeom prst="ellipse">
            <a:avLst/>
          </a:prstGeom>
          <a:solidFill>
            <a:srgbClr val="4950BC"/>
          </a:solidFill>
          <a:ln/>
        </p:spPr>
      </p:sp>
      <p:sp>
        <p:nvSpPr>
          <p:cNvPr id="14" name="Text 12"/>
          <p:cNvSpPr/>
          <p:nvPr/>
        </p:nvSpPr>
        <p:spPr>
          <a:xfrm>
            <a:off x="502920" y="2907792"/>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5" name="Text 13"/>
          <p:cNvSpPr/>
          <p:nvPr/>
        </p:nvSpPr>
        <p:spPr>
          <a:xfrm>
            <a:off x="960120" y="2880360"/>
            <a:ext cx="10332720" cy="54864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Write add_entry(text) that appends text plus a timestamp to journal.txt</a:t>
            </a:r>
            <a:endParaRPr lang="en-US" dirty="0"/>
          </a:p>
        </p:txBody>
      </p:sp>
      <p:sp>
        <p:nvSpPr>
          <p:cNvPr id="16" name="Shape 14"/>
          <p:cNvSpPr/>
          <p:nvPr/>
        </p:nvSpPr>
        <p:spPr>
          <a:xfrm>
            <a:off x="502920" y="3529584"/>
            <a:ext cx="329184" cy="329184"/>
          </a:xfrm>
          <a:prstGeom prst="ellipse">
            <a:avLst/>
          </a:prstGeom>
          <a:solidFill>
            <a:srgbClr val="4950BC"/>
          </a:solidFill>
          <a:ln/>
        </p:spPr>
      </p:sp>
      <p:sp>
        <p:nvSpPr>
          <p:cNvPr id="17" name="Text 15"/>
          <p:cNvSpPr/>
          <p:nvPr/>
        </p:nvSpPr>
        <p:spPr>
          <a:xfrm>
            <a:off x="502920" y="3529584"/>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8" name="Text 16"/>
          <p:cNvSpPr/>
          <p:nvPr/>
        </p:nvSpPr>
        <p:spPr>
          <a:xfrm>
            <a:off x="960120" y="3502152"/>
            <a:ext cx="10332720" cy="54864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Write show_entries() that reads and prints every line in journal.txt</a:t>
            </a:r>
            <a:endParaRPr lang="en-US" dirty="0"/>
          </a:p>
        </p:txBody>
      </p:sp>
      <p:sp>
        <p:nvSpPr>
          <p:cNvPr id="19" name="Shape 17"/>
          <p:cNvSpPr/>
          <p:nvPr/>
        </p:nvSpPr>
        <p:spPr>
          <a:xfrm>
            <a:off x="502920" y="4151376"/>
            <a:ext cx="329184" cy="329184"/>
          </a:xfrm>
          <a:prstGeom prst="ellipse">
            <a:avLst/>
          </a:prstGeom>
          <a:solidFill>
            <a:srgbClr val="4950BC"/>
          </a:solidFill>
          <a:ln/>
        </p:spPr>
      </p:sp>
      <p:sp>
        <p:nvSpPr>
          <p:cNvPr id="20" name="Text 18"/>
          <p:cNvSpPr/>
          <p:nvPr/>
        </p:nvSpPr>
        <p:spPr>
          <a:xfrm>
            <a:off x="502920" y="4151376"/>
            <a:ext cx="329184" cy="32918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960120" y="4123944"/>
            <a:ext cx="10332720" cy="548640"/>
          </a:xfrm>
          <a:prstGeom prst="rect">
            <a:avLst/>
          </a:prstGeom>
          <a:noFill/>
          <a:ln/>
        </p:spPr>
        <p:txBody>
          <a:bodyPr wrap="square" lIns="0" tIns="0" rIns="0" bIns="0" rtlCol="0" anchor="t"/>
          <a:lstStyle/>
          <a:p>
            <a:pPr marL="0" indent="0">
              <a:buNone/>
            </a:pPr>
            <a:r>
              <a:rPr lang="en-US" dirty="0">
                <a:solidFill>
                  <a:srgbClr val="272525"/>
                </a:solidFill>
                <a:latin typeface="Calibri" pitchFamily="34" charset="0"/>
                <a:ea typeface="Calibri" pitchFamily="34" charset="-122"/>
                <a:cs typeface="Calibri" pitchFamily="34" charset="-120"/>
              </a:rPr>
              <a:t>Call add_entry() three times with different text, then call show_entries()</a:t>
            </a:r>
            <a:endParaRPr lang="en-US" dirty="0"/>
          </a:p>
        </p:txBody>
      </p:sp>
      <p:sp>
        <p:nvSpPr>
          <p:cNvPr id="22" name="Shape 20"/>
          <p:cNvSpPr/>
          <p:nvPr/>
        </p:nvSpPr>
        <p:spPr>
          <a:xfrm>
            <a:off x="502920" y="4846320"/>
            <a:ext cx="11183112" cy="713232"/>
          </a:xfrm>
          <a:prstGeom prst="roundRect">
            <a:avLst>
              <a:gd name="adj" fmla="val 8974"/>
            </a:avLst>
          </a:prstGeom>
          <a:solidFill>
            <a:srgbClr val="DADBF1"/>
          </a:solidFill>
          <a:ln/>
        </p:spPr>
      </p:sp>
      <p:sp>
        <p:nvSpPr>
          <p:cNvPr id="23" name="Text 21"/>
          <p:cNvSpPr/>
          <p:nvPr/>
        </p:nvSpPr>
        <p:spPr>
          <a:xfrm>
            <a:off x="731520" y="4846320"/>
            <a:ext cx="10725912" cy="713232"/>
          </a:xfrm>
          <a:prstGeom prst="rect">
            <a:avLst/>
          </a:prstGeom>
          <a:noFill/>
          <a:ln/>
        </p:spPr>
        <p:txBody>
          <a:bodyPr wrap="square" lIns="0" tIns="0" rIns="0" bIns="0" rtlCol="0" anchor="ctr"/>
          <a:lstStyle/>
          <a:p>
            <a:pPr marL="0" indent="0">
              <a:buNone/>
            </a:pPr>
            <a:r>
              <a:rPr lang="en-US" b="1" dirty="0">
                <a:solidFill>
                  <a:srgbClr val="1E2761"/>
                </a:solidFill>
                <a:latin typeface="Calibri" pitchFamily="34" charset="0"/>
                <a:ea typeface="Calibri" pitchFamily="34" charset="-122"/>
                <a:cs typeface="Calibri" pitchFamily="34" charset="-120"/>
              </a:rPr>
              <a:t>💡 Hint:  </a:t>
            </a:r>
            <a:r>
              <a:rPr lang="en-US" dirty="0">
                <a:solidFill>
                  <a:srgbClr val="1E2761"/>
                </a:solidFill>
                <a:latin typeface="Calibri" pitchFamily="34" charset="0"/>
                <a:ea typeface="Calibri" pitchFamily="34" charset="-122"/>
                <a:cs typeface="Calibri" pitchFamily="34" charset="-120"/>
              </a:rPr>
              <a:t>Reuse the datetime pattern from Demo 3, and the with open(...) as f pattern from the File I/O slide.</a:t>
            </a:r>
            <a:endParaRPr lang="en-US" dirty="0"/>
          </a:p>
        </p:txBody>
      </p:sp>
      <p:sp>
        <p:nvSpPr>
          <p:cNvPr id="24" name="Text 22"/>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4950BC">
              <a:alpha val="24000"/>
            </a:srgbClr>
          </a:solidFill>
          <a:ln/>
        </p:spPr>
      </p:sp>
      <p:sp>
        <p:nvSpPr>
          <p:cNvPr id="3" name="Shape 1"/>
          <p:cNvSpPr/>
          <p:nvPr/>
        </p:nvSpPr>
        <p:spPr>
          <a:xfrm>
            <a:off x="502920" y="384048"/>
            <a:ext cx="2103120" cy="274320"/>
          </a:xfrm>
          <a:prstGeom prst="roundRect">
            <a:avLst>
              <a:gd name="adj" fmla="val 20000"/>
            </a:avLst>
          </a:prstGeom>
          <a:solidFill>
            <a:srgbClr val="E8912B"/>
          </a:solidFill>
          <a:ln/>
        </p:spPr>
      </p:sp>
      <p:sp>
        <p:nvSpPr>
          <p:cNvPr id="4" name="Text 2"/>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b="1" kern="0" spc="50" dirty="0">
                <a:solidFill>
                  <a:srgbClr val="1E2761"/>
                </a:solidFill>
                <a:latin typeface="Calibri" pitchFamily="34" charset="0"/>
                <a:ea typeface="Calibri" pitchFamily="34" charset="-122"/>
                <a:cs typeface="Calibri" pitchFamily="34" charset="-120"/>
              </a:rPr>
              <a:t>GOAL FOR TODAY</a:t>
            </a:r>
            <a:endParaRPr lang="en-US" dirty="0"/>
          </a:p>
        </p:txBody>
      </p:sp>
      <p:sp>
        <p:nvSpPr>
          <p:cNvPr id="5" name="Text 3"/>
          <p:cNvSpPr/>
          <p:nvPr/>
        </p:nvSpPr>
        <p:spPr>
          <a:xfrm>
            <a:off x="502920" y="822960"/>
            <a:ext cx="10515600" cy="45720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CampusLib Now Remembers Every Borrow</a:t>
            </a:r>
            <a:endParaRPr lang="en-US" dirty="0"/>
          </a:p>
        </p:txBody>
      </p:sp>
      <p:sp>
        <p:nvSpPr>
          <p:cNvPr id="6" name="Shape 4"/>
          <p:cNvSpPr/>
          <p:nvPr/>
        </p:nvSpPr>
        <p:spPr>
          <a:xfrm>
            <a:off x="502920" y="1508760"/>
            <a:ext cx="6949440" cy="4160520"/>
          </a:xfrm>
          <a:prstGeom prst="roundRect">
            <a:avLst>
              <a:gd name="adj" fmla="val 1099"/>
            </a:avLst>
          </a:prstGeom>
          <a:solidFill>
            <a:srgbClr val="1E1E2E"/>
          </a:solidFill>
          <a:ln/>
          <a:effectLst>
            <a:outerShdw blurRad="76200" dist="25400" dir="5400000" algn="bl" rotWithShape="0">
              <a:srgbClr val="000000">
                <a:alpha val="16000"/>
              </a:srgbClr>
            </a:outerShdw>
          </a:effectLst>
        </p:spPr>
      </p:sp>
      <p:sp>
        <p:nvSpPr>
          <p:cNvPr id="7" name="Shape 5"/>
          <p:cNvSpPr/>
          <p:nvPr/>
        </p:nvSpPr>
        <p:spPr>
          <a:xfrm>
            <a:off x="640080" y="1618488"/>
            <a:ext cx="82296" cy="82296"/>
          </a:xfrm>
          <a:prstGeom prst="ellipse">
            <a:avLst/>
          </a:prstGeom>
          <a:solidFill>
            <a:srgbClr val="FF5F56"/>
          </a:solidFill>
          <a:ln/>
        </p:spPr>
      </p:sp>
      <p:sp>
        <p:nvSpPr>
          <p:cNvPr id="8" name="Shape 6"/>
          <p:cNvSpPr/>
          <p:nvPr/>
        </p:nvSpPr>
        <p:spPr>
          <a:xfrm>
            <a:off x="795528" y="1618488"/>
            <a:ext cx="82296" cy="82296"/>
          </a:xfrm>
          <a:prstGeom prst="ellipse">
            <a:avLst/>
          </a:prstGeom>
          <a:solidFill>
            <a:srgbClr val="FFBD2E"/>
          </a:solidFill>
          <a:ln/>
        </p:spPr>
      </p:sp>
      <p:sp>
        <p:nvSpPr>
          <p:cNvPr id="9" name="Shape 7"/>
          <p:cNvSpPr/>
          <p:nvPr/>
        </p:nvSpPr>
        <p:spPr>
          <a:xfrm>
            <a:off x="950976" y="1618488"/>
            <a:ext cx="82296" cy="82296"/>
          </a:xfrm>
          <a:prstGeom prst="ellipse">
            <a:avLst/>
          </a:prstGeom>
          <a:solidFill>
            <a:srgbClr val="27C93F"/>
          </a:solidFill>
          <a:ln/>
        </p:spPr>
      </p:sp>
      <p:sp>
        <p:nvSpPr>
          <p:cNvPr id="10" name="Text 8"/>
          <p:cNvSpPr/>
          <p:nvPr/>
        </p:nvSpPr>
        <p:spPr>
          <a:xfrm>
            <a:off x="722376" y="1801368"/>
            <a:ext cx="6510528" cy="274320"/>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WELCOME TO CAMPUSLIB =====</a:t>
            </a:r>
            <a:endParaRPr lang="en-US" dirty="0"/>
          </a:p>
        </p:txBody>
      </p:sp>
      <p:sp>
        <p:nvSpPr>
          <p:cNvPr id="11" name="Text 9"/>
          <p:cNvSpPr/>
          <p:nvPr/>
        </p:nvSpPr>
        <p:spPr>
          <a:xfrm>
            <a:off x="722376" y="2075688"/>
            <a:ext cx="6510528" cy="274320"/>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1. List Books  2. Borrow  3. Return</a:t>
            </a:r>
            <a:endParaRPr lang="en-US" dirty="0"/>
          </a:p>
        </p:txBody>
      </p:sp>
      <p:sp>
        <p:nvSpPr>
          <p:cNvPr id="12" name="Text 10"/>
          <p:cNvSpPr/>
          <p:nvPr/>
        </p:nvSpPr>
        <p:spPr>
          <a:xfrm>
            <a:off x="722376" y="2350008"/>
            <a:ext cx="6510528" cy="274320"/>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4. View Borrow Log   5. Exit</a:t>
            </a:r>
            <a:endParaRPr lang="en-US" dirty="0"/>
          </a:p>
        </p:txBody>
      </p:sp>
      <p:sp>
        <p:nvSpPr>
          <p:cNvPr id="13" name="Text 11"/>
          <p:cNvSpPr/>
          <p:nvPr/>
        </p:nvSpPr>
        <p:spPr>
          <a:xfrm>
            <a:off x="722376" y="2624328"/>
            <a:ext cx="6510528" cy="274320"/>
          </a:xfrm>
          <a:prstGeom prst="rect">
            <a:avLst/>
          </a:prstGeom>
          <a:noFill/>
          <a:ln/>
        </p:spPr>
        <p:txBody>
          <a:bodyPr wrap="square" lIns="0" tIns="0" rIns="0" bIns="0" rtlCol="0" anchor="ctr"/>
          <a:lstStyle/>
          <a:p>
            <a:pPr marL="0" indent="0">
              <a:buNone/>
            </a:pPr>
            <a:endParaRPr lang="en-US" dirty="0"/>
          </a:p>
        </p:txBody>
      </p:sp>
      <p:sp>
        <p:nvSpPr>
          <p:cNvPr id="14" name="Text 12"/>
          <p:cNvSpPr/>
          <p:nvPr/>
        </p:nvSpPr>
        <p:spPr>
          <a:xfrm>
            <a:off x="722376" y="2898648"/>
            <a:ext cx="6510528" cy="274320"/>
          </a:xfrm>
          <a:prstGeom prst="rect">
            <a:avLst/>
          </a:prstGeom>
          <a:noFill/>
          <a:ln/>
        </p:spPr>
        <p:txBody>
          <a:bodyPr wrap="square" lIns="0" tIns="0" rIns="0" bIns="0" rtlCol="0" anchor="ctr"/>
          <a:lstStyle/>
          <a:p>
            <a:pPr marL="0" indent="0">
              <a:buNone/>
            </a:pPr>
            <a:r>
              <a:rPr lang="en-US" dirty="0">
                <a:solidFill>
                  <a:srgbClr val="E4E4EE"/>
                </a:solidFill>
                <a:latin typeface="Consolas" pitchFamily="34" charset="0"/>
                <a:ea typeface="Consolas" pitchFamily="34" charset="-122"/>
                <a:cs typeface="Consolas" pitchFamily="34" charset="-120"/>
              </a:rPr>
              <a:t>Choose an option: </a:t>
            </a:r>
            <a:r>
              <a:rPr lang="en-US" dirty="0">
                <a:solidFill>
                  <a:srgbClr val="F2C978"/>
                </a:solidFill>
                <a:latin typeface="Consolas" pitchFamily="34" charset="0"/>
                <a:ea typeface="Consolas" pitchFamily="34" charset="-122"/>
                <a:cs typeface="Consolas" pitchFamily="34" charset="-120"/>
              </a:rPr>
              <a:t>4</a:t>
            </a:r>
            <a:endParaRPr lang="en-US" dirty="0"/>
          </a:p>
        </p:txBody>
      </p:sp>
      <p:sp>
        <p:nvSpPr>
          <p:cNvPr id="15" name="Text 13"/>
          <p:cNvSpPr/>
          <p:nvPr/>
        </p:nvSpPr>
        <p:spPr>
          <a:xfrm>
            <a:off x="722376" y="3172968"/>
            <a:ext cx="6510528" cy="274320"/>
          </a:xfrm>
          <a:prstGeom prst="rect">
            <a:avLst/>
          </a:prstGeom>
          <a:noFill/>
          <a:ln/>
        </p:spPr>
        <p:txBody>
          <a:bodyPr wrap="square" lIns="0" tIns="0" rIns="0" bIns="0" rtlCol="0" anchor="ctr"/>
          <a:lstStyle/>
          <a:p>
            <a:pPr marL="0" indent="0">
              <a:buNone/>
            </a:pPr>
            <a:endParaRPr lang="en-US" dirty="0"/>
          </a:p>
        </p:txBody>
      </p:sp>
      <p:sp>
        <p:nvSpPr>
          <p:cNvPr id="16" name="Text 14"/>
          <p:cNvSpPr/>
          <p:nvPr/>
        </p:nvSpPr>
        <p:spPr>
          <a:xfrm>
            <a:off x="722376" y="3447288"/>
            <a:ext cx="6510528" cy="274320"/>
          </a:xfrm>
          <a:prstGeom prst="rect">
            <a:avLst/>
          </a:prstGeom>
          <a:noFill/>
          <a:ln/>
        </p:spPr>
        <p:txBody>
          <a:bodyPr wrap="square" lIns="0" tIns="0" rIns="0" bIns="0" rtlCol="0" anchor="ctr"/>
          <a:lstStyle/>
          <a:p>
            <a:pPr marL="0" indent="0">
              <a:buNone/>
            </a:pPr>
            <a:r>
              <a:rPr lang="en-US" dirty="0">
                <a:solidFill>
                  <a:srgbClr val="7FB4FF"/>
                </a:solidFill>
                <a:latin typeface="Consolas" pitchFamily="34" charset="0"/>
                <a:ea typeface="Consolas" pitchFamily="34" charset="-122"/>
                <a:cs typeface="Consolas" pitchFamily="34" charset="-120"/>
              </a:rPr>
              <a:t>--- Borrow Log ---</a:t>
            </a:r>
            <a:endParaRPr lang="en-US" dirty="0"/>
          </a:p>
        </p:txBody>
      </p:sp>
      <p:sp>
        <p:nvSpPr>
          <p:cNvPr id="17" name="Text 15"/>
          <p:cNvSpPr/>
          <p:nvPr/>
        </p:nvSpPr>
        <p:spPr>
          <a:xfrm>
            <a:off x="722376" y="3721608"/>
            <a:ext cx="6510528" cy="274320"/>
          </a:xfrm>
          <a:prstGeom prst="rect">
            <a:avLst/>
          </a:prstGeom>
          <a:noFill/>
          <a:ln/>
        </p:spPr>
        <p:txBody>
          <a:bodyPr wrap="square" lIns="0" tIns="0" rIns="0" bIns="0" rtlCol="0" anchor="ctr"/>
          <a:lstStyle/>
          <a:p>
            <a:pPr marL="0" indent="0">
              <a:buNone/>
            </a:pPr>
            <a:r>
              <a:rPr lang="en-US" dirty="0">
                <a:solidFill>
                  <a:srgbClr val="F2C978"/>
                </a:solidFill>
                <a:latin typeface="Consolas" pitchFamily="34" charset="0"/>
                <a:ea typeface="Consolas" pitchFamily="34" charset="-122"/>
                <a:cs typeface="Consolas" pitchFamily="34" charset="-120"/>
              </a:rPr>
              <a:t>2026-07-03 10:02:11 | BORROWED | Clean Code</a:t>
            </a:r>
            <a:endParaRPr lang="en-US" dirty="0"/>
          </a:p>
        </p:txBody>
      </p:sp>
      <p:sp>
        <p:nvSpPr>
          <p:cNvPr id="18" name="Text 16"/>
          <p:cNvSpPr/>
          <p:nvPr/>
        </p:nvSpPr>
        <p:spPr>
          <a:xfrm>
            <a:off x="722376" y="3995928"/>
            <a:ext cx="6510528" cy="274320"/>
          </a:xfrm>
          <a:prstGeom prst="rect">
            <a:avLst/>
          </a:prstGeom>
          <a:noFill/>
          <a:ln/>
        </p:spPr>
        <p:txBody>
          <a:bodyPr wrap="square" lIns="0" tIns="0" rIns="0" bIns="0" rtlCol="0" anchor="ctr"/>
          <a:lstStyle/>
          <a:p>
            <a:pPr marL="0" indent="0">
              <a:buNone/>
            </a:pPr>
            <a:r>
              <a:rPr lang="en-US" dirty="0">
                <a:solidFill>
                  <a:srgbClr val="F2C978"/>
                </a:solidFill>
                <a:latin typeface="Consolas" pitchFamily="34" charset="0"/>
                <a:ea typeface="Consolas" pitchFamily="34" charset="-122"/>
                <a:cs typeface="Consolas" pitchFamily="34" charset="-120"/>
              </a:rPr>
              <a:t>2026-07-03 10:03:47 | RETURNED | Clean Code</a:t>
            </a:r>
            <a:endParaRPr lang="en-US" dirty="0"/>
          </a:p>
        </p:txBody>
      </p:sp>
      <p:sp>
        <p:nvSpPr>
          <p:cNvPr id="19" name="Text 17"/>
          <p:cNvSpPr/>
          <p:nvPr/>
        </p:nvSpPr>
        <p:spPr>
          <a:xfrm>
            <a:off x="722376" y="4270248"/>
            <a:ext cx="6510528" cy="274320"/>
          </a:xfrm>
          <a:prstGeom prst="rect">
            <a:avLst/>
          </a:prstGeom>
          <a:noFill/>
          <a:ln/>
        </p:spPr>
        <p:txBody>
          <a:bodyPr wrap="square" lIns="0" tIns="0" rIns="0" bIns="0" rtlCol="0" anchor="ctr"/>
          <a:lstStyle/>
          <a:p>
            <a:pPr marL="0" indent="0">
              <a:buNone/>
            </a:pPr>
            <a:endParaRPr lang="en-US" dirty="0"/>
          </a:p>
        </p:txBody>
      </p:sp>
      <p:sp>
        <p:nvSpPr>
          <p:cNvPr id="20" name="Text 18"/>
          <p:cNvSpPr/>
          <p:nvPr/>
        </p:nvSpPr>
        <p:spPr>
          <a:xfrm>
            <a:off x="722376" y="4544568"/>
            <a:ext cx="6510528" cy="274320"/>
          </a:xfrm>
          <a:prstGeom prst="rect">
            <a:avLst/>
          </a:prstGeom>
          <a:noFill/>
          <a:ln/>
        </p:spPr>
        <p:txBody>
          <a:bodyPr wrap="square" lIns="0" tIns="0" rIns="0" bIns="0" rtlCol="0" anchor="ctr"/>
          <a:lstStyle/>
          <a:p>
            <a:pPr marL="0" indent="0">
              <a:buNone/>
            </a:pPr>
            <a:r>
              <a:rPr lang="en-US" dirty="0">
                <a:solidFill>
                  <a:srgbClr val="8A8FA3"/>
                </a:solidFill>
                <a:latin typeface="Consolas" pitchFamily="34" charset="0"/>
                <a:ea typeface="Consolas" pitchFamily="34" charset="-122"/>
                <a:cs typeface="Consolas" pitchFamily="34" charset="-120"/>
              </a:rPr>
              <a:t># That history survives even after</a:t>
            </a:r>
            <a:endParaRPr lang="en-US" dirty="0"/>
          </a:p>
        </p:txBody>
      </p:sp>
      <p:sp>
        <p:nvSpPr>
          <p:cNvPr id="21" name="Text 19"/>
          <p:cNvSpPr/>
          <p:nvPr/>
        </p:nvSpPr>
        <p:spPr>
          <a:xfrm>
            <a:off x="722376" y="4818888"/>
            <a:ext cx="6510528" cy="274320"/>
          </a:xfrm>
          <a:prstGeom prst="rect">
            <a:avLst/>
          </a:prstGeom>
          <a:noFill/>
          <a:ln/>
        </p:spPr>
        <p:txBody>
          <a:bodyPr wrap="square" lIns="0" tIns="0" rIns="0" bIns="0" rtlCol="0" anchor="ctr"/>
          <a:lstStyle/>
          <a:p>
            <a:pPr marL="0" indent="0">
              <a:buNone/>
            </a:pPr>
            <a:r>
              <a:rPr lang="en-US" dirty="0">
                <a:solidFill>
                  <a:srgbClr val="8A8FA3"/>
                </a:solidFill>
                <a:latin typeface="Consolas" pitchFamily="34" charset="0"/>
                <a:ea typeface="Consolas" pitchFamily="34" charset="-122"/>
                <a:cs typeface="Consolas" pitchFamily="34" charset="-120"/>
              </a:rPr>
              <a:t># you close and reopen the program.</a:t>
            </a:r>
            <a:endParaRPr lang="en-US" dirty="0"/>
          </a:p>
        </p:txBody>
      </p:sp>
      <p:sp>
        <p:nvSpPr>
          <p:cNvPr id="22" name="Text 20"/>
          <p:cNvSpPr/>
          <p:nvPr/>
        </p:nvSpPr>
        <p:spPr>
          <a:xfrm>
            <a:off x="7849844" y="2440515"/>
            <a:ext cx="4023360" cy="1984248"/>
          </a:xfrm>
          <a:prstGeom prst="rect">
            <a:avLst/>
          </a:prstGeom>
          <a:noFill/>
          <a:ln/>
        </p:spPr>
        <p:txBody>
          <a:bodyPr wrap="square" lIns="0" tIns="0" rIns="0" bIns="0" rtlCol="0" anchor="t"/>
          <a:lstStyle/>
          <a:p>
            <a:pPr marL="0" indent="0">
              <a:lnSpc>
                <a:spcPct val="125000"/>
              </a:lnSpc>
              <a:buNone/>
            </a:pPr>
            <a:r>
              <a:rPr lang="en-US" b="1" dirty="0">
                <a:solidFill>
                  <a:srgbClr val="FFFFFF"/>
                </a:solidFill>
                <a:latin typeface="Calibri" pitchFamily="34" charset="0"/>
                <a:ea typeface="Calibri" pitchFamily="34" charset="-122"/>
                <a:cs typeface="Calibri" pitchFamily="34" charset="-120"/>
              </a:rPr>
              <a:t>That's the target. </a:t>
            </a:r>
            <a:r>
              <a:rPr lang="en-US" dirty="0">
                <a:solidFill>
                  <a:srgbClr val="DADBF1"/>
                </a:solidFill>
                <a:latin typeface="Calibri" pitchFamily="34" charset="0"/>
                <a:ea typeface="Calibri" pitchFamily="34" charset="-122"/>
                <a:cs typeface="Calibri" pitchFamily="34" charset="-120"/>
              </a:rPr>
              <a:t>Without file storage, CampusLib forgets every borrow the moment it closes. Today's build writes every action to a real file — and reads it back on demand.</a:t>
            </a:r>
            <a:endParaRPr lang="en-US" dirty="0"/>
          </a:p>
        </p:txBody>
      </p:sp>
      <p:sp>
        <p:nvSpPr>
          <p:cNvPr id="23" name="Text 21"/>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274320"/>
          </a:xfrm>
          <a:prstGeom prst="roundRect">
            <a:avLst>
              <a:gd name="adj" fmla="val 20000"/>
            </a:avLst>
          </a:prstGeom>
          <a:solidFill>
            <a:srgbClr val="DADBF1"/>
          </a:solidFill>
          <a:ln/>
        </p:spPr>
      </p:sp>
      <p:sp>
        <p:nvSpPr>
          <p:cNvPr id="3" name="Text 1"/>
          <p:cNvSpPr/>
          <p:nvPr/>
        </p:nvSpPr>
        <p:spPr>
          <a:xfrm>
            <a:off x="502920" y="384048"/>
            <a:ext cx="2011680" cy="274320"/>
          </a:xfrm>
          <a:prstGeom prst="rect">
            <a:avLst/>
          </a:prstGeom>
          <a:noFill/>
          <a:ln/>
        </p:spPr>
        <p:txBody>
          <a:bodyPr wrap="square" lIns="0" tIns="0" rIns="0" bIns="0" rtlCol="0" anchor="ctr"/>
          <a:lstStyle/>
          <a:p>
            <a:pPr marL="0" indent="0" algn="ctr">
              <a:buNone/>
            </a:pPr>
            <a:r>
              <a:rPr lang="en-US" sz="1600" b="1" kern="0" spc="50" dirty="0">
                <a:solidFill>
                  <a:srgbClr val="4950BC"/>
                </a:solidFill>
                <a:latin typeface="Calibri" pitchFamily="34" charset="0"/>
                <a:ea typeface="Calibri" pitchFamily="34" charset="-122"/>
                <a:cs typeface="Calibri" pitchFamily="34" charset="-120"/>
              </a:rPr>
              <a:t>PROJECT BRIEF</a:t>
            </a:r>
            <a:endParaRPr lang="en-US" sz="1600"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CampusLib — What You're Building</a:t>
            </a:r>
            <a:endParaRPr lang="en-US" sz="1600"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Function names and what each should do. You write every body yourself — no starter code today.</a:t>
            </a:r>
            <a:endParaRPr lang="en-US" sz="1600" dirty="0"/>
          </a:p>
        </p:txBody>
      </p:sp>
      <p:sp>
        <p:nvSpPr>
          <p:cNvPr id="6" name="Text 4"/>
          <p:cNvSpPr/>
          <p:nvPr/>
        </p:nvSpPr>
        <p:spPr>
          <a:xfrm>
            <a:off x="502920" y="1691640"/>
            <a:ext cx="2743200" cy="274320"/>
          </a:xfrm>
          <a:prstGeom prst="rect">
            <a:avLst/>
          </a:prstGeom>
          <a:noFill/>
          <a:ln/>
        </p:spPr>
        <p:txBody>
          <a:bodyPr wrap="square" lIns="0" tIns="0" rIns="0" bIns="0" rtlCol="0" anchor="ctr"/>
          <a:lstStyle/>
          <a:p>
            <a:pPr marL="0" indent="0">
              <a:buNone/>
            </a:pPr>
            <a:r>
              <a:rPr lang="en-US" sz="1600" b="1" dirty="0">
                <a:solidFill>
                  <a:srgbClr val="4950BC"/>
                </a:solidFill>
                <a:latin typeface="Calibri" pitchFamily="34" charset="0"/>
                <a:ea typeface="Calibri" pitchFamily="34" charset="-122"/>
                <a:cs typeface="Calibri" pitchFamily="34" charset="-120"/>
              </a:rPr>
              <a:t>FILE</a:t>
            </a:r>
            <a:endParaRPr lang="en-US" sz="1600" dirty="0"/>
          </a:p>
        </p:txBody>
      </p:sp>
      <p:sp>
        <p:nvSpPr>
          <p:cNvPr id="7" name="Text 5"/>
          <p:cNvSpPr/>
          <p:nvPr/>
        </p:nvSpPr>
        <p:spPr>
          <a:xfrm>
            <a:off x="3154680" y="1691640"/>
            <a:ext cx="2743200" cy="274320"/>
          </a:xfrm>
          <a:prstGeom prst="rect">
            <a:avLst/>
          </a:prstGeom>
          <a:noFill/>
          <a:ln/>
        </p:spPr>
        <p:txBody>
          <a:bodyPr wrap="square" lIns="0" tIns="0" rIns="0" bIns="0" rtlCol="0" anchor="ctr"/>
          <a:lstStyle/>
          <a:p>
            <a:pPr marL="0" indent="0">
              <a:buNone/>
            </a:pPr>
            <a:r>
              <a:rPr lang="en-US" sz="1600" b="1" dirty="0">
                <a:solidFill>
                  <a:srgbClr val="4950BC"/>
                </a:solidFill>
                <a:latin typeface="Calibri" pitchFamily="34" charset="0"/>
                <a:ea typeface="Calibri" pitchFamily="34" charset="-122"/>
                <a:cs typeface="Calibri" pitchFamily="34" charset="-120"/>
              </a:rPr>
              <a:t>FUNCTION</a:t>
            </a:r>
            <a:endParaRPr lang="en-US" sz="1600" dirty="0"/>
          </a:p>
        </p:txBody>
      </p:sp>
      <p:sp>
        <p:nvSpPr>
          <p:cNvPr id="8" name="Text 6"/>
          <p:cNvSpPr/>
          <p:nvPr/>
        </p:nvSpPr>
        <p:spPr>
          <a:xfrm>
            <a:off x="5989320" y="1691640"/>
            <a:ext cx="5394960" cy="274320"/>
          </a:xfrm>
          <a:prstGeom prst="rect">
            <a:avLst/>
          </a:prstGeom>
          <a:noFill/>
          <a:ln/>
        </p:spPr>
        <p:txBody>
          <a:bodyPr wrap="square" lIns="0" tIns="0" rIns="0" bIns="0" rtlCol="0" anchor="ctr"/>
          <a:lstStyle/>
          <a:p>
            <a:pPr marL="0" indent="0">
              <a:buNone/>
            </a:pPr>
            <a:r>
              <a:rPr lang="en-US" sz="1600" b="1" dirty="0">
                <a:solidFill>
                  <a:srgbClr val="4950BC"/>
                </a:solidFill>
                <a:latin typeface="Calibri" pitchFamily="34" charset="0"/>
                <a:ea typeface="Calibri" pitchFamily="34" charset="-122"/>
                <a:cs typeface="Calibri" pitchFamily="34" charset="-120"/>
              </a:rPr>
              <a:t>WHAT IT SHOULD DO</a:t>
            </a:r>
            <a:endParaRPr lang="en-US" sz="1600" dirty="0"/>
          </a:p>
        </p:txBody>
      </p:sp>
      <p:sp>
        <p:nvSpPr>
          <p:cNvPr id="9" name="Shape 7"/>
          <p:cNvSpPr/>
          <p:nvPr/>
        </p:nvSpPr>
        <p:spPr>
          <a:xfrm>
            <a:off x="502920" y="1984248"/>
            <a:ext cx="11183112" cy="0"/>
          </a:xfrm>
          <a:prstGeom prst="line">
            <a:avLst/>
          </a:prstGeom>
          <a:noFill/>
          <a:ln w="12700">
            <a:solidFill>
              <a:srgbClr val="D9D9E3"/>
            </a:solidFill>
            <a:prstDash val="solid"/>
          </a:ln>
        </p:spPr>
      </p:sp>
      <p:sp>
        <p:nvSpPr>
          <p:cNvPr id="10" name="Shape 8"/>
          <p:cNvSpPr/>
          <p:nvPr/>
        </p:nvSpPr>
        <p:spPr>
          <a:xfrm>
            <a:off x="502920" y="2048256"/>
            <a:ext cx="11183112" cy="566928"/>
          </a:xfrm>
          <a:prstGeom prst="rect">
            <a:avLst/>
          </a:prstGeom>
          <a:solidFill>
            <a:srgbClr val="F5F5F7"/>
          </a:solidFill>
          <a:ln/>
        </p:spPr>
      </p:sp>
      <p:sp>
        <p:nvSpPr>
          <p:cNvPr id="11" name="Text 9"/>
          <p:cNvSpPr/>
          <p:nvPr/>
        </p:nvSpPr>
        <p:spPr>
          <a:xfrm>
            <a:off x="640080" y="2048256"/>
            <a:ext cx="2468880" cy="566928"/>
          </a:xfrm>
          <a:prstGeom prst="rect">
            <a:avLst/>
          </a:prstGeom>
          <a:noFill/>
          <a:ln/>
        </p:spPr>
        <p:txBody>
          <a:bodyPr wrap="square" lIns="0" tIns="0" rIns="0" bIns="0" rtlCol="0" anchor="ctr"/>
          <a:lstStyle/>
          <a:p>
            <a:pPr marL="0" indent="0">
              <a:buNone/>
            </a:pPr>
            <a:r>
              <a:rPr lang="en-US" sz="1600" dirty="0">
                <a:solidFill>
                  <a:srgbClr val="6B6B6B"/>
                </a:solidFill>
                <a:latin typeface="Consolas" pitchFamily="34" charset="0"/>
                <a:ea typeface="Consolas" pitchFamily="34" charset="-122"/>
                <a:cs typeface="Consolas" pitchFamily="34" charset="-120"/>
              </a:rPr>
              <a:t>campus_lib.py</a:t>
            </a:r>
            <a:endParaRPr lang="en-US" sz="1600" dirty="0"/>
          </a:p>
        </p:txBody>
      </p:sp>
      <p:sp>
        <p:nvSpPr>
          <p:cNvPr id="12" name="Text 10"/>
          <p:cNvSpPr/>
          <p:nvPr/>
        </p:nvSpPr>
        <p:spPr>
          <a:xfrm>
            <a:off x="3154680" y="2048256"/>
            <a:ext cx="2743200" cy="566928"/>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add_book(title, author)</a:t>
            </a:r>
            <a:endParaRPr lang="en-US" sz="1600" dirty="0"/>
          </a:p>
        </p:txBody>
      </p:sp>
      <p:sp>
        <p:nvSpPr>
          <p:cNvPr id="13" name="Text 11"/>
          <p:cNvSpPr/>
          <p:nvPr/>
        </p:nvSpPr>
        <p:spPr>
          <a:xfrm>
            <a:off x="5989320" y="2048256"/>
            <a:ext cx="5394960" cy="566928"/>
          </a:xfrm>
          <a:prstGeom prst="rect">
            <a:avLst/>
          </a:prstGeom>
          <a:noFill/>
          <a:ln/>
        </p:spPr>
        <p:txBody>
          <a:bodyPr wrap="square" lIns="0" tIns="0" rIns="0" bIns="0" rtlCol="0" anchor="ctr"/>
          <a:lstStyle/>
          <a:p>
            <a:pPr marL="0" indent="0">
              <a:buNone/>
            </a:pPr>
            <a:r>
              <a:rPr lang="en-US" sz="1600" dirty="0">
                <a:solidFill>
                  <a:srgbClr val="272525"/>
                </a:solidFill>
                <a:latin typeface="Calibri" pitchFamily="34" charset="0"/>
                <a:ea typeface="Calibri" pitchFamily="34" charset="-122"/>
                <a:cs typeface="Calibri" pitchFamily="34" charset="-120"/>
              </a:rPr>
              <a:t>Add a new book to your catalog</a:t>
            </a:r>
            <a:endParaRPr lang="en-US" sz="1600" dirty="0"/>
          </a:p>
        </p:txBody>
      </p:sp>
      <p:sp>
        <p:nvSpPr>
          <p:cNvPr id="14" name="Text 12"/>
          <p:cNvSpPr/>
          <p:nvPr/>
        </p:nvSpPr>
        <p:spPr>
          <a:xfrm>
            <a:off x="640080" y="2615184"/>
            <a:ext cx="2468880" cy="566928"/>
          </a:xfrm>
          <a:prstGeom prst="rect">
            <a:avLst/>
          </a:prstGeom>
          <a:noFill/>
          <a:ln/>
        </p:spPr>
        <p:txBody>
          <a:bodyPr wrap="square" lIns="0" tIns="0" rIns="0" bIns="0" rtlCol="0" anchor="ctr"/>
          <a:lstStyle/>
          <a:p>
            <a:pPr marL="0" indent="0">
              <a:buNone/>
            </a:pPr>
            <a:r>
              <a:rPr lang="en-US" sz="1600" dirty="0">
                <a:solidFill>
                  <a:srgbClr val="6B6B6B"/>
                </a:solidFill>
                <a:latin typeface="Consolas" pitchFamily="34" charset="0"/>
                <a:ea typeface="Consolas" pitchFamily="34" charset="-122"/>
                <a:cs typeface="Consolas" pitchFamily="34" charset="-120"/>
              </a:rPr>
              <a:t>campus_lib.py</a:t>
            </a:r>
            <a:endParaRPr lang="en-US" sz="1600" dirty="0"/>
          </a:p>
        </p:txBody>
      </p:sp>
      <p:sp>
        <p:nvSpPr>
          <p:cNvPr id="15" name="Text 13"/>
          <p:cNvSpPr/>
          <p:nvPr/>
        </p:nvSpPr>
        <p:spPr>
          <a:xfrm>
            <a:off x="3154680" y="2615184"/>
            <a:ext cx="2743200" cy="566928"/>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list_books()</a:t>
            </a:r>
            <a:endParaRPr lang="en-US" sz="1600" dirty="0"/>
          </a:p>
        </p:txBody>
      </p:sp>
      <p:sp>
        <p:nvSpPr>
          <p:cNvPr id="16" name="Text 14"/>
          <p:cNvSpPr/>
          <p:nvPr/>
        </p:nvSpPr>
        <p:spPr>
          <a:xfrm>
            <a:off x="5989320" y="2615184"/>
            <a:ext cx="5394960" cy="566928"/>
          </a:xfrm>
          <a:prstGeom prst="rect">
            <a:avLst/>
          </a:prstGeom>
          <a:noFill/>
          <a:ln/>
        </p:spPr>
        <p:txBody>
          <a:bodyPr wrap="square" lIns="0" tIns="0" rIns="0" bIns="0" rtlCol="0" anchor="ctr"/>
          <a:lstStyle/>
          <a:p>
            <a:pPr marL="0" indent="0">
              <a:buNone/>
            </a:pPr>
            <a:r>
              <a:rPr lang="en-US" sz="1600" dirty="0">
                <a:solidFill>
                  <a:srgbClr val="272525"/>
                </a:solidFill>
                <a:latin typeface="Calibri" pitchFamily="34" charset="0"/>
                <a:ea typeface="Calibri" pitchFamily="34" charset="-122"/>
                <a:cs typeface="Calibri" pitchFamily="34" charset="-120"/>
              </a:rPr>
              <a:t>Print every book and whether it's available</a:t>
            </a:r>
            <a:endParaRPr lang="en-US" sz="1600" dirty="0"/>
          </a:p>
        </p:txBody>
      </p:sp>
      <p:sp>
        <p:nvSpPr>
          <p:cNvPr id="17" name="Shape 15"/>
          <p:cNvSpPr/>
          <p:nvPr/>
        </p:nvSpPr>
        <p:spPr>
          <a:xfrm>
            <a:off x="502920" y="3182112"/>
            <a:ext cx="11183112" cy="566928"/>
          </a:xfrm>
          <a:prstGeom prst="rect">
            <a:avLst/>
          </a:prstGeom>
          <a:solidFill>
            <a:srgbClr val="F5F5F7"/>
          </a:solidFill>
          <a:ln/>
        </p:spPr>
      </p:sp>
      <p:sp>
        <p:nvSpPr>
          <p:cNvPr id="18" name="Text 16"/>
          <p:cNvSpPr/>
          <p:nvPr/>
        </p:nvSpPr>
        <p:spPr>
          <a:xfrm>
            <a:off x="640080" y="3182112"/>
            <a:ext cx="2468880" cy="566928"/>
          </a:xfrm>
          <a:prstGeom prst="rect">
            <a:avLst/>
          </a:prstGeom>
          <a:noFill/>
          <a:ln/>
        </p:spPr>
        <p:txBody>
          <a:bodyPr wrap="square" lIns="0" tIns="0" rIns="0" bIns="0" rtlCol="0" anchor="ctr"/>
          <a:lstStyle/>
          <a:p>
            <a:pPr marL="0" indent="0">
              <a:buNone/>
            </a:pPr>
            <a:r>
              <a:rPr lang="en-US" sz="1600" dirty="0">
                <a:solidFill>
                  <a:srgbClr val="6B6B6B"/>
                </a:solidFill>
                <a:latin typeface="Consolas" pitchFamily="34" charset="0"/>
                <a:ea typeface="Consolas" pitchFamily="34" charset="-122"/>
                <a:cs typeface="Consolas" pitchFamily="34" charset="-120"/>
              </a:rPr>
              <a:t>campus_lib.py</a:t>
            </a:r>
            <a:endParaRPr lang="en-US" sz="1600" dirty="0"/>
          </a:p>
        </p:txBody>
      </p:sp>
      <p:sp>
        <p:nvSpPr>
          <p:cNvPr id="19" name="Text 17"/>
          <p:cNvSpPr/>
          <p:nvPr/>
        </p:nvSpPr>
        <p:spPr>
          <a:xfrm>
            <a:off x="3154680" y="3182112"/>
            <a:ext cx="2743200" cy="566928"/>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borrow_book(title)</a:t>
            </a:r>
            <a:endParaRPr lang="en-US" sz="1600" dirty="0"/>
          </a:p>
        </p:txBody>
      </p:sp>
      <p:sp>
        <p:nvSpPr>
          <p:cNvPr id="20" name="Text 18"/>
          <p:cNvSpPr/>
          <p:nvPr/>
        </p:nvSpPr>
        <p:spPr>
          <a:xfrm>
            <a:off x="5989320" y="3182112"/>
            <a:ext cx="5394960" cy="566928"/>
          </a:xfrm>
          <a:prstGeom prst="rect">
            <a:avLst/>
          </a:prstGeom>
          <a:noFill/>
          <a:ln/>
        </p:spPr>
        <p:txBody>
          <a:bodyPr wrap="square" lIns="0" tIns="0" rIns="0" bIns="0" rtlCol="0" anchor="ctr"/>
          <a:lstStyle/>
          <a:p>
            <a:pPr marL="0" indent="0">
              <a:buNone/>
            </a:pPr>
            <a:r>
              <a:rPr lang="en-US" sz="1600" dirty="0">
                <a:solidFill>
                  <a:srgbClr val="272525"/>
                </a:solidFill>
                <a:latin typeface="Calibri" pitchFamily="34" charset="0"/>
                <a:ea typeface="Calibri" pitchFamily="34" charset="-122"/>
                <a:cs typeface="Calibri" pitchFamily="34" charset="-120"/>
              </a:rPr>
              <a:t>Mark a book unavailable + log the action</a:t>
            </a:r>
            <a:endParaRPr lang="en-US" sz="1600" dirty="0"/>
          </a:p>
        </p:txBody>
      </p:sp>
      <p:sp>
        <p:nvSpPr>
          <p:cNvPr id="21" name="Text 19"/>
          <p:cNvSpPr/>
          <p:nvPr/>
        </p:nvSpPr>
        <p:spPr>
          <a:xfrm>
            <a:off x="640080" y="3749040"/>
            <a:ext cx="2468880" cy="566928"/>
          </a:xfrm>
          <a:prstGeom prst="rect">
            <a:avLst/>
          </a:prstGeom>
          <a:noFill/>
          <a:ln/>
        </p:spPr>
        <p:txBody>
          <a:bodyPr wrap="square" lIns="0" tIns="0" rIns="0" bIns="0" rtlCol="0" anchor="ctr"/>
          <a:lstStyle/>
          <a:p>
            <a:pPr marL="0" indent="0">
              <a:buNone/>
            </a:pPr>
            <a:r>
              <a:rPr lang="en-US" sz="1600" dirty="0">
                <a:solidFill>
                  <a:srgbClr val="6B6B6B"/>
                </a:solidFill>
                <a:latin typeface="Consolas" pitchFamily="34" charset="0"/>
                <a:ea typeface="Consolas" pitchFamily="34" charset="-122"/>
                <a:cs typeface="Consolas" pitchFamily="34" charset="-120"/>
              </a:rPr>
              <a:t>campus_lib.py</a:t>
            </a:r>
            <a:endParaRPr lang="en-US" sz="1600" dirty="0"/>
          </a:p>
        </p:txBody>
      </p:sp>
      <p:sp>
        <p:nvSpPr>
          <p:cNvPr id="22" name="Text 20"/>
          <p:cNvSpPr/>
          <p:nvPr/>
        </p:nvSpPr>
        <p:spPr>
          <a:xfrm>
            <a:off x="3154680" y="3749040"/>
            <a:ext cx="2743200" cy="566928"/>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return_book(title)</a:t>
            </a:r>
            <a:endParaRPr lang="en-US" sz="1600" dirty="0"/>
          </a:p>
        </p:txBody>
      </p:sp>
      <p:sp>
        <p:nvSpPr>
          <p:cNvPr id="23" name="Text 21"/>
          <p:cNvSpPr/>
          <p:nvPr/>
        </p:nvSpPr>
        <p:spPr>
          <a:xfrm>
            <a:off x="5989320" y="3749040"/>
            <a:ext cx="5394960" cy="566928"/>
          </a:xfrm>
          <a:prstGeom prst="rect">
            <a:avLst/>
          </a:prstGeom>
          <a:noFill/>
          <a:ln/>
        </p:spPr>
        <p:txBody>
          <a:bodyPr wrap="square" lIns="0" tIns="0" rIns="0" bIns="0" rtlCol="0" anchor="ctr"/>
          <a:lstStyle/>
          <a:p>
            <a:pPr marL="0" indent="0">
              <a:buNone/>
            </a:pPr>
            <a:r>
              <a:rPr lang="en-US" sz="1600" dirty="0">
                <a:solidFill>
                  <a:srgbClr val="272525"/>
                </a:solidFill>
                <a:latin typeface="Calibri" pitchFamily="34" charset="0"/>
                <a:ea typeface="Calibri" pitchFamily="34" charset="-122"/>
                <a:cs typeface="Calibri" pitchFamily="34" charset="-120"/>
              </a:rPr>
              <a:t>Mark a book available again + log the action</a:t>
            </a:r>
            <a:endParaRPr lang="en-US" sz="1600" dirty="0"/>
          </a:p>
        </p:txBody>
      </p:sp>
      <p:sp>
        <p:nvSpPr>
          <p:cNvPr id="24" name="Shape 22"/>
          <p:cNvSpPr/>
          <p:nvPr/>
        </p:nvSpPr>
        <p:spPr>
          <a:xfrm>
            <a:off x="502920" y="4315968"/>
            <a:ext cx="11183112" cy="566928"/>
          </a:xfrm>
          <a:prstGeom prst="rect">
            <a:avLst/>
          </a:prstGeom>
          <a:solidFill>
            <a:srgbClr val="F5F5F7"/>
          </a:solidFill>
          <a:ln/>
        </p:spPr>
      </p:sp>
      <p:sp>
        <p:nvSpPr>
          <p:cNvPr id="25" name="Text 23"/>
          <p:cNvSpPr/>
          <p:nvPr/>
        </p:nvSpPr>
        <p:spPr>
          <a:xfrm>
            <a:off x="640080" y="4315968"/>
            <a:ext cx="2468880" cy="566928"/>
          </a:xfrm>
          <a:prstGeom prst="rect">
            <a:avLst/>
          </a:prstGeom>
          <a:noFill/>
          <a:ln/>
        </p:spPr>
        <p:txBody>
          <a:bodyPr wrap="square" lIns="0" tIns="0" rIns="0" bIns="0" rtlCol="0" anchor="ctr"/>
          <a:lstStyle/>
          <a:p>
            <a:pPr marL="0" indent="0">
              <a:buNone/>
            </a:pPr>
            <a:r>
              <a:rPr lang="en-US" sz="1600" dirty="0">
                <a:solidFill>
                  <a:srgbClr val="6B6B6B"/>
                </a:solidFill>
                <a:latin typeface="Consolas" pitchFamily="34" charset="0"/>
                <a:ea typeface="Consolas" pitchFamily="34" charset="-122"/>
                <a:cs typeface="Consolas" pitchFamily="34" charset="-120"/>
              </a:rPr>
              <a:t>library_utils.py</a:t>
            </a:r>
            <a:endParaRPr lang="en-US" sz="1600" dirty="0"/>
          </a:p>
        </p:txBody>
      </p:sp>
      <p:sp>
        <p:nvSpPr>
          <p:cNvPr id="26" name="Text 24"/>
          <p:cNvSpPr/>
          <p:nvPr/>
        </p:nvSpPr>
        <p:spPr>
          <a:xfrm>
            <a:off x="3154680" y="4315968"/>
            <a:ext cx="2743200" cy="566928"/>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your choice (2+)</a:t>
            </a:r>
            <a:endParaRPr lang="en-US" sz="1600" dirty="0"/>
          </a:p>
        </p:txBody>
      </p:sp>
      <p:sp>
        <p:nvSpPr>
          <p:cNvPr id="27" name="Text 25"/>
          <p:cNvSpPr/>
          <p:nvPr/>
        </p:nvSpPr>
        <p:spPr>
          <a:xfrm>
            <a:off x="5989320" y="4315968"/>
            <a:ext cx="5394960" cy="566928"/>
          </a:xfrm>
          <a:prstGeom prst="rect">
            <a:avLst/>
          </a:prstGeom>
          <a:noFill/>
          <a:ln/>
        </p:spPr>
        <p:txBody>
          <a:bodyPr wrap="square" lIns="0" tIns="0" rIns="0" bIns="0" rtlCol="0" anchor="ctr"/>
          <a:lstStyle/>
          <a:p>
            <a:pPr marL="0" indent="0">
              <a:buNone/>
            </a:pPr>
            <a:r>
              <a:rPr lang="en-US" sz="1600" dirty="0">
                <a:solidFill>
                  <a:srgbClr val="272525"/>
                </a:solidFill>
                <a:latin typeface="Calibri" pitchFamily="34" charset="0"/>
                <a:ea typeface="Calibri" pitchFamily="34" charset="-122"/>
                <a:cs typeface="Calibri" pitchFamily="34" charset="-120"/>
              </a:rPr>
              <a:t>Reusable helpers imported into campus_lib.py</a:t>
            </a:r>
            <a:endParaRPr lang="en-US" sz="1600" dirty="0"/>
          </a:p>
        </p:txBody>
      </p:sp>
      <p:sp>
        <p:nvSpPr>
          <p:cNvPr id="28" name="Text 26"/>
          <p:cNvSpPr/>
          <p:nvPr/>
        </p:nvSpPr>
        <p:spPr>
          <a:xfrm>
            <a:off x="640080" y="4882896"/>
            <a:ext cx="2468880" cy="566928"/>
          </a:xfrm>
          <a:prstGeom prst="rect">
            <a:avLst/>
          </a:prstGeom>
          <a:noFill/>
          <a:ln/>
        </p:spPr>
        <p:txBody>
          <a:bodyPr wrap="square" lIns="0" tIns="0" rIns="0" bIns="0" rtlCol="0" anchor="ctr"/>
          <a:lstStyle/>
          <a:p>
            <a:pPr marL="0" indent="0">
              <a:buNone/>
            </a:pPr>
            <a:r>
              <a:rPr lang="en-US" sz="1600" dirty="0">
                <a:solidFill>
                  <a:srgbClr val="6B6B6B"/>
                </a:solidFill>
                <a:latin typeface="Consolas" pitchFamily="34" charset="0"/>
                <a:ea typeface="Consolas" pitchFamily="34" charset="-122"/>
                <a:cs typeface="Consolas" pitchFamily="34" charset="-120"/>
              </a:rPr>
              <a:t>borrow_log.txt</a:t>
            </a:r>
            <a:endParaRPr lang="en-US" sz="1600" dirty="0"/>
          </a:p>
        </p:txBody>
      </p:sp>
      <p:sp>
        <p:nvSpPr>
          <p:cNvPr id="29" name="Text 27"/>
          <p:cNvSpPr/>
          <p:nvPr/>
        </p:nvSpPr>
        <p:spPr>
          <a:xfrm>
            <a:off x="3154680" y="4882896"/>
            <a:ext cx="2743200" cy="566928"/>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a:t>
            </a:r>
            <a:endParaRPr lang="en-US" sz="1600" dirty="0"/>
          </a:p>
        </p:txBody>
      </p:sp>
      <p:sp>
        <p:nvSpPr>
          <p:cNvPr id="30" name="Text 28"/>
          <p:cNvSpPr/>
          <p:nvPr/>
        </p:nvSpPr>
        <p:spPr>
          <a:xfrm>
            <a:off x="5989320" y="4882896"/>
            <a:ext cx="5394960" cy="566928"/>
          </a:xfrm>
          <a:prstGeom prst="rect">
            <a:avLst/>
          </a:prstGeom>
          <a:noFill/>
          <a:ln/>
        </p:spPr>
        <p:txBody>
          <a:bodyPr wrap="square" lIns="0" tIns="0" rIns="0" bIns="0" rtlCol="0" anchor="ctr"/>
          <a:lstStyle/>
          <a:p>
            <a:pPr marL="0" indent="0">
              <a:buNone/>
            </a:pPr>
            <a:r>
              <a:rPr lang="en-US" sz="1600" dirty="0">
                <a:solidFill>
                  <a:srgbClr val="272525"/>
                </a:solidFill>
                <a:latin typeface="Calibri" pitchFamily="34" charset="0"/>
                <a:ea typeface="Calibri" pitchFamily="34" charset="-122"/>
                <a:cs typeface="Calibri" pitchFamily="34" charset="-120"/>
              </a:rPr>
              <a:t>Every borrow/return, appended with a timestamp</a:t>
            </a:r>
            <a:endParaRPr lang="en-US" sz="1600" dirty="0"/>
          </a:p>
        </p:txBody>
      </p:sp>
      <p:sp>
        <p:nvSpPr>
          <p:cNvPr id="31" name="Shape 29"/>
          <p:cNvSpPr/>
          <p:nvPr/>
        </p:nvSpPr>
        <p:spPr>
          <a:xfrm>
            <a:off x="502920" y="5641848"/>
            <a:ext cx="11183112" cy="548640"/>
          </a:xfrm>
          <a:prstGeom prst="roundRect">
            <a:avLst>
              <a:gd name="adj" fmla="val 10000"/>
            </a:avLst>
          </a:prstGeom>
          <a:solidFill>
            <a:srgbClr val="FCEEDA"/>
          </a:solidFill>
          <a:ln/>
        </p:spPr>
      </p:sp>
      <p:sp>
        <p:nvSpPr>
          <p:cNvPr id="32" name="Text 30"/>
          <p:cNvSpPr/>
          <p:nvPr/>
        </p:nvSpPr>
        <p:spPr>
          <a:xfrm>
            <a:off x="731520" y="5641848"/>
            <a:ext cx="10725912" cy="548640"/>
          </a:xfrm>
          <a:prstGeom prst="rect">
            <a:avLst/>
          </a:prstGeom>
          <a:noFill/>
          <a:ln/>
        </p:spPr>
        <p:txBody>
          <a:bodyPr wrap="square" lIns="0" tIns="0" rIns="0" bIns="0" rtlCol="0" anchor="ctr"/>
          <a:lstStyle/>
          <a:p>
            <a:pPr marL="0" indent="0">
              <a:buNone/>
            </a:pPr>
            <a:r>
              <a:rPr lang="en-US" sz="1600" i="1" dirty="0">
                <a:solidFill>
                  <a:srgbClr val="E8912B"/>
                </a:solidFill>
                <a:latin typeface="Calibri" pitchFamily="34" charset="0"/>
                <a:ea typeface="Calibri" pitchFamily="34" charset="-122"/>
                <a:cs typeface="Calibri" pitchFamily="34" charset="-120"/>
              </a:rPr>
              <a:t>No full solution is shown in this deck on purpose — tonight's tasks walk you through building each piece yourself.</a:t>
            </a:r>
            <a:endParaRPr lang="en-US" sz="1600" dirty="0"/>
          </a:p>
        </p:txBody>
      </p:sp>
      <p:sp>
        <p:nvSpPr>
          <p:cNvPr id="33" name="Text 31"/>
          <p:cNvSpPr/>
          <p:nvPr/>
        </p:nvSpPr>
        <p:spPr>
          <a:xfrm>
            <a:off x="502920" y="6528816"/>
            <a:ext cx="8229600" cy="237744"/>
          </a:xfrm>
          <a:prstGeom prst="rect">
            <a:avLst/>
          </a:prstGeom>
          <a:noFill/>
          <a:ln/>
        </p:spPr>
        <p:txBody>
          <a:bodyPr wrap="square" lIns="0" tIns="0" rIns="0" bIns="0" rtlCol="0" anchor="ctr"/>
          <a:lstStyle/>
          <a:p>
            <a:pPr marL="0" indent="0">
              <a:buNone/>
            </a:pPr>
            <a:r>
              <a:rPr lang="en-US" sz="105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3017520" cy="274320"/>
          </a:xfrm>
          <a:prstGeom prst="roundRect">
            <a:avLst>
              <a:gd name="adj" fmla="val 20000"/>
            </a:avLst>
          </a:prstGeom>
          <a:solidFill>
            <a:srgbClr val="E8912B"/>
          </a:solidFill>
          <a:ln/>
        </p:spPr>
      </p:sp>
      <p:sp>
        <p:nvSpPr>
          <p:cNvPr id="3" name="Text 1"/>
          <p:cNvSpPr/>
          <p:nvPr/>
        </p:nvSpPr>
        <p:spPr>
          <a:xfrm>
            <a:off x="502920" y="384048"/>
            <a:ext cx="3017520" cy="27432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HOMEWORK · DUE BEFORE DAY 4</a:t>
            </a:r>
            <a:endParaRPr lang="en-US" sz="1600"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Tasks for Tonight: Build CampusLib</a:t>
            </a:r>
            <a:endParaRPr lang="en-US" sz="1600" dirty="0"/>
          </a:p>
        </p:txBody>
      </p:sp>
      <p:sp>
        <p:nvSpPr>
          <p:cNvPr id="5" name="Text 3"/>
          <p:cNvSpPr/>
          <p:nvPr/>
        </p:nvSpPr>
        <p:spPr>
          <a:xfrm>
            <a:off x="502920" y="1170432"/>
            <a:ext cx="11183112" cy="32004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Work through these in order. Each one builds on the last — don't skip ahead.</a:t>
            </a:r>
            <a:endParaRPr lang="en-US" sz="1600" dirty="0"/>
          </a:p>
        </p:txBody>
      </p:sp>
      <p:sp>
        <p:nvSpPr>
          <p:cNvPr id="6" name="Shape 4"/>
          <p:cNvSpPr/>
          <p:nvPr/>
        </p:nvSpPr>
        <p:spPr>
          <a:xfrm>
            <a:off x="502920" y="1783080"/>
            <a:ext cx="11183112" cy="713232"/>
          </a:xfrm>
          <a:prstGeom prst="roundRect">
            <a:avLst>
              <a:gd name="adj" fmla="val 7692"/>
            </a:avLst>
          </a:prstGeom>
          <a:solidFill>
            <a:srgbClr val="F5F5F7"/>
          </a:solidFill>
          <a:ln/>
        </p:spPr>
      </p:sp>
      <p:sp>
        <p:nvSpPr>
          <p:cNvPr id="7" name="Shape 5"/>
          <p:cNvSpPr/>
          <p:nvPr/>
        </p:nvSpPr>
        <p:spPr>
          <a:xfrm>
            <a:off x="685800" y="1929384"/>
            <a:ext cx="420624" cy="420624"/>
          </a:xfrm>
          <a:prstGeom prst="ellipse">
            <a:avLst/>
          </a:prstGeom>
          <a:solidFill>
            <a:srgbClr val="4950BC"/>
          </a:solidFill>
          <a:ln/>
        </p:spPr>
      </p:sp>
      <p:sp>
        <p:nvSpPr>
          <p:cNvPr id="8" name="Text 6"/>
          <p:cNvSpPr/>
          <p:nvPr/>
        </p:nvSpPr>
        <p:spPr>
          <a:xfrm>
            <a:off x="685800" y="192938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280160" y="1837944"/>
            <a:ext cx="2743200" cy="603504"/>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Book Catalog</a:t>
            </a:r>
            <a:endParaRPr lang="en-US" sz="1600" dirty="0"/>
          </a:p>
        </p:txBody>
      </p:sp>
      <p:sp>
        <p:nvSpPr>
          <p:cNvPr id="10" name="Text 8"/>
          <p:cNvSpPr/>
          <p:nvPr/>
        </p:nvSpPr>
        <p:spPr>
          <a:xfrm>
            <a:off x="4160520" y="1837944"/>
            <a:ext cx="7955280" cy="603504"/>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In campus_lib.py, write add_book(title, author) and list_books(), storing books as a list of dictionaries.</a:t>
            </a:r>
            <a:endParaRPr lang="en-US" sz="1600" dirty="0"/>
          </a:p>
        </p:txBody>
      </p:sp>
      <p:sp>
        <p:nvSpPr>
          <p:cNvPr id="11" name="Shape 9"/>
          <p:cNvSpPr/>
          <p:nvPr/>
        </p:nvSpPr>
        <p:spPr>
          <a:xfrm>
            <a:off x="502920" y="2606040"/>
            <a:ext cx="11183112" cy="713232"/>
          </a:xfrm>
          <a:prstGeom prst="roundRect">
            <a:avLst>
              <a:gd name="adj" fmla="val 7692"/>
            </a:avLst>
          </a:prstGeom>
          <a:solidFill>
            <a:srgbClr val="FFFFFF"/>
          </a:solidFill>
          <a:ln/>
        </p:spPr>
      </p:sp>
      <p:sp>
        <p:nvSpPr>
          <p:cNvPr id="12" name="Shape 10"/>
          <p:cNvSpPr/>
          <p:nvPr/>
        </p:nvSpPr>
        <p:spPr>
          <a:xfrm>
            <a:off x="685800" y="2752344"/>
            <a:ext cx="420624" cy="420624"/>
          </a:xfrm>
          <a:prstGeom prst="ellipse">
            <a:avLst/>
          </a:prstGeom>
          <a:solidFill>
            <a:srgbClr val="4950BC"/>
          </a:solidFill>
          <a:ln/>
        </p:spPr>
      </p:sp>
      <p:sp>
        <p:nvSpPr>
          <p:cNvPr id="13" name="Text 11"/>
          <p:cNvSpPr/>
          <p:nvPr/>
        </p:nvSpPr>
        <p:spPr>
          <a:xfrm>
            <a:off x="685800" y="275234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280160" y="2660904"/>
            <a:ext cx="2743200" cy="603504"/>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Borrow &amp; Return Logic</a:t>
            </a:r>
            <a:endParaRPr lang="en-US" sz="1600" dirty="0"/>
          </a:p>
        </p:txBody>
      </p:sp>
      <p:sp>
        <p:nvSpPr>
          <p:cNvPr id="15" name="Text 13"/>
          <p:cNvSpPr/>
          <p:nvPr/>
        </p:nvSpPr>
        <p:spPr>
          <a:xfrm>
            <a:off x="4160520" y="2660904"/>
            <a:ext cx="7955280" cy="603504"/>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Write borrow_book(title) and return_book(title) that update each book's available status.</a:t>
            </a:r>
            <a:endParaRPr lang="en-US" sz="1600" dirty="0"/>
          </a:p>
        </p:txBody>
      </p:sp>
      <p:sp>
        <p:nvSpPr>
          <p:cNvPr id="16" name="Shape 14"/>
          <p:cNvSpPr/>
          <p:nvPr/>
        </p:nvSpPr>
        <p:spPr>
          <a:xfrm>
            <a:off x="502920" y="3429000"/>
            <a:ext cx="11183112" cy="713232"/>
          </a:xfrm>
          <a:prstGeom prst="roundRect">
            <a:avLst>
              <a:gd name="adj" fmla="val 7692"/>
            </a:avLst>
          </a:prstGeom>
          <a:solidFill>
            <a:srgbClr val="F5F5F7"/>
          </a:solidFill>
          <a:ln/>
        </p:spPr>
      </p:sp>
      <p:sp>
        <p:nvSpPr>
          <p:cNvPr id="17" name="Shape 15"/>
          <p:cNvSpPr/>
          <p:nvPr/>
        </p:nvSpPr>
        <p:spPr>
          <a:xfrm>
            <a:off x="685800" y="3575304"/>
            <a:ext cx="420624" cy="420624"/>
          </a:xfrm>
          <a:prstGeom prst="ellipse">
            <a:avLst/>
          </a:prstGeom>
          <a:solidFill>
            <a:srgbClr val="4950BC"/>
          </a:solidFill>
          <a:ln/>
        </p:spPr>
      </p:sp>
      <p:sp>
        <p:nvSpPr>
          <p:cNvPr id="18" name="Text 16"/>
          <p:cNvSpPr/>
          <p:nvPr/>
        </p:nvSpPr>
        <p:spPr>
          <a:xfrm>
            <a:off x="685800" y="357530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280160" y="3483864"/>
            <a:ext cx="2743200" cy="603504"/>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Your Own Module</a:t>
            </a:r>
            <a:endParaRPr lang="en-US" sz="1600" dirty="0"/>
          </a:p>
        </p:txBody>
      </p:sp>
      <p:sp>
        <p:nvSpPr>
          <p:cNvPr id="20" name="Text 18"/>
          <p:cNvSpPr/>
          <p:nvPr/>
        </p:nvSpPr>
        <p:spPr>
          <a:xfrm>
            <a:off x="4160520" y="3483864"/>
            <a:ext cx="7955280" cy="603504"/>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Move 2+ reusable functions into library_utils.py (e.g. formatting or a lookup helper) and</a:t>
            </a:r>
          </a:p>
          <a:p>
            <a:pPr marL="0" indent="0">
              <a:buNone/>
            </a:pPr>
            <a:r>
              <a:rPr lang="en-US" sz="1600" dirty="0">
                <a:solidFill>
                  <a:srgbClr val="6B6B6B"/>
                </a:solidFill>
                <a:latin typeface="Calibri" pitchFamily="34" charset="0"/>
                <a:ea typeface="Calibri" pitchFamily="34" charset="-122"/>
                <a:cs typeface="Calibri" pitchFamily="34" charset="-120"/>
              </a:rPr>
              <a:t> import them in.</a:t>
            </a:r>
            <a:endParaRPr lang="en-US" sz="1600" dirty="0"/>
          </a:p>
        </p:txBody>
      </p:sp>
      <p:sp>
        <p:nvSpPr>
          <p:cNvPr id="21" name="Shape 19"/>
          <p:cNvSpPr/>
          <p:nvPr/>
        </p:nvSpPr>
        <p:spPr>
          <a:xfrm>
            <a:off x="502920" y="4251960"/>
            <a:ext cx="11183112" cy="713232"/>
          </a:xfrm>
          <a:prstGeom prst="roundRect">
            <a:avLst>
              <a:gd name="adj" fmla="val 7692"/>
            </a:avLst>
          </a:prstGeom>
          <a:solidFill>
            <a:srgbClr val="FFFFFF"/>
          </a:solidFill>
          <a:ln/>
        </p:spPr>
      </p:sp>
      <p:sp>
        <p:nvSpPr>
          <p:cNvPr id="22" name="Shape 20"/>
          <p:cNvSpPr/>
          <p:nvPr/>
        </p:nvSpPr>
        <p:spPr>
          <a:xfrm>
            <a:off x="685800" y="4398264"/>
            <a:ext cx="420624" cy="420624"/>
          </a:xfrm>
          <a:prstGeom prst="ellipse">
            <a:avLst/>
          </a:prstGeom>
          <a:solidFill>
            <a:srgbClr val="4950BC"/>
          </a:solidFill>
          <a:ln/>
        </p:spPr>
      </p:sp>
      <p:sp>
        <p:nvSpPr>
          <p:cNvPr id="23" name="Text 21"/>
          <p:cNvSpPr/>
          <p:nvPr/>
        </p:nvSpPr>
        <p:spPr>
          <a:xfrm>
            <a:off x="685800" y="439826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280160" y="4306824"/>
            <a:ext cx="2743200" cy="603504"/>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Borrow Log (File I/O)</a:t>
            </a:r>
            <a:endParaRPr lang="en-US" sz="1600" dirty="0"/>
          </a:p>
        </p:txBody>
      </p:sp>
      <p:sp>
        <p:nvSpPr>
          <p:cNvPr id="25" name="Text 23"/>
          <p:cNvSpPr/>
          <p:nvPr/>
        </p:nvSpPr>
        <p:spPr>
          <a:xfrm>
            <a:off x="4160520" y="4306824"/>
            <a:ext cx="7955280" cy="603504"/>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Every borrow/return appends a timestamped line to borrow_log.txt. Add view_log() to </a:t>
            </a:r>
          </a:p>
          <a:p>
            <a:pPr marL="0" indent="0">
              <a:buNone/>
            </a:pPr>
            <a:r>
              <a:rPr lang="en-US" sz="1600" dirty="0">
                <a:solidFill>
                  <a:srgbClr val="6B6B6B"/>
                </a:solidFill>
                <a:latin typeface="Calibri" pitchFamily="34" charset="0"/>
                <a:ea typeface="Calibri" pitchFamily="34" charset="-122"/>
                <a:cs typeface="Calibri" pitchFamily="34" charset="-120"/>
              </a:rPr>
              <a:t>read + print it.</a:t>
            </a:r>
            <a:endParaRPr lang="en-US" sz="1600" dirty="0"/>
          </a:p>
        </p:txBody>
      </p:sp>
      <p:sp>
        <p:nvSpPr>
          <p:cNvPr id="26" name="Shape 24"/>
          <p:cNvSpPr/>
          <p:nvPr/>
        </p:nvSpPr>
        <p:spPr>
          <a:xfrm>
            <a:off x="502920" y="5074920"/>
            <a:ext cx="11183112" cy="713232"/>
          </a:xfrm>
          <a:prstGeom prst="roundRect">
            <a:avLst>
              <a:gd name="adj" fmla="val 7692"/>
            </a:avLst>
          </a:prstGeom>
          <a:solidFill>
            <a:srgbClr val="DADBF1"/>
          </a:solidFill>
          <a:ln/>
        </p:spPr>
      </p:sp>
      <p:sp>
        <p:nvSpPr>
          <p:cNvPr id="27" name="Shape 25"/>
          <p:cNvSpPr/>
          <p:nvPr/>
        </p:nvSpPr>
        <p:spPr>
          <a:xfrm>
            <a:off x="685800" y="5221224"/>
            <a:ext cx="420624" cy="420624"/>
          </a:xfrm>
          <a:prstGeom prst="ellipse">
            <a:avLst/>
          </a:prstGeom>
          <a:solidFill>
            <a:srgbClr val="1E2761"/>
          </a:solidFill>
          <a:ln/>
        </p:spPr>
      </p:sp>
      <p:sp>
        <p:nvSpPr>
          <p:cNvPr id="28" name="Text 26"/>
          <p:cNvSpPr/>
          <p:nvPr/>
        </p:nvSpPr>
        <p:spPr>
          <a:xfrm>
            <a:off x="685800" y="522122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1280160" y="5129784"/>
            <a:ext cx="2743200" cy="603504"/>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 Bonus: End-of-Day Report</a:t>
            </a:r>
            <a:endParaRPr lang="en-US" sz="1600" dirty="0"/>
          </a:p>
        </p:txBody>
      </p:sp>
      <p:sp>
        <p:nvSpPr>
          <p:cNvPr id="30" name="Text 28"/>
          <p:cNvSpPr/>
          <p:nvPr/>
        </p:nvSpPr>
        <p:spPr>
          <a:xfrm>
            <a:off x="4160520" y="5129784"/>
            <a:ext cx="7955280" cy="603504"/>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Write summarize_library(**stats) using **kwargs — print a clean report and call it once</a:t>
            </a:r>
          </a:p>
          <a:p>
            <a:pPr marL="0" indent="0">
              <a:buNone/>
            </a:pPr>
            <a:r>
              <a:rPr lang="en-US" sz="1600" dirty="0">
                <a:solidFill>
                  <a:srgbClr val="1E2761"/>
                </a:solidFill>
                <a:latin typeface="Calibri" pitchFamily="34" charset="0"/>
                <a:ea typeface="Calibri" pitchFamily="34" charset="-122"/>
                <a:cs typeface="Calibri" pitchFamily="34" charset="-120"/>
              </a:rPr>
              <a:t> on exit.</a:t>
            </a:r>
            <a:endParaRPr lang="en-US" sz="1600" dirty="0"/>
          </a:p>
        </p:txBody>
      </p:sp>
      <p:sp>
        <p:nvSpPr>
          <p:cNvPr id="33" name="TextBox 32">
            <a:extLst>
              <a:ext uri="{FF2B5EF4-FFF2-40B4-BE49-F238E27FC236}">
                <a16:creationId xmlns:a16="http://schemas.microsoft.com/office/drawing/2014/main" id="{DF5E3B00-4850-A05D-0A10-AA9A1D1D20FA}"/>
              </a:ext>
            </a:extLst>
          </p:cNvPr>
          <p:cNvSpPr txBox="1"/>
          <p:nvPr/>
        </p:nvSpPr>
        <p:spPr>
          <a:xfrm>
            <a:off x="309029" y="5955742"/>
            <a:ext cx="11722795" cy="646331"/>
          </a:xfrm>
          <a:prstGeom prst="rect">
            <a:avLst/>
          </a:prstGeom>
          <a:noFill/>
        </p:spPr>
        <p:txBody>
          <a:bodyPr wrap="square">
            <a:spAutoFit/>
          </a:bodyPr>
          <a:lstStyle/>
          <a:p>
            <a:pPr algn="ctr"/>
            <a:r>
              <a:rPr lang="en-IN" dirty="0"/>
              <a:t>Task 1: Flexible Receipt Builder · Task 2: Daily Journal Logger · Task 3: </a:t>
            </a:r>
            <a:r>
              <a:rPr lang="en-IN" dirty="0" err="1"/>
              <a:t>CampusLib</a:t>
            </a:r>
            <a:r>
              <a:rPr lang="en-IN" dirty="0"/>
              <a:t> (Main Project) · Task 4: ATM PIN System · Task 5: Demo 1 to 5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194560" cy="274320"/>
          </a:xfrm>
          <a:prstGeom prst="roundRect">
            <a:avLst>
              <a:gd name="adj" fmla="val 20000"/>
            </a:avLst>
          </a:prstGeom>
          <a:solidFill>
            <a:srgbClr val="FBEAEA"/>
          </a:solidFill>
          <a:ln/>
        </p:spPr>
      </p:sp>
      <p:sp>
        <p:nvSpPr>
          <p:cNvPr id="3" name="Text 1"/>
          <p:cNvSpPr/>
          <p:nvPr/>
        </p:nvSpPr>
        <p:spPr>
          <a:xfrm>
            <a:off x="502920" y="384048"/>
            <a:ext cx="2194560" cy="274320"/>
          </a:xfrm>
          <a:prstGeom prst="rect">
            <a:avLst/>
          </a:prstGeom>
          <a:noFill/>
          <a:ln/>
        </p:spPr>
        <p:txBody>
          <a:bodyPr wrap="square" lIns="0" tIns="0" rIns="0" bIns="0" rtlCol="0" anchor="ctr"/>
          <a:lstStyle/>
          <a:p>
            <a:pPr marL="0" indent="0" algn="ctr">
              <a:buNone/>
            </a:pPr>
            <a:r>
              <a:rPr lang="en-US" sz="1600" b="1" kern="0" spc="50" dirty="0">
                <a:solidFill>
                  <a:srgbClr val="C0392B"/>
                </a:solidFill>
                <a:latin typeface="Calibri" pitchFamily="34" charset="0"/>
                <a:ea typeface="Calibri" pitchFamily="34" charset="-122"/>
                <a:cs typeface="Calibri" pitchFamily="34" charset="-120"/>
              </a:rPr>
              <a:t>DON'T GET STUCK</a:t>
            </a:r>
            <a:endParaRPr lang="en-US" sz="1600"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Common Mistakes — Fixed Fast</a:t>
            </a:r>
            <a:endParaRPr lang="en-US" sz="1600" dirty="0"/>
          </a:p>
        </p:txBody>
      </p:sp>
      <p:sp>
        <p:nvSpPr>
          <p:cNvPr id="5" name="Shape 3"/>
          <p:cNvSpPr/>
          <p:nvPr/>
        </p:nvSpPr>
        <p:spPr>
          <a:xfrm>
            <a:off x="502920" y="1600200"/>
            <a:ext cx="5193792" cy="1965960"/>
          </a:xfrm>
          <a:prstGeom prst="roundRect">
            <a:avLst>
              <a:gd name="adj" fmla="val 3256"/>
            </a:avLst>
          </a:prstGeom>
          <a:solidFill>
            <a:srgbClr val="F5F5F7"/>
          </a:solidFill>
          <a:ln/>
        </p:spPr>
      </p:sp>
      <p:sp>
        <p:nvSpPr>
          <p:cNvPr id="6" name="Shape 4"/>
          <p:cNvSpPr/>
          <p:nvPr/>
        </p:nvSpPr>
        <p:spPr>
          <a:xfrm>
            <a:off x="731520" y="1801368"/>
            <a:ext cx="384048" cy="384048"/>
          </a:xfrm>
          <a:prstGeom prst="ellipse">
            <a:avLst/>
          </a:prstGeom>
          <a:solidFill>
            <a:srgbClr val="FBEAEA"/>
          </a:solidFill>
          <a:ln/>
        </p:spPr>
      </p:sp>
      <p:sp>
        <p:nvSpPr>
          <p:cNvPr id="7" name="Text 5"/>
          <p:cNvSpPr/>
          <p:nvPr/>
        </p:nvSpPr>
        <p:spPr>
          <a:xfrm>
            <a:off x="731520" y="1801368"/>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8" name="Text 6"/>
          <p:cNvSpPr/>
          <p:nvPr/>
        </p:nvSpPr>
        <p:spPr>
          <a:xfrm>
            <a:off x="1252728" y="1783080"/>
            <a:ext cx="4233672" cy="384048"/>
          </a:xfrm>
          <a:prstGeom prst="rect">
            <a:avLst/>
          </a:prstGeom>
          <a:noFill/>
          <a:ln/>
        </p:spPr>
        <p:txBody>
          <a:bodyPr wrap="square" lIns="0" tIns="0" rIns="0" bIns="0" rtlCol="0" anchor="t"/>
          <a:lstStyle/>
          <a:p>
            <a:pPr marL="0" indent="0">
              <a:buNone/>
            </a:pPr>
            <a:r>
              <a:rPr lang="en-US" sz="1600" b="1" dirty="0">
                <a:solidFill>
                  <a:srgbClr val="C0392B"/>
                </a:solidFill>
                <a:latin typeface="Calibri" pitchFamily="34" charset="0"/>
                <a:ea typeface="Calibri" pitchFamily="34" charset="-122"/>
                <a:cs typeface="Calibri" pitchFamily="34" charset="-120"/>
              </a:rPr>
              <a:t>UnboundLocalError</a:t>
            </a:r>
            <a:endParaRPr lang="en-US" sz="1600" dirty="0"/>
          </a:p>
        </p:txBody>
      </p:sp>
      <p:sp>
        <p:nvSpPr>
          <p:cNvPr id="9" name="Text 7"/>
          <p:cNvSpPr/>
          <p:nvPr/>
        </p:nvSpPr>
        <p:spPr>
          <a:xfrm>
            <a:off x="731520" y="2286000"/>
            <a:ext cx="4736592" cy="502920"/>
          </a:xfrm>
          <a:prstGeom prst="rect">
            <a:avLst/>
          </a:prstGeom>
          <a:noFill/>
          <a:ln/>
        </p:spPr>
        <p:txBody>
          <a:bodyPr wrap="square" lIns="0" tIns="0" rIns="0" bIns="0" rtlCol="0" anchor="t"/>
          <a:lstStyle/>
          <a:p>
            <a:pPr marL="0" indent="0">
              <a:buNone/>
            </a:pPr>
            <a:r>
              <a:rPr lang="en-US" sz="1600" dirty="0">
                <a:solidFill>
                  <a:srgbClr val="6B6B6B"/>
                </a:solidFill>
                <a:latin typeface="Calibri" pitchFamily="34" charset="0"/>
                <a:ea typeface="Calibri" pitchFamily="34" charset="-122"/>
                <a:cs typeface="Calibri" pitchFamily="34" charset="-120"/>
              </a:rPr>
              <a:t>Assigned to a global var inside a function without passing it in.</a:t>
            </a:r>
            <a:endParaRPr lang="en-US" sz="1600" dirty="0"/>
          </a:p>
        </p:txBody>
      </p:sp>
      <p:sp>
        <p:nvSpPr>
          <p:cNvPr id="10" name="Text 8"/>
          <p:cNvSpPr/>
          <p:nvPr/>
        </p:nvSpPr>
        <p:spPr>
          <a:xfrm>
            <a:off x="731520" y="2898648"/>
            <a:ext cx="4736592" cy="548640"/>
          </a:xfrm>
          <a:prstGeom prst="rect">
            <a:avLst/>
          </a:prstGeom>
          <a:noFill/>
          <a:ln/>
        </p:spPr>
        <p:txBody>
          <a:bodyPr wrap="square" lIns="0" tIns="0" rIns="0" bIns="0" rtlCol="0" anchor="t"/>
          <a:lstStyle/>
          <a:p>
            <a:pPr marL="0" indent="0">
              <a:buNone/>
            </a:pPr>
            <a:r>
              <a:rPr lang="en-US" sz="1600" b="1" dirty="0">
                <a:solidFill>
                  <a:srgbClr val="2F9E44"/>
                </a:solidFill>
                <a:latin typeface="Calibri" pitchFamily="34" charset="0"/>
                <a:ea typeface="Calibri" pitchFamily="34" charset="-122"/>
                <a:cs typeface="Calibri" pitchFamily="34" charset="-120"/>
              </a:rPr>
              <a:t>Fix: </a:t>
            </a:r>
            <a:r>
              <a:rPr lang="en-US" sz="1600" dirty="0">
                <a:solidFill>
                  <a:srgbClr val="272525"/>
                </a:solidFill>
                <a:latin typeface="Calibri" pitchFamily="34" charset="0"/>
                <a:ea typeface="Calibri" pitchFamily="34" charset="-122"/>
                <a:cs typeface="Calibri" pitchFamily="34" charset="-120"/>
              </a:rPr>
              <a:t>Take it as a parameter, return the new value.</a:t>
            </a:r>
            <a:endParaRPr lang="en-US" sz="1600" dirty="0"/>
          </a:p>
        </p:txBody>
      </p:sp>
      <p:sp>
        <p:nvSpPr>
          <p:cNvPr id="11" name="Shape 9"/>
          <p:cNvSpPr/>
          <p:nvPr/>
        </p:nvSpPr>
        <p:spPr>
          <a:xfrm>
            <a:off x="6016752" y="1600200"/>
            <a:ext cx="5193792" cy="1965960"/>
          </a:xfrm>
          <a:prstGeom prst="roundRect">
            <a:avLst>
              <a:gd name="adj" fmla="val 3256"/>
            </a:avLst>
          </a:prstGeom>
          <a:solidFill>
            <a:srgbClr val="F5F5F7"/>
          </a:solidFill>
          <a:ln/>
        </p:spPr>
      </p:sp>
      <p:sp>
        <p:nvSpPr>
          <p:cNvPr id="12" name="Shape 10"/>
          <p:cNvSpPr/>
          <p:nvPr/>
        </p:nvSpPr>
        <p:spPr>
          <a:xfrm>
            <a:off x="6245352" y="1801368"/>
            <a:ext cx="384048" cy="384048"/>
          </a:xfrm>
          <a:prstGeom prst="ellipse">
            <a:avLst/>
          </a:prstGeom>
          <a:solidFill>
            <a:srgbClr val="FBEAEA"/>
          </a:solidFill>
          <a:ln/>
        </p:spPr>
      </p:sp>
      <p:sp>
        <p:nvSpPr>
          <p:cNvPr id="13" name="Text 11"/>
          <p:cNvSpPr/>
          <p:nvPr/>
        </p:nvSpPr>
        <p:spPr>
          <a:xfrm>
            <a:off x="6245352" y="1801368"/>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4" name="Text 12"/>
          <p:cNvSpPr/>
          <p:nvPr/>
        </p:nvSpPr>
        <p:spPr>
          <a:xfrm>
            <a:off x="6766560" y="1783080"/>
            <a:ext cx="4233672" cy="384048"/>
          </a:xfrm>
          <a:prstGeom prst="rect">
            <a:avLst/>
          </a:prstGeom>
          <a:noFill/>
          <a:ln/>
        </p:spPr>
        <p:txBody>
          <a:bodyPr wrap="square" lIns="0" tIns="0" rIns="0" bIns="0" rtlCol="0" anchor="t"/>
          <a:lstStyle/>
          <a:p>
            <a:pPr marL="0" indent="0">
              <a:buNone/>
            </a:pPr>
            <a:r>
              <a:rPr lang="en-US" sz="1600" b="1" dirty="0">
                <a:solidFill>
                  <a:srgbClr val="C0392B"/>
                </a:solidFill>
                <a:latin typeface="Calibri" pitchFamily="34" charset="0"/>
                <a:ea typeface="Calibri" pitchFamily="34" charset="-122"/>
                <a:cs typeface="Calibri" pitchFamily="34" charset="-120"/>
              </a:rPr>
              <a:t>Module not found</a:t>
            </a:r>
            <a:endParaRPr lang="en-US" sz="1600" dirty="0"/>
          </a:p>
        </p:txBody>
      </p:sp>
      <p:sp>
        <p:nvSpPr>
          <p:cNvPr id="15" name="Text 13"/>
          <p:cNvSpPr/>
          <p:nvPr/>
        </p:nvSpPr>
        <p:spPr>
          <a:xfrm>
            <a:off x="6245352" y="2286000"/>
            <a:ext cx="4736592" cy="502920"/>
          </a:xfrm>
          <a:prstGeom prst="rect">
            <a:avLst/>
          </a:prstGeom>
          <a:noFill/>
          <a:ln/>
        </p:spPr>
        <p:txBody>
          <a:bodyPr wrap="square" lIns="0" tIns="0" rIns="0" bIns="0" rtlCol="0" anchor="t"/>
          <a:lstStyle/>
          <a:p>
            <a:pPr marL="0" indent="0">
              <a:buNone/>
            </a:pPr>
            <a:r>
              <a:rPr lang="en-US" sz="1600" dirty="0">
                <a:solidFill>
                  <a:srgbClr val="6B6B6B"/>
                </a:solidFill>
                <a:latin typeface="Calibri" pitchFamily="34" charset="0"/>
                <a:ea typeface="Calibri" pitchFamily="34" charset="-122"/>
                <a:cs typeface="Calibri" pitchFamily="34" charset="-120"/>
              </a:rPr>
              <a:t>library_utils.py isn't in the same folder as campus_lib.py.</a:t>
            </a:r>
            <a:endParaRPr lang="en-US" sz="1600" dirty="0"/>
          </a:p>
        </p:txBody>
      </p:sp>
      <p:sp>
        <p:nvSpPr>
          <p:cNvPr id="16" name="Text 14"/>
          <p:cNvSpPr/>
          <p:nvPr/>
        </p:nvSpPr>
        <p:spPr>
          <a:xfrm>
            <a:off x="6245352" y="2898648"/>
            <a:ext cx="4736592" cy="548640"/>
          </a:xfrm>
          <a:prstGeom prst="rect">
            <a:avLst/>
          </a:prstGeom>
          <a:noFill/>
          <a:ln/>
        </p:spPr>
        <p:txBody>
          <a:bodyPr wrap="square" lIns="0" tIns="0" rIns="0" bIns="0" rtlCol="0" anchor="t"/>
          <a:lstStyle/>
          <a:p>
            <a:pPr marL="0" indent="0">
              <a:buNone/>
            </a:pPr>
            <a:r>
              <a:rPr lang="en-US" sz="1600" b="1" dirty="0">
                <a:solidFill>
                  <a:srgbClr val="2F9E44"/>
                </a:solidFill>
                <a:latin typeface="Calibri" pitchFamily="34" charset="0"/>
                <a:ea typeface="Calibri" pitchFamily="34" charset="-122"/>
                <a:cs typeface="Calibri" pitchFamily="34" charset="-120"/>
              </a:rPr>
              <a:t>Fix: </a:t>
            </a:r>
            <a:r>
              <a:rPr lang="en-US" sz="1600" dirty="0">
                <a:solidFill>
                  <a:srgbClr val="272525"/>
                </a:solidFill>
                <a:latin typeface="Calibri" pitchFamily="34" charset="0"/>
                <a:ea typeface="Calibri" pitchFamily="34" charset="-122"/>
                <a:cs typeface="Calibri" pitchFamily="34" charset="-120"/>
              </a:rPr>
              <a:t>Keep both files in the same directory.</a:t>
            </a:r>
            <a:endParaRPr lang="en-US" sz="1600" dirty="0"/>
          </a:p>
        </p:txBody>
      </p:sp>
      <p:sp>
        <p:nvSpPr>
          <p:cNvPr id="17" name="Shape 15"/>
          <p:cNvSpPr/>
          <p:nvPr/>
        </p:nvSpPr>
        <p:spPr>
          <a:xfrm>
            <a:off x="502920" y="3794760"/>
            <a:ext cx="5193792" cy="1965960"/>
          </a:xfrm>
          <a:prstGeom prst="roundRect">
            <a:avLst>
              <a:gd name="adj" fmla="val 3256"/>
            </a:avLst>
          </a:prstGeom>
          <a:solidFill>
            <a:srgbClr val="F5F5F7"/>
          </a:solidFill>
          <a:ln/>
        </p:spPr>
      </p:sp>
      <p:sp>
        <p:nvSpPr>
          <p:cNvPr id="18" name="Shape 16"/>
          <p:cNvSpPr/>
          <p:nvPr/>
        </p:nvSpPr>
        <p:spPr>
          <a:xfrm>
            <a:off x="731520" y="3995928"/>
            <a:ext cx="384048" cy="384048"/>
          </a:xfrm>
          <a:prstGeom prst="ellipse">
            <a:avLst/>
          </a:prstGeom>
          <a:solidFill>
            <a:srgbClr val="FBEAEA"/>
          </a:solidFill>
          <a:ln/>
        </p:spPr>
      </p:sp>
      <p:sp>
        <p:nvSpPr>
          <p:cNvPr id="19" name="Text 17"/>
          <p:cNvSpPr/>
          <p:nvPr/>
        </p:nvSpPr>
        <p:spPr>
          <a:xfrm>
            <a:off x="731520" y="3995928"/>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1252728" y="3977640"/>
            <a:ext cx="4233672" cy="384048"/>
          </a:xfrm>
          <a:prstGeom prst="rect">
            <a:avLst/>
          </a:prstGeom>
          <a:noFill/>
          <a:ln/>
        </p:spPr>
        <p:txBody>
          <a:bodyPr wrap="square" lIns="0" tIns="0" rIns="0" bIns="0" rtlCol="0" anchor="t"/>
          <a:lstStyle/>
          <a:p>
            <a:pPr marL="0" indent="0">
              <a:buNone/>
            </a:pPr>
            <a:r>
              <a:rPr lang="en-US" sz="1600" b="1" dirty="0">
                <a:solidFill>
                  <a:srgbClr val="C0392B"/>
                </a:solidFill>
                <a:latin typeface="Calibri" pitchFamily="34" charset="0"/>
                <a:ea typeface="Calibri" pitchFamily="34" charset="-122"/>
                <a:cs typeface="Calibri" pitchFamily="34" charset="-120"/>
              </a:rPr>
              <a:t>Log keeps resetting</a:t>
            </a:r>
            <a:endParaRPr lang="en-US" sz="1600" dirty="0"/>
          </a:p>
        </p:txBody>
      </p:sp>
      <p:sp>
        <p:nvSpPr>
          <p:cNvPr id="21" name="Text 19"/>
          <p:cNvSpPr/>
          <p:nvPr/>
        </p:nvSpPr>
        <p:spPr>
          <a:xfrm>
            <a:off x="731520" y="4480560"/>
            <a:ext cx="4736592" cy="502920"/>
          </a:xfrm>
          <a:prstGeom prst="rect">
            <a:avLst/>
          </a:prstGeom>
          <a:noFill/>
          <a:ln/>
        </p:spPr>
        <p:txBody>
          <a:bodyPr wrap="square" lIns="0" tIns="0" rIns="0" bIns="0" rtlCol="0" anchor="t"/>
          <a:lstStyle/>
          <a:p>
            <a:pPr marL="0" indent="0">
              <a:buNone/>
            </a:pPr>
            <a:r>
              <a:rPr lang="en-US" sz="1600" dirty="0">
                <a:solidFill>
                  <a:srgbClr val="6B6B6B"/>
                </a:solidFill>
                <a:latin typeface="Calibri" pitchFamily="34" charset="0"/>
                <a:ea typeface="Calibri" pitchFamily="34" charset="-122"/>
                <a:cs typeface="Calibri" pitchFamily="34" charset="-120"/>
              </a:rPr>
              <a:t>Opened the file with "w" instead of "a".</a:t>
            </a:r>
            <a:endParaRPr lang="en-US" sz="1600" dirty="0"/>
          </a:p>
        </p:txBody>
      </p:sp>
      <p:sp>
        <p:nvSpPr>
          <p:cNvPr id="22" name="Text 20"/>
          <p:cNvSpPr/>
          <p:nvPr/>
        </p:nvSpPr>
        <p:spPr>
          <a:xfrm>
            <a:off x="731520" y="5093208"/>
            <a:ext cx="4736592" cy="548640"/>
          </a:xfrm>
          <a:prstGeom prst="rect">
            <a:avLst/>
          </a:prstGeom>
          <a:noFill/>
          <a:ln/>
        </p:spPr>
        <p:txBody>
          <a:bodyPr wrap="square" lIns="0" tIns="0" rIns="0" bIns="0" rtlCol="0" anchor="t"/>
          <a:lstStyle/>
          <a:p>
            <a:pPr marL="0" indent="0">
              <a:buNone/>
            </a:pPr>
            <a:r>
              <a:rPr lang="en-US" sz="1600" b="1" dirty="0">
                <a:solidFill>
                  <a:srgbClr val="2F9E44"/>
                </a:solidFill>
                <a:latin typeface="Calibri" pitchFamily="34" charset="0"/>
                <a:ea typeface="Calibri" pitchFamily="34" charset="-122"/>
                <a:cs typeface="Calibri" pitchFamily="34" charset="-120"/>
              </a:rPr>
              <a:t>Fix: </a:t>
            </a:r>
            <a:r>
              <a:rPr lang="en-US" sz="1600" dirty="0">
                <a:solidFill>
                  <a:srgbClr val="272525"/>
                </a:solidFill>
                <a:latin typeface="Calibri" pitchFamily="34" charset="0"/>
                <a:ea typeface="Calibri" pitchFamily="34" charset="-122"/>
                <a:cs typeface="Calibri" pitchFamily="34" charset="-120"/>
              </a:rPr>
              <a:t>"a" appends. "w" always starts empty.</a:t>
            </a:r>
            <a:endParaRPr lang="en-US" sz="1600" dirty="0"/>
          </a:p>
        </p:txBody>
      </p:sp>
      <p:sp>
        <p:nvSpPr>
          <p:cNvPr id="23" name="Shape 21"/>
          <p:cNvSpPr/>
          <p:nvPr/>
        </p:nvSpPr>
        <p:spPr>
          <a:xfrm>
            <a:off x="6016752" y="3794760"/>
            <a:ext cx="5193792" cy="1965960"/>
          </a:xfrm>
          <a:prstGeom prst="roundRect">
            <a:avLst>
              <a:gd name="adj" fmla="val 3256"/>
            </a:avLst>
          </a:prstGeom>
          <a:solidFill>
            <a:srgbClr val="F5F5F7"/>
          </a:solidFill>
          <a:ln/>
        </p:spPr>
      </p:sp>
      <p:sp>
        <p:nvSpPr>
          <p:cNvPr id="24" name="Shape 22"/>
          <p:cNvSpPr/>
          <p:nvPr/>
        </p:nvSpPr>
        <p:spPr>
          <a:xfrm>
            <a:off x="6245352" y="3995928"/>
            <a:ext cx="384048" cy="384048"/>
          </a:xfrm>
          <a:prstGeom prst="ellipse">
            <a:avLst/>
          </a:prstGeom>
          <a:solidFill>
            <a:srgbClr val="FBEAEA"/>
          </a:solidFill>
          <a:ln/>
        </p:spPr>
      </p:sp>
      <p:sp>
        <p:nvSpPr>
          <p:cNvPr id="25" name="Text 23"/>
          <p:cNvSpPr/>
          <p:nvPr/>
        </p:nvSpPr>
        <p:spPr>
          <a:xfrm>
            <a:off x="6245352" y="3995928"/>
            <a:ext cx="384048" cy="38404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766560" y="3977640"/>
            <a:ext cx="4233672" cy="384048"/>
          </a:xfrm>
          <a:prstGeom prst="rect">
            <a:avLst/>
          </a:prstGeom>
          <a:noFill/>
          <a:ln/>
        </p:spPr>
        <p:txBody>
          <a:bodyPr wrap="square" lIns="0" tIns="0" rIns="0" bIns="0" rtlCol="0" anchor="t"/>
          <a:lstStyle/>
          <a:p>
            <a:pPr marL="0" indent="0">
              <a:buNone/>
            </a:pPr>
            <a:r>
              <a:rPr lang="en-US" sz="1600" b="1" dirty="0">
                <a:solidFill>
                  <a:srgbClr val="C0392B"/>
                </a:solidFill>
                <a:latin typeface="Calibri" pitchFamily="34" charset="0"/>
                <a:ea typeface="Calibri" pitchFamily="34" charset="-122"/>
                <a:cs typeface="Calibri" pitchFamily="34" charset="-120"/>
              </a:rPr>
              <a:t>Forgot to return</a:t>
            </a:r>
            <a:endParaRPr lang="en-US" sz="1600" dirty="0"/>
          </a:p>
        </p:txBody>
      </p:sp>
      <p:sp>
        <p:nvSpPr>
          <p:cNvPr id="27" name="Text 25"/>
          <p:cNvSpPr/>
          <p:nvPr/>
        </p:nvSpPr>
        <p:spPr>
          <a:xfrm>
            <a:off x="6245352" y="4480560"/>
            <a:ext cx="4736592" cy="502920"/>
          </a:xfrm>
          <a:prstGeom prst="rect">
            <a:avLst/>
          </a:prstGeom>
          <a:noFill/>
          <a:ln/>
        </p:spPr>
        <p:txBody>
          <a:bodyPr wrap="square" lIns="0" tIns="0" rIns="0" bIns="0" rtlCol="0" anchor="t"/>
          <a:lstStyle/>
          <a:p>
            <a:pPr marL="0" indent="0">
              <a:buNone/>
            </a:pPr>
            <a:r>
              <a:rPr lang="en-US" sz="1600" dirty="0">
                <a:solidFill>
                  <a:srgbClr val="6B6B6B"/>
                </a:solidFill>
                <a:latin typeface="Calibri" pitchFamily="34" charset="0"/>
                <a:ea typeface="Calibri" pitchFamily="34" charset="-122"/>
                <a:cs typeface="Calibri" pitchFamily="34" charset="-120"/>
              </a:rPr>
              <a:t>Function changes a value but doesn't return it, so the caller never sees it.</a:t>
            </a:r>
            <a:endParaRPr lang="en-US" sz="1600" dirty="0"/>
          </a:p>
        </p:txBody>
      </p:sp>
      <p:sp>
        <p:nvSpPr>
          <p:cNvPr id="28" name="Text 26"/>
          <p:cNvSpPr/>
          <p:nvPr/>
        </p:nvSpPr>
        <p:spPr>
          <a:xfrm>
            <a:off x="6245352" y="5093208"/>
            <a:ext cx="4736592" cy="548640"/>
          </a:xfrm>
          <a:prstGeom prst="rect">
            <a:avLst/>
          </a:prstGeom>
          <a:noFill/>
          <a:ln/>
        </p:spPr>
        <p:txBody>
          <a:bodyPr wrap="square" lIns="0" tIns="0" rIns="0" bIns="0" rtlCol="0" anchor="t"/>
          <a:lstStyle/>
          <a:p>
            <a:pPr marL="0" indent="0">
              <a:buNone/>
            </a:pPr>
            <a:r>
              <a:rPr lang="en-US" sz="1600" b="1" dirty="0">
                <a:solidFill>
                  <a:srgbClr val="2F9E44"/>
                </a:solidFill>
                <a:latin typeface="Calibri" pitchFamily="34" charset="0"/>
                <a:ea typeface="Calibri" pitchFamily="34" charset="-122"/>
                <a:cs typeface="Calibri" pitchFamily="34" charset="-120"/>
              </a:rPr>
              <a:t>Fix: </a:t>
            </a:r>
            <a:r>
              <a:rPr lang="en-US" sz="1600" dirty="0">
                <a:solidFill>
                  <a:srgbClr val="272525"/>
                </a:solidFill>
                <a:latin typeface="Calibri" pitchFamily="34" charset="0"/>
                <a:ea typeface="Calibri" pitchFamily="34" charset="-122"/>
                <a:cs typeface="Calibri" pitchFamily="34" charset="-120"/>
              </a:rPr>
              <a:t>Every function that computes something should return it.</a:t>
            </a:r>
            <a:endParaRPr lang="en-US" sz="1600" dirty="0"/>
          </a:p>
        </p:txBody>
      </p:sp>
      <p:sp>
        <p:nvSpPr>
          <p:cNvPr id="29" name="Text 27"/>
          <p:cNvSpPr/>
          <p:nvPr/>
        </p:nvSpPr>
        <p:spPr>
          <a:xfrm>
            <a:off x="502920" y="6528816"/>
            <a:ext cx="8229600" cy="237744"/>
          </a:xfrm>
          <a:prstGeom prst="rect">
            <a:avLst/>
          </a:prstGeom>
          <a:noFill/>
          <a:ln/>
        </p:spPr>
        <p:txBody>
          <a:bodyPr wrap="square" lIns="0" tIns="0" rIns="0" bIns="0" rtlCol="0" anchor="ctr"/>
          <a:lstStyle/>
          <a:p>
            <a:pPr marL="0" indent="0">
              <a:buNone/>
            </a:pPr>
            <a:r>
              <a:rPr lang="en-US" sz="140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2103120" cy="274320"/>
          </a:xfrm>
          <a:prstGeom prst="roundRect">
            <a:avLst>
              <a:gd name="adj" fmla="val 20000"/>
            </a:avLst>
          </a:prstGeom>
          <a:solidFill>
            <a:srgbClr val="DADBF1"/>
          </a:solidFill>
          <a:ln/>
        </p:spPr>
      </p:sp>
      <p:sp>
        <p:nvSpPr>
          <p:cNvPr id="3" name="Text 1"/>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sz="1600" b="1" kern="0" spc="50" dirty="0">
                <a:solidFill>
                  <a:srgbClr val="4950BC"/>
                </a:solidFill>
                <a:latin typeface="Calibri" pitchFamily="34" charset="0"/>
                <a:ea typeface="Calibri" pitchFamily="34" charset="-122"/>
                <a:cs typeface="Calibri" pitchFamily="34" charset="-120"/>
              </a:rPr>
              <a:t>WRAP-UP</a:t>
            </a:r>
            <a:endParaRPr lang="en-US" sz="1600" dirty="0"/>
          </a:p>
        </p:txBody>
      </p:sp>
      <p:sp>
        <p:nvSpPr>
          <p:cNvPr id="4" name="Text 2"/>
          <p:cNvSpPr/>
          <p:nvPr/>
        </p:nvSpPr>
        <p:spPr>
          <a:xfrm>
            <a:off x="502920" y="749808"/>
            <a:ext cx="11183112" cy="384048"/>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How to Submit Today's Work</a:t>
            </a:r>
            <a:endParaRPr lang="en-US" sz="1600" dirty="0"/>
          </a:p>
        </p:txBody>
      </p:sp>
      <p:sp>
        <p:nvSpPr>
          <p:cNvPr id="5" name="Shape 3"/>
          <p:cNvSpPr/>
          <p:nvPr/>
        </p:nvSpPr>
        <p:spPr>
          <a:xfrm>
            <a:off x="502920" y="1737360"/>
            <a:ext cx="11183112" cy="731520"/>
          </a:xfrm>
          <a:prstGeom prst="roundRect">
            <a:avLst>
              <a:gd name="adj" fmla="val 8750"/>
            </a:avLst>
          </a:prstGeom>
          <a:solidFill>
            <a:srgbClr val="F5F5F7"/>
          </a:solidFill>
          <a:ln/>
        </p:spPr>
      </p:sp>
      <p:sp>
        <p:nvSpPr>
          <p:cNvPr id="6" name="Shape 4"/>
          <p:cNvSpPr/>
          <p:nvPr/>
        </p:nvSpPr>
        <p:spPr>
          <a:xfrm>
            <a:off x="704088" y="1901952"/>
            <a:ext cx="384048" cy="384048"/>
          </a:xfrm>
          <a:prstGeom prst="ellipse">
            <a:avLst/>
          </a:prstGeom>
          <a:solidFill>
            <a:srgbClr val="4950BC"/>
          </a:solidFill>
          <a:ln/>
        </p:spPr>
      </p:sp>
      <p:sp>
        <p:nvSpPr>
          <p:cNvPr id="7" name="Text 5"/>
          <p:cNvSpPr/>
          <p:nvPr/>
        </p:nvSpPr>
        <p:spPr>
          <a:xfrm>
            <a:off x="704088" y="190195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280160" y="1810512"/>
            <a:ext cx="3108960" cy="548640"/>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Save all files</a:t>
            </a:r>
            <a:endParaRPr lang="en-US" sz="1600" dirty="0"/>
          </a:p>
        </p:txBody>
      </p:sp>
      <p:sp>
        <p:nvSpPr>
          <p:cNvPr id="9" name="Text 7"/>
          <p:cNvSpPr/>
          <p:nvPr/>
        </p:nvSpPr>
        <p:spPr>
          <a:xfrm>
            <a:off x="4480560" y="1810512"/>
            <a:ext cx="6858000" cy="54864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Save all files in a properly structured way in your Day3 folder</a:t>
            </a:r>
            <a:endParaRPr lang="en-US" sz="1600" dirty="0"/>
          </a:p>
        </p:txBody>
      </p:sp>
      <p:sp>
        <p:nvSpPr>
          <p:cNvPr id="10" name="Shape 8"/>
          <p:cNvSpPr/>
          <p:nvPr/>
        </p:nvSpPr>
        <p:spPr>
          <a:xfrm>
            <a:off x="502920" y="2633472"/>
            <a:ext cx="11183112" cy="731520"/>
          </a:xfrm>
          <a:prstGeom prst="roundRect">
            <a:avLst>
              <a:gd name="adj" fmla="val 8750"/>
            </a:avLst>
          </a:prstGeom>
          <a:solidFill>
            <a:srgbClr val="FFFFFF"/>
          </a:solidFill>
          <a:ln/>
        </p:spPr>
      </p:sp>
      <p:sp>
        <p:nvSpPr>
          <p:cNvPr id="11" name="Shape 9"/>
          <p:cNvSpPr/>
          <p:nvPr/>
        </p:nvSpPr>
        <p:spPr>
          <a:xfrm>
            <a:off x="704088" y="2798064"/>
            <a:ext cx="384048" cy="384048"/>
          </a:xfrm>
          <a:prstGeom prst="ellipse">
            <a:avLst/>
          </a:prstGeom>
          <a:solidFill>
            <a:srgbClr val="4950BC"/>
          </a:solidFill>
          <a:ln/>
        </p:spPr>
      </p:sp>
      <p:sp>
        <p:nvSpPr>
          <p:cNvPr id="12" name="Text 10"/>
          <p:cNvSpPr/>
          <p:nvPr/>
        </p:nvSpPr>
        <p:spPr>
          <a:xfrm>
            <a:off x="704088" y="279806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280160" y="2706624"/>
            <a:ext cx="3108960" cy="548640"/>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Screenshot it</a:t>
            </a:r>
            <a:endParaRPr lang="en-US" sz="1600" dirty="0"/>
          </a:p>
        </p:txBody>
      </p:sp>
      <p:sp>
        <p:nvSpPr>
          <p:cNvPr id="14" name="Text 12"/>
          <p:cNvSpPr/>
          <p:nvPr/>
        </p:nvSpPr>
        <p:spPr>
          <a:xfrm>
            <a:off x="4480560" y="2706624"/>
            <a:ext cx="6858000" cy="54864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A full session: list, borrow, return, view log, exit</a:t>
            </a:r>
            <a:endParaRPr lang="en-US" sz="1600" dirty="0"/>
          </a:p>
        </p:txBody>
      </p:sp>
      <p:sp>
        <p:nvSpPr>
          <p:cNvPr id="15" name="Shape 13"/>
          <p:cNvSpPr/>
          <p:nvPr/>
        </p:nvSpPr>
        <p:spPr>
          <a:xfrm>
            <a:off x="502920" y="3529584"/>
            <a:ext cx="11183112" cy="731520"/>
          </a:xfrm>
          <a:prstGeom prst="roundRect">
            <a:avLst>
              <a:gd name="adj" fmla="val 8750"/>
            </a:avLst>
          </a:prstGeom>
          <a:solidFill>
            <a:srgbClr val="F5F5F7"/>
          </a:solidFill>
          <a:ln/>
        </p:spPr>
      </p:sp>
      <p:sp>
        <p:nvSpPr>
          <p:cNvPr id="16" name="Shape 14"/>
          <p:cNvSpPr/>
          <p:nvPr/>
        </p:nvSpPr>
        <p:spPr>
          <a:xfrm>
            <a:off x="704088" y="3694176"/>
            <a:ext cx="384048" cy="384048"/>
          </a:xfrm>
          <a:prstGeom prst="ellipse">
            <a:avLst/>
          </a:prstGeom>
          <a:solidFill>
            <a:srgbClr val="4950BC"/>
          </a:solidFill>
          <a:ln/>
        </p:spPr>
      </p:sp>
      <p:sp>
        <p:nvSpPr>
          <p:cNvPr id="17" name="Text 15"/>
          <p:cNvSpPr/>
          <p:nvPr/>
        </p:nvSpPr>
        <p:spPr>
          <a:xfrm>
            <a:off x="704088" y="369417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280160" y="3602736"/>
            <a:ext cx="3108960" cy="548640"/>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Update your report</a:t>
            </a:r>
            <a:endParaRPr lang="en-US" sz="1600" dirty="0"/>
          </a:p>
        </p:txBody>
      </p:sp>
      <p:sp>
        <p:nvSpPr>
          <p:cNvPr id="19" name="Text 17"/>
          <p:cNvSpPr/>
          <p:nvPr/>
        </p:nvSpPr>
        <p:spPr>
          <a:xfrm>
            <a:off x="4480560" y="3602736"/>
            <a:ext cx="6858000" cy="54864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Add today's entry to your single running Daily Task Report</a:t>
            </a:r>
            <a:endParaRPr lang="en-US" sz="1600" dirty="0"/>
          </a:p>
        </p:txBody>
      </p:sp>
      <p:sp>
        <p:nvSpPr>
          <p:cNvPr id="20" name="Shape 18"/>
          <p:cNvSpPr/>
          <p:nvPr/>
        </p:nvSpPr>
        <p:spPr>
          <a:xfrm>
            <a:off x="502920" y="4425696"/>
            <a:ext cx="11183112" cy="731520"/>
          </a:xfrm>
          <a:prstGeom prst="roundRect">
            <a:avLst>
              <a:gd name="adj" fmla="val 8750"/>
            </a:avLst>
          </a:prstGeom>
          <a:solidFill>
            <a:srgbClr val="FFFFFF"/>
          </a:solidFill>
          <a:ln/>
        </p:spPr>
      </p:sp>
      <p:sp>
        <p:nvSpPr>
          <p:cNvPr id="21" name="Shape 19"/>
          <p:cNvSpPr/>
          <p:nvPr/>
        </p:nvSpPr>
        <p:spPr>
          <a:xfrm>
            <a:off x="704088" y="4590288"/>
            <a:ext cx="384048" cy="384048"/>
          </a:xfrm>
          <a:prstGeom prst="ellipse">
            <a:avLst/>
          </a:prstGeom>
          <a:solidFill>
            <a:srgbClr val="4950BC"/>
          </a:solidFill>
          <a:ln/>
        </p:spPr>
      </p:sp>
      <p:sp>
        <p:nvSpPr>
          <p:cNvPr id="22" name="Text 20"/>
          <p:cNvSpPr/>
          <p:nvPr/>
        </p:nvSpPr>
        <p:spPr>
          <a:xfrm>
            <a:off x="704088" y="459028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280160" y="4498848"/>
            <a:ext cx="3108960" cy="548640"/>
          </a:xfrm>
          <a:prstGeom prst="rect">
            <a:avLst/>
          </a:prstGeom>
          <a:noFill/>
          <a:ln/>
        </p:spPr>
        <p:txBody>
          <a:bodyPr wrap="square" lIns="0" tIns="0" rIns="0" bIns="0" rtlCol="0" anchor="ctr"/>
          <a:lstStyle/>
          <a:p>
            <a:pPr marL="0" indent="0">
              <a:buNone/>
            </a:pPr>
            <a:r>
              <a:rPr lang="en-US" sz="1600" b="1" dirty="0">
                <a:solidFill>
                  <a:srgbClr val="272525"/>
                </a:solidFill>
                <a:latin typeface="Calibri" pitchFamily="34" charset="0"/>
                <a:ea typeface="Calibri" pitchFamily="34" charset="-122"/>
                <a:cs typeface="Calibri" pitchFamily="34" charset="-120"/>
              </a:rPr>
              <a:t>Submit on time</a:t>
            </a:r>
            <a:endParaRPr lang="en-US" sz="1600" dirty="0"/>
          </a:p>
        </p:txBody>
      </p:sp>
      <p:sp>
        <p:nvSpPr>
          <p:cNvPr id="24" name="Text 22"/>
          <p:cNvSpPr/>
          <p:nvPr/>
        </p:nvSpPr>
        <p:spPr>
          <a:xfrm>
            <a:off x="4480560" y="4498848"/>
            <a:ext cx="6858000" cy="54864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Attendance by 9:00 AM + task by 5:00 PM — both required, or marked absent</a:t>
            </a:r>
            <a:endParaRPr lang="en-US" sz="1600" dirty="0"/>
          </a:p>
        </p:txBody>
      </p:sp>
      <p:sp>
        <p:nvSpPr>
          <p:cNvPr id="25" name="Text 23"/>
          <p:cNvSpPr/>
          <p:nvPr/>
        </p:nvSpPr>
        <p:spPr>
          <a:xfrm>
            <a:off x="502920" y="6528816"/>
            <a:ext cx="8229600" cy="237744"/>
          </a:xfrm>
          <a:prstGeom prst="rect">
            <a:avLst/>
          </a:prstGeom>
          <a:noFill/>
          <a:ln/>
        </p:spPr>
        <p:txBody>
          <a:bodyPr wrap="square" lIns="0" tIns="0" rIns="0" bIns="0" rtlCol="0" anchor="ctr"/>
          <a:lstStyle/>
          <a:p>
            <a:pPr marL="0" indent="0">
              <a:buNone/>
            </a:pPr>
            <a:r>
              <a:rPr lang="en-US" sz="140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052560" y="3931920"/>
            <a:ext cx="4572000" cy="4572000"/>
          </a:xfrm>
          <a:prstGeom prst="ellipse">
            <a:avLst/>
          </a:prstGeom>
          <a:solidFill>
            <a:srgbClr val="4950BC">
              <a:alpha val="24000"/>
            </a:srgbClr>
          </a:solidFill>
          <a:ln/>
        </p:spPr>
      </p:sp>
      <p:sp>
        <p:nvSpPr>
          <p:cNvPr id="3" name="Shape 1"/>
          <p:cNvSpPr/>
          <p:nvPr/>
        </p:nvSpPr>
        <p:spPr>
          <a:xfrm>
            <a:off x="502920" y="384048"/>
            <a:ext cx="2103120" cy="274320"/>
          </a:xfrm>
          <a:prstGeom prst="roundRect">
            <a:avLst>
              <a:gd name="adj" fmla="val 20000"/>
            </a:avLst>
          </a:prstGeom>
          <a:solidFill>
            <a:srgbClr val="2F9E44"/>
          </a:solidFill>
          <a:ln/>
        </p:spPr>
      </p:sp>
      <p:sp>
        <p:nvSpPr>
          <p:cNvPr id="4" name="Text 2"/>
          <p:cNvSpPr/>
          <p:nvPr/>
        </p:nvSpPr>
        <p:spPr>
          <a:xfrm>
            <a:off x="502920" y="384048"/>
            <a:ext cx="2103120" cy="274320"/>
          </a:xfrm>
          <a:prstGeom prst="rect">
            <a:avLst/>
          </a:prstGeom>
          <a:noFill/>
          <a:ln/>
        </p:spPr>
        <p:txBody>
          <a:bodyPr wrap="square" lIns="0" tIns="0" rIns="0" bIns="0" rtlCol="0" anchor="ctr"/>
          <a:lstStyle/>
          <a:p>
            <a:pPr marL="0" indent="0" algn="ctr">
              <a:buNone/>
            </a:pPr>
            <a:r>
              <a:rPr lang="en-US" sz="1600" b="1" kern="0" spc="50" dirty="0">
                <a:solidFill>
                  <a:srgbClr val="FFFFFF"/>
                </a:solidFill>
                <a:latin typeface="Calibri" pitchFamily="34" charset="0"/>
                <a:ea typeface="Calibri" pitchFamily="34" charset="-122"/>
                <a:cs typeface="Calibri" pitchFamily="34" charset="-120"/>
              </a:rPr>
              <a:t>NICE WORK TODAY</a:t>
            </a:r>
            <a:endParaRPr lang="en-US" sz="1600" dirty="0"/>
          </a:p>
        </p:txBody>
      </p:sp>
      <p:sp>
        <p:nvSpPr>
          <p:cNvPr id="5" name="Text 3"/>
          <p:cNvSpPr/>
          <p:nvPr/>
        </p:nvSpPr>
        <p:spPr>
          <a:xfrm>
            <a:off x="502920" y="1005840"/>
            <a:ext cx="1005840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Your Code Now Looks Like Real Software</a:t>
            </a:r>
            <a:endParaRPr lang="en-US" sz="1600" dirty="0"/>
          </a:p>
        </p:txBody>
      </p:sp>
      <p:sp>
        <p:nvSpPr>
          <p:cNvPr id="6" name="Text 4"/>
          <p:cNvSpPr/>
          <p:nvPr/>
        </p:nvSpPr>
        <p:spPr>
          <a:xfrm>
            <a:off x="502920" y="1691640"/>
            <a:ext cx="8778240" cy="640080"/>
          </a:xfrm>
          <a:prstGeom prst="rect">
            <a:avLst/>
          </a:prstGeom>
          <a:noFill/>
          <a:ln/>
        </p:spPr>
        <p:txBody>
          <a:bodyPr wrap="square" lIns="0" tIns="0" rIns="0" bIns="0" rtlCol="0" anchor="ctr"/>
          <a:lstStyle/>
          <a:p>
            <a:pPr marL="0" indent="0">
              <a:lnSpc>
                <a:spcPct val="120000"/>
              </a:lnSpc>
              <a:buNone/>
            </a:pPr>
            <a:r>
              <a:rPr lang="en-US" sz="1600" dirty="0">
                <a:solidFill>
                  <a:srgbClr val="DADBF1"/>
                </a:solidFill>
                <a:latin typeface="Calibri" pitchFamily="34" charset="0"/>
                <a:ea typeface="Calibri" pitchFamily="34" charset="-122"/>
                <a:cs typeface="Calibri" pitchFamily="34" charset="-120"/>
              </a:rPr>
              <a:t>Functions, your own module, and persistent file storage — that's the same architecture pattern behind every Flask backend you'll build starting Phase 4.</a:t>
            </a:r>
            <a:endParaRPr lang="en-US" sz="1600" dirty="0"/>
          </a:p>
        </p:txBody>
      </p:sp>
      <p:sp>
        <p:nvSpPr>
          <p:cNvPr id="7" name="Shape 5"/>
          <p:cNvSpPr/>
          <p:nvPr/>
        </p:nvSpPr>
        <p:spPr>
          <a:xfrm>
            <a:off x="502920" y="2606040"/>
            <a:ext cx="7863840" cy="1051560"/>
          </a:xfrm>
          <a:prstGeom prst="roundRect">
            <a:avLst>
              <a:gd name="adj" fmla="val 6087"/>
            </a:avLst>
          </a:prstGeom>
          <a:solidFill>
            <a:srgbClr val="4950BC"/>
          </a:solidFill>
          <a:ln/>
        </p:spPr>
      </p:sp>
      <p:sp>
        <p:nvSpPr>
          <p:cNvPr id="8" name="Text 6"/>
          <p:cNvSpPr/>
          <p:nvPr/>
        </p:nvSpPr>
        <p:spPr>
          <a:xfrm>
            <a:off x="777240" y="2743200"/>
            <a:ext cx="7315200" cy="320040"/>
          </a:xfrm>
          <a:prstGeom prst="rect">
            <a:avLst/>
          </a:prstGeom>
          <a:noFill/>
          <a:ln/>
        </p:spPr>
        <p:txBody>
          <a:bodyPr wrap="square" lIns="0" tIns="0" rIns="0" bIns="0" rtlCol="0" anchor="ctr"/>
          <a:lstStyle/>
          <a:p>
            <a:pPr marL="0" indent="0">
              <a:buNone/>
            </a:pPr>
            <a:r>
              <a:rPr lang="en-US" sz="1600" b="1" dirty="0">
                <a:solidFill>
                  <a:srgbClr val="E8912B"/>
                </a:solidFill>
                <a:latin typeface="Calibri" pitchFamily="34" charset="0"/>
                <a:ea typeface="Calibri" pitchFamily="34" charset="-122"/>
                <a:cs typeface="Calibri" pitchFamily="34" charset="-120"/>
              </a:rPr>
              <a:t>🔜  Tomorrow — Day 4: Data Structures</a:t>
            </a:r>
            <a:endParaRPr lang="en-US" sz="1600" dirty="0"/>
          </a:p>
        </p:txBody>
      </p:sp>
      <p:sp>
        <p:nvSpPr>
          <p:cNvPr id="9" name="Text 7"/>
          <p:cNvSpPr/>
          <p:nvPr/>
        </p:nvSpPr>
        <p:spPr>
          <a:xfrm>
            <a:off x="777240" y="3090672"/>
            <a:ext cx="7223760" cy="50292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Lists, tuples, dictionaries, and sets — the structures that will hold your ML datasets starting Phase 2.</a:t>
            </a:r>
            <a:endParaRPr lang="en-US" sz="1600" dirty="0"/>
          </a:p>
        </p:txBody>
      </p:sp>
      <p:sp>
        <p:nvSpPr>
          <p:cNvPr id="11" name="Text 9"/>
          <p:cNvSpPr/>
          <p:nvPr/>
        </p:nvSpPr>
        <p:spPr>
          <a:xfrm>
            <a:off x="502920" y="6528816"/>
            <a:ext cx="8229600" cy="237744"/>
          </a:xfrm>
          <a:prstGeom prst="rect">
            <a:avLst/>
          </a:prstGeom>
          <a:noFill/>
          <a:ln/>
        </p:spPr>
        <p:txBody>
          <a:bodyPr wrap="square" lIns="0" tIns="0" rIns="0" bIns="0" rtlCol="0" anchor="ctr"/>
          <a:lstStyle/>
          <a:p>
            <a:pPr marL="0" indent="0">
              <a:buNone/>
            </a:pPr>
            <a:r>
              <a:rPr lang="en-US" sz="1400" dirty="0">
                <a:solidFill>
                  <a:srgbClr val="AFAFAF"/>
                </a:solidFill>
                <a:latin typeface="Calibri" pitchFamily="34" charset="0"/>
                <a:ea typeface="Calibri" pitchFamily="34" charset="-122"/>
                <a:cs typeface="Calibri" pitchFamily="34" charset="-120"/>
              </a:rPr>
              <a:t>INNOLIFT VENTURES  ·  FULL STACK AI DEVELOPER PROGRAM  ·  PHASE 01 · DAY 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2231</Words>
  <Application>Microsoft Office PowerPoint</Application>
  <PresentationFormat>Widescreen</PresentationFormat>
  <Paragraphs>257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 Functions &amp; Modules</dc:title>
  <dc:subject>PptxGenJS Presentation</dc:subject>
  <dc:creator>Innolift Ventures</dc:creator>
  <cp:lastModifiedBy>Jaya sri</cp:lastModifiedBy>
  <cp:revision>4</cp:revision>
  <dcterms:created xsi:type="dcterms:W3CDTF">2026-07-02T17:46:36Z</dcterms:created>
  <dcterms:modified xsi:type="dcterms:W3CDTF">2026-07-03T02:33:40Z</dcterms:modified>
</cp:coreProperties>
</file>