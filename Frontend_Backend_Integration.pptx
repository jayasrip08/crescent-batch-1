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54864" cy="54864"/>
          </a:xfrm>
          <a:prstGeom prst="ellipse">
            <a:avLst/>
          </a:prstGeom>
          <a:solidFill>
            <a:srgbClr val="2C335C"/>
          </a:solidFill>
          <a:ln/>
        </p:spPr>
      </p:sp>
      <p:sp>
        <p:nvSpPr>
          <p:cNvPr id="3" name="Shape 1"/>
          <p:cNvSpPr/>
          <p:nvPr/>
        </p:nvSpPr>
        <p:spPr>
          <a:xfrm>
            <a:off x="10927080" y="502920"/>
            <a:ext cx="54864" cy="54864"/>
          </a:xfrm>
          <a:prstGeom prst="ellipse">
            <a:avLst/>
          </a:prstGeom>
          <a:solidFill>
            <a:srgbClr val="2C335C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02920"/>
            <a:ext cx="54864" cy="54864"/>
          </a:xfrm>
          <a:prstGeom prst="ellipse">
            <a:avLst/>
          </a:prstGeom>
          <a:solidFill>
            <a:srgbClr val="2C335C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822960"/>
            <a:ext cx="54864" cy="54864"/>
          </a:xfrm>
          <a:prstGeom prst="ellipse">
            <a:avLst/>
          </a:prstGeom>
          <a:solidFill>
            <a:srgbClr val="2C335C"/>
          </a:solidFill>
          <a:ln/>
        </p:spPr>
      </p:sp>
      <p:sp>
        <p:nvSpPr>
          <p:cNvPr id="6" name="Shape 4"/>
          <p:cNvSpPr/>
          <p:nvPr/>
        </p:nvSpPr>
        <p:spPr>
          <a:xfrm>
            <a:off x="10927080" y="822960"/>
            <a:ext cx="54864" cy="54864"/>
          </a:xfrm>
          <a:prstGeom prst="ellipse">
            <a:avLst/>
          </a:prstGeom>
          <a:solidFill>
            <a:srgbClr val="2C33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41 – 43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↔ Backend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React with Flask APIs using fetch()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4420" y="4640580"/>
            <a:ext cx="868680" cy="868680"/>
          </a:xfrm>
          <a:prstGeom prst="ellipse">
            <a:avLst/>
          </a:prstGeom>
          <a:solidFill>
            <a:srgbClr val="1D3B63"/>
          </a:solidFill>
          <a:ln/>
        </p:spPr>
      </p:sp>
      <p:sp>
        <p:nvSpPr>
          <p:cNvPr id="11" name="Text 9"/>
          <p:cNvSpPr/>
          <p:nvPr/>
        </p:nvSpPr>
        <p:spPr>
          <a:xfrm>
            <a:off x="1074420" y="46405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14400" y="5577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18220" y="4640580"/>
            <a:ext cx="868680" cy="868680"/>
          </a:xfrm>
          <a:prstGeom prst="ellipse">
            <a:avLst/>
          </a:prstGeom>
          <a:solidFill>
            <a:srgbClr val="1E3B2C"/>
          </a:solidFill>
          <a:ln/>
        </p:spPr>
      </p:sp>
      <p:sp>
        <p:nvSpPr>
          <p:cNvPr id="14" name="Text 12"/>
          <p:cNvSpPr/>
          <p:nvPr/>
        </p:nvSpPr>
        <p:spPr>
          <a:xfrm>
            <a:off x="8618220" y="46405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CE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58200" y="5577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11680" y="5074920"/>
            <a:ext cx="2834640" cy="0"/>
          </a:xfrm>
          <a:prstGeom prst="line">
            <a:avLst/>
          </a:prstGeom>
          <a:noFill/>
          <a:ln w="3175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0" y="5074920"/>
            <a:ext cx="2834640" cy="0"/>
          </a:xfrm>
          <a:prstGeom prst="line">
            <a:avLst/>
          </a:prstGeom>
          <a:noFill/>
          <a:ln w="12700">
            <a:solidFill>
              <a:srgbClr val="555C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8549640" y="5074920"/>
            <a:ext cx="-2880360" cy="0"/>
          </a:xfrm>
          <a:prstGeom prst="line">
            <a:avLst/>
          </a:prstGeom>
          <a:noFill/>
          <a:ln w="3175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4901184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4901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4901184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 w="19050">
            <a:solidFill>
              <a:srgbClr val="00D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9011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5989320"/>
            <a:ext cx="1561795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989320"/>
            <a:ext cx="15617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989320"/>
            <a:ext cx="1561795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 w="12700">
            <a:solidFill>
              <a:srgbClr val="2C33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989320"/>
            <a:ext cx="15617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Communication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49347" y="5989320"/>
            <a:ext cx="1177747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/>
        </p:spPr>
      </p:sp>
      <p:sp>
        <p:nvSpPr>
          <p:cNvPr id="28" name="Text 26"/>
          <p:cNvSpPr/>
          <p:nvPr/>
        </p:nvSpPr>
        <p:spPr>
          <a:xfrm>
            <a:off x="2549347" y="5989320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49347" y="5989320"/>
            <a:ext cx="1177747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 w="12700">
            <a:solidFill>
              <a:srgbClr val="2C33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9347" y="5989320"/>
            <a:ext cx="11777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Requests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91686" y="5989320"/>
            <a:ext cx="1561795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/>
        </p:spPr>
      </p:sp>
      <p:sp>
        <p:nvSpPr>
          <p:cNvPr id="32" name="Text 30"/>
          <p:cNvSpPr/>
          <p:nvPr/>
        </p:nvSpPr>
        <p:spPr>
          <a:xfrm>
            <a:off x="3891686" y="5989320"/>
            <a:ext cx="15617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Handling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91686" y="5989320"/>
            <a:ext cx="1561795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 w="12700">
            <a:solidFill>
              <a:srgbClr val="2C33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91686" y="5989320"/>
            <a:ext cx="15617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Handling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18074" y="5989320"/>
            <a:ext cx="1945843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/>
        </p:spPr>
      </p:sp>
      <p:sp>
        <p:nvSpPr>
          <p:cNvPr id="36" name="Text 34"/>
          <p:cNvSpPr/>
          <p:nvPr/>
        </p:nvSpPr>
        <p:spPr>
          <a:xfrm>
            <a:off x="5618074" y="5989320"/>
            <a:ext cx="19458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Error States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18074" y="5989320"/>
            <a:ext cx="1945843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 w="12700">
            <a:solidFill>
              <a:srgbClr val="2C33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8074" y="5989320"/>
            <a:ext cx="19458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&amp; Error States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28509" y="5989320"/>
            <a:ext cx="1869034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/>
        </p:spPr>
      </p:sp>
      <p:sp>
        <p:nvSpPr>
          <p:cNvPr id="40" name="Text 38"/>
          <p:cNvSpPr/>
          <p:nvPr/>
        </p:nvSpPr>
        <p:spPr>
          <a:xfrm>
            <a:off x="7728509" y="5989320"/>
            <a:ext cx="18690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POST Requests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728509" y="5989320"/>
            <a:ext cx="1869034" cy="329184"/>
          </a:xfrm>
          <a:prstGeom prst="roundRect">
            <a:avLst>
              <a:gd name="adj" fmla="val 50000"/>
            </a:avLst>
          </a:prstGeom>
          <a:solidFill>
            <a:srgbClr val="1B2044"/>
          </a:solidFill>
          <a:ln w="12700">
            <a:solidFill>
              <a:srgbClr val="2C33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8509" y="5989320"/>
            <a:ext cx="18690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POST Requests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DAY 41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Separate Applications to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7F6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know this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94192" y="13716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68512" y="1600200"/>
            <a:ext cx="548640" cy="548640"/>
          </a:xfrm>
          <a:prstGeom prst="ellipse">
            <a:avLst/>
          </a:prstGeom>
          <a:solidFill>
            <a:srgbClr val="E9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8668512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08592" y="1572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08592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68512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already know this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1648" y="1755648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041648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connect them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203179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29000"/>
            <a:ext cx="1940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34717" y="395478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90749" y="3429000"/>
            <a:ext cx="203179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6469" y="3429000"/>
            <a:ext cx="1940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2546" y="395478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78578" y="3429000"/>
            <a:ext cx="203179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4298" y="3429000"/>
            <a:ext cx="1940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10374" y="395478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6406" y="3429000"/>
            <a:ext cx="203179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2126" y="3429000"/>
            <a:ext cx="1940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398203" y="395478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654235" y="3429000"/>
            <a:ext cx="2031797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9955" y="3429000"/>
            <a:ext cx="1940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5074920"/>
            <a:ext cx="11183112" cy="640080"/>
          </a:xfrm>
          <a:prstGeom prst="roundRect">
            <a:avLst>
              <a:gd name="adj" fmla="val 11429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50749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The frontend communicates with the backend through HTTP APIs.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DAY 41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Communication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REQUEST LEAVES THE BROWSER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031797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9403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34717" y="22631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90749" y="1783080"/>
            <a:ext cx="2031797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6469" y="1783080"/>
            <a:ext cx="19403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22546" y="22631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78578" y="1783080"/>
            <a:ext cx="2031797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4298" y="1783080"/>
            <a:ext cx="19403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10374" y="22631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6406" y="1783080"/>
            <a:ext cx="2031797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12126" y="1783080"/>
            <a:ext cx="19403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98203" y="22631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54235" y="1783080"/>
            <a:ext cx="2031797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9955" y="1783080"/>
            <a:ext cx="19403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104120" y="2743200"/>
            <a:ext cx="0" cy="50292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RESPONSE RETURNS TO THE SCREEN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49040"/>
            <a:ext cx="2603754" cy="960120"/>
          </a:xfrm>
          <a:prstGeom prst="roundRect">
            <a:avLst>
              <a:gd name="adj" fmla="val 7619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49040"/>
            <a:ext cx="25123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06674" y="42291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362706" y="3749040"/>
            <a:ext cx="2603754" cy="960120"/>
          </a:xfrm>
          <a:prstGeom prst="roundRect">
            <a:avLst>
              <a:gd name="adj" fmla="val 7619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8426" y="3749040"/>
            <a:ext cx="25123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66460" y="42291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22492" y="3749040"/>
            <a:ext cx="2603754" cy="960120"/>
          </a:xfrm>
          <a:prstGeom prst="roundRect">
            <a:avLst>
              <a:gd name="adj" fmla="val 7619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8212" y="3749040"/>
            <a:ext cx="25123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826246" y="42291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82278" y="3749040"/>
            <a:ext cx="2603754" cy="960120"/>
          </a:xfrm>
          <a:prstGeom prst="roundRect">
            <a:avLst>
              <a:gd name="adj" fmla="val 7619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27998" y="3749040"/>
            <a:ext cx="25123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074920"/>
            <a:ext cx="11183112" cy="1051560"/>
          </a:xfrm>
          <a:prstGeom prst="roundRect">
            <a:avLst>
              <a:gd name="adj" fmla="val 8696"/>
            </a:avLst>
          </a:prstGeom>
          <a:solidFill>
            <a:srgbClr val="F0F2FA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does not normally talk to the database directly — it always goes </a:t>
            </a:r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Flask backend, which handles the backend logic and data access.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DAY 41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 Endpoint?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7160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endpoint is a specific URL through which the frontend communicates with the backend.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80560" y="214884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/api/students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74320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89864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84835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" y="284835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" y="284835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432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 ·  app.py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4088" y="3145536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"/api/students"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get_students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422392" cy="1874520"/>
          </a:xfrm>
          <a:prstGeom prst="roundRect">
            <a:avLst>
              <a:gd name="adj" fmla="val 4878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2743200"/>
            <a:ext cx="5422392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2898648"/>
            <a:ext cx="5422392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284835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284835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8272" y="284835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743200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 ·  App.jsx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64808" y="3145536"/>
            <a:ext cx="5056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/api/students"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 API AS A BRIDGE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65860" y="5417820"/>
            <a:ext cx="777240" cy="777240"/>
          </a:xfrm>
          <a:prstGeom prst="ellipse">
            <a:avLst/>
          </a:prstGeom>
          <a:solidFill>
            <a:srgbClr val="E7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" y="5417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00584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218420" y="5417820"/>
            <a:ext cx="777240" cy="777240"/>
          </a:xfrm>
          <a:prstGeom prst="ellipse">
            <a:avLst/>
          </a:prstGeom>
          <a:solidFill>
            <a:srgbClr val="E9F9EF"/>
          </a:solidFill>
          <a:ln/>
        </p:spPr>
      </p:sp>
      <p:sp>
        <p:nvSpPr>
          <p:cNvPr id="29" name="Text 27"/>
          <p:cNvSpPr/>
          <p:nvPr/>
        </p:nvSpPr>
        <p:spPr>
          <a:xfrm>
            <a:off x="10218420" y="54178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058400" y="6263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965960" y="5806440"/>
            <a:ext cx="3794760" cy="0"/>
          </a:xfrm>
          <a:prstGeom prst="line">
            <a:avLst/>
          </a:prstGeom>
          <a:noFill/>
          <a:ln w="3175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95560" y="5806440"/>
            <a:ext cx="-3794760" cy="0"/>
          </a:xfrm>
          <a:prstGeom prst="line">
            <a:avLst/>
          </a:prstGeom>
          <a:noFill/>
          <a:ln w="3175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394960" y="560527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0D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560527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CONNECTING FRONTEND TO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communicates with the backend using HTTP methods.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53412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00D1B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534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965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95244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EF1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52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2907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849624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3707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EF1F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370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3849624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791456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978908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EEF1F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789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4791456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83880" y="1965960"/>
            <a:ext cx="3502152" cy="3108960"/>
          </a:xfrm>
          <a:prstGeom prst="roundRect">
            <a:avLst>
              <a:gd name="adj" fmla="val 2941"/>
            </a:avLst>
          </a:prstGeom>
          <a:solidFill>
            <a:srgbClr val="1B2044"/>
          </a:solidFill>
          <a:ln/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58200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DAY 41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2606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GET.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8458200" y="3429000"/>
            <a:ext cx="2926080" cy="502920"/>
          </a:xfrm>
          <a:prstGeom prst="roundRect">
            <a:avLst>
              <a:gd name="adj" fmla="val 14545"/>
            </a:avLst>
          </a:prstGeom>
          <a:solidFill>
            <a:srgbClr val="11152A"/>
          </a:solidFill>
          <a:ln/>
        </p:spPr>
      </p:sp>
      <p:sp>
        <p:nvSpPr>
          <p:cNvPr id="25" name="Text 23"/>
          <p:cNvSpPr/>
          <p:nvPr/>
        </p:nvSpPr>
        <p:spPr>
          <a:xfrm>
            <a:off x="8458200" y="3429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/api/students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58200" y="41148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Retrieving a list of students is the simplest place to begin learning API communication.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CONNECTING FRONTEND TO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fetch()?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</a:t>
            </a:r>
            <a:pPr indent="0" marL="0">
              <a:buNone/>
            </a:pPr>
            <a:r>
              <a:rPr lang="en-US" sz="14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a built-in JavaScript API used to make HTTP requests.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577840" cy="1737360"/>
          </a:xfrm>
          <a:prstGeom prst="roundRect">
            <a:avLst>
              <a:gd name="adj" fmla="val 5263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74520"/>
            <a:ext cx="557784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29968"/>
            <a:ext cx="557784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7967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97967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197967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example.js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276856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"http://localhost:5000/api/students"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194560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19456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2761488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0" y="2962656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96265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HTTP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3529584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3730752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730752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4297680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0" y="4498848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498848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Response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623560"/>
            <a:ext cx="11183112" cy="640080"/>
          </a:xfrm>
          <a:prstGeom prst="roundRect">
            <a:avLst>
              <a:gd name="adj" fmla="val 11429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5623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no additional library is required — fetch() ships natively in the browser.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CONNECTING FRONTEND TO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API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SENDS JSON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4708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967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7967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17967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· JSON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093976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"Mahesh"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"IT"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422392" cy="1051560"/>
          </a:xfrm>
          <a:prstGeom prst="roundRect">
            <a:avLst>
              <a:gd name="adj" fmla="val 8696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691640"/>
            <a:ext cx="5422392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1847088"/>
            <a:ext cx="5422392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7967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4536" y="17967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6748272" y="17967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691640"/>
            <a:ext cx="5422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64808" y="2093976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246120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74836" y="3703320"/>
            <a:ext cx="0" cy="123444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3826764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826764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74836" y="4283964"/>
            <a:ext cx="0" cy="123444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63640" y="4407408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407408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74836" y="4864608"/>
            <a:ext cx="0" cy="123444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63640" y="4988052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988052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setStudents()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74836" y="5445252"/>
            <a:ext cx="0" cy="123444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63640" y="5568696"/>
            <a:ext cx="5422392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5568696"/>
            <a:ext cx="5276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CONNECTING FRONTEND TO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useEffect()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548640"/>
          </a:xfrm>
          <a:prstGeom prst="roundRect">
            <a:avLst>
              <a:gd name="adj" fmla="val 13333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716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the frontend request data?  Usually when the component loads.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10312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25856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20827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" y="220827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1" name="Shape 9"/>
          <p:cNvSpPr/>
          <p:nvPr/>
        </p:nvSpPr>
        <p:spPr>
          <a:xfrm>
            <a:off x="987552" y="220827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03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StudentList.jsx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" y="250545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fetchStudents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657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EAFB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useEffect()  </a:t>
            </a:r>
            <a:pPr indent="0" marL="0">
              <a:buNone/>
            </a:pPr>
            <a:r>
              <a:rPr lang="en-US" sz="13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performs the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873752"/>
            <a:ext cx="457200" cy="457200"/>
          </a:xfrm>
          <a:prstGeom prst="ellipse">
            <a:avLst/>
          </a:prstGeom>
          <a:solidFill>
            <a:srgbClr val="EAFBF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846320"/>
            <a:ext cx="4206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useState()  </a:t>
            </a:r>
            <a:pPr indent="0" marL="0">
              <a:buNone/>
            </a:pPr>
            <a:r>
              <a:rPr lang="en-US" sz="13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stores the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423160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423160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Loads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74836" y="2862072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63640" y="2967228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2967228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useEffect()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74836" y="3406140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63640" y="3511296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3511296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fetchStudents()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74836" y="3950208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63640" y="4055364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4055364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74836" y="4494276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63640" y="4599432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4599432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74836" y="5038344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63640" y="5143500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5143500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74836" y="5582412"/>
            <a:ext cx="0" cy="10515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263640" y="5687568"/>
            <a:ext cx="542239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5687568"/>
            <a:ext cx="5276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· CONNECTING FRONTEND TO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Complete GET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 Example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ASK FOR THE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031797" cy="914400"/>
          </a:xfrm>
          <a:prstGeom prst="roundRect">
            <a:avLst>
              <a:gd name="adj" fmla="val 8000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19403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4717" y="26060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90749" y="2148840"/>
            <a:ext cx="2031797" cy="914400"/>
          </a:xfrm>
          <a:prstGeom prst="roundRect">
            <a:avLst>
              <a:gd name="adj" fmla="val 8000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6469" y="2148840"/>
            <a:ext cx="19403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22546" y="26060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8578" y="2148840"/>
            <a:ext cx="2031797" cy="914400"/>
          </a:xfrm>
          <a:prstGeom prst="roundRect">
            <a:avLst>
              <a:gd name="adj" fmla="val 8000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4298" y="2148840"/>
            <a:ext cx="19403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0374" y="26060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66406" y="2148840"/>
            <a:ext cx="2031797" cy="914400"/>
          </a:xfrm>
          <a:prstGeom prst="roundRect">
            <a:avLst>
              <a:gd name="adj" fmla="val 8000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2126" y="2148840"/>
            <a:ext cx="19403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98203" y="26060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54235" y="2148840"/>
            <a:ext cx="2031797" cy="914400"/>
          </a:xfrm>
          <a:prstGeom prst="roundRect">
            <a:avLst>
              <a:gd name="adj" fmla="val 8000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9955" y="2148840"/>
            <a:ext cx="194035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04120" y="3063240"/>
            <a:ext cx="0" cy="45720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0292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TURN THE RESPONSE INTO 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77640"/>
            <a:ext cx="2603754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77640"/>
            <a:ext cx="2512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6674" y="44348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62706" y="3977640"/>
            <a:ext cx="2603754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8426" y="3977640"/>
            <a:ext cx="2512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66460" y="44348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22492" y="3977640"/>
            <a:ext cx="2603754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8212" y="3977640"/>
            <a:ext cx="2512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setStudents()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26246" y="443484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82278" y="3977640"/>
            <a:ext cx="2603754" cy="914400"/>
          </a:xfrm>
          <a:prstGeom prst="roundRect">
            <a:avLst>
              <a:gd name="adj" fmla="val 8000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27998" y="3977640"/>
            <a:ext cx="2512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257800"/>
            <a:ext cx="11183112" cy="640080"/>
          </a:xfrm>
          <a:prstGeom prst="roundRect">
            <a:avLst>
              <a:gd name="adj" fmla="val 11429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525780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 Goal:  display backend data inside a React application.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HANDLING API RESPONSES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Request Has States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request isn't always immediately successful.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69080" y="18288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/>
        </p:spPr>
      </p:sp>
      <p:sp>
        <p:nvSpPr>
          <p:cNvPr id="6" name="Text 4"/>
          <p:cNvSpPr/>
          <p:nvPr/>
        </p:nvSpPr>
        <p:spPr>
          <a:xfrm>
            <a:off x="406908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2331720"/>
            <a:ext cx="0" cy="50292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2834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3291840"/>
            <a:ext cx="0" cy="32004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697480" y="3611880"/>
            <a:ext cx="4754880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3611880"/>
            <a:ext cx="0" cy="365760"/>
          </a:xfrm>
          <a:prstGeom prst="line">
            <a:avLst/>
          </a:prstGeom>
          <a:noFill/>
          <a:ln w="2540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3611880"/>
            <a:ext cx="0" cy="36576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83080" y="39776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EAFBF6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97764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FFE3D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Error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97480" y="4480560"/>
            <a:ext cx="0" cy="365760"/>
          </a:xfrm>
          <a:prstGeom prst="line">
            <a:avLst/>
          </a:prstGeom>
          <a:noFill/>
          <a:ln w="2540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94560" y="484632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4846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194560" y="48463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48463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697480" y="5257800"/>
            <a:ext cx="0" cy="320040"/>
          </a:xfrm>
          <a:prstGeom prst="line">
            <a:avLst/>
          </a:prstGeom>
          <a:noFill/>
          <a:ln w="2540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194560" y="557784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55778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32520" y="3931920"/>
            <a:ext cx="2971800" cy="2057400"/>
          </a:xfrm>
          <a:prstGeom prst="roundRect">
            <a:avLst>
              <a:gd name="adj" fmla="val 4444"/>
            </a:avLst>
          </a:prstGeom>
          <a:solidFill>
            <a:srgbClr val="1B2044"/>
          </a:solidFill>
          <a:ln/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96112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961120" y="4407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+ No Data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961120" y="4736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Empty State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961120" y="516636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call with zero results still needs its own message to the user.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HANDLING API RESPONSES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E3DF"/>
          </a:solidFill>
          <a:ln w="12700">
            <a:solidFill>
              <a:srgbClr val="FF6B5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LOADING INDICATOR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1168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2542032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7066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706624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happens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0" y="3236976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" y="34015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401568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 feels broken"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22392" cy="2743200"/>
          </a:xfrm>
          <a:prstGeom prst="roundRect">
            <a:avLst>
              <a:gd name="adj" fmla="val 3333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627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LOADING STATE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011680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2011680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Started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0" y="2542032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2706624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2706624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"Loading students..."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0" y="3236976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583680" y="3401568"/>
            <a:ext cx="47548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3401568"/>
            <a:ext cx="4608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Data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11183112" cy="1417320"/>
          </a:xfrm>
          <a:prstGeom prst="roundRect">
            <a:avLst>
              <a:gd name="adj" fmla="val 6452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434840"/>
            <a:ext cx="11183112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590288"/>
            <a:ext cx="11183112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5399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" y="45399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9" name="Shape 27"/>
          <p:cNvSpPr/>
          <p:nvPr/>
        </p:nvSpPr>
        <p:spPr>
          <a:xfrm>
            <a:off x="987552" y="45399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434840"/>
            <a:ext cx="11183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StudentList.jsx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" y="4837176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setLoading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HANDLING API RESPONSES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 CAN FAIL BECAUSE OF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1801368"/>
            <a:ext cx="310896" cy="310896"/>
          </a:xfrm>
          <a:prstGeom prst="ellipse">
            <a:avLst/>
          </a:prstGeom>
          <a:solidFill>
            <a:srgbClr val="FFE3D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unavailable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" y="2304288"/>
            <a:ext cx="310896" cy="310896"/>
          </a:xfrm>
          <a:prstGeom prst="ellipse">
            <a:avLst/>
          </a:prstGeom>
          <a:solidFill>
            <a:srgbClr val="FFE3DF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24028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URL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7512" y="2807208"/>
            <a:ext cx="310896" cy="310896"/>
          </a:xfrm>
          <a:prstGeom prst="ellipse">
            <a:avLst/>
          </a:prstGeom>
          <a:solidFill>
            <a:srgbClr val="FFE3DF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67512" y="3310128"/>
            <a:ext cx="310896" cy="310896"/>
          </a:xfrm>
          <a:prstGeom prst="ellipse">
            <a:avLst/>
          </a:prstGeom>
          <a:solidFill>
            <a:srgbClr val="FFE3D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24612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7512" y="3813048"/>
            <a:ext cx="310896" cy="310896"/>
          </a:xfrm>
          <a:prstGeom prst="ellipse">
            <a:avLst/>
          </a:prstGeom>
          <a:solidFill>
            <a:srgbClr val="FFE3D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7490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5650992" cy="2514600"/>
          </a:xfrm>
          <a:prstGeom prst="roundRect">
            <a:avLst>
              <a:gd name="adj" fmla="val 3636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371600"/>
            <a:ext cx="5650992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1527048"/>
            <a:ext cx="5650992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47675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5936" y="147675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25" name="Shape 23"/>
          <p:cNvSpPr/>
          <p:nvPr/>
        </p:nvSpPr>
        <p:spPr>
          <a:xfrm>
            <a:off x="6519672" y="147675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371600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StudentList.jsx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36208" y="1773936"/>
            <a:ext cx="52852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API request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Handle error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Stop loading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4709160"/>
            <a:ext cx="1048512" cy="685800"/>
          </a:xfrm>
          <a:prstGeom prst="roundRect">
            <a:avLst>
              <a:gd name="adj" fmla="val 10667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957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551432" y="50520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07464" y="4709160"/>
            <a:ext cx="1048512" cy="685800"/>
          </a:xfrm>
          <a:prstGeom prst="roundRect">
            <a:avLst>
              <a:gd name="adj" fmla="val 10667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3184" y="4709160"/>
            <a:ext cx="957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855976" y="50520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112008" y="4709160"/>
            <a:ext cx="1048512" cy="685800"/>
          </a:xfrm>
          <a:prstGeom prst="roundRect">
            <a:avLst>
              <a:gd name="adj" fmla="val 10667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7728" y="4709160"/>
            <a:ext cx="957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343400" y="47091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74920" y="4709160"/>
            <a:ext cx="1380744" cy="685800"/>
          </a:xfrm>
          <a:prstGeom prst="roundRect">
            <a:avLst>
              <a:gd name="adj" fmla="val 10667"/>
            </a:avLst>
          </a:prstGeom>
          <a:solidFill>
            <a:srgbClr val="FFE3D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470916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55664" y="50520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11696" y="4709160"/>
            <a:ext cx="1380744" cy="685800"/>
          </a:xfrm>
          <a:prstGeom prst="roundRect">
            <a:avLst>
              <a:gd name="adj" fmla="val 10667"/>
            </a:avLst>
          </a:prstGeom>
          <a:solidFill>
            <a:srgbClr val="FFE3D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57416" y="470916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229600" y="47091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732520" y="4709160"/>
            <a:ext cx="1348740" cy="685800"/>
          </a:xfrm>
          <a:prstGeom prst="roundRect">
            <a:avLst>
              <a:gd name="adj" fmla="val 10667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470916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081260" y="50520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337292" y="4709160"/>
            <a:ext cx="1348740" cy="685800"/>
          </a:xfrm>
          <a:prstGeom prst="roundRect">
            <a:avLst>
              <a:gd name="adj" fmla="val 10667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83012" y="4709160"/>
            <a:ext cx="1257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Loading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HANDLING API RESPONSES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response.ok and HTTP Status Codes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processing a response: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4708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967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7967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17967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StudentList.jsx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09397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!response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 to fetch students"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31089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reaching the server does not always mean the request succeeded.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STATUS CODES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737360"/>
            <a:ext cx="73152" cy="658368"/>
          </a:xfrm>
          <a:prstGeom prst="rect">
            <a:avLst/>
          </a:prstGeom>
          <a:solidFill>
            <a:srgbClr val="00D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7373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69480" y="1737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73736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0" y="1737360"/>
            <a:ext cx="73152" cy="658368"/>
          </a:xfrm>
          <a:prstGeom prst="rect">
            <a:avLst/>
          </a:prstGeom>
          <a:solidFill>
            <a:srgbClr val="00D1B2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73736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0" y="173736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251460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514600"/>
            <a:ext cx="73152" cy="658368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69480" y="251460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Request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52560" y="251460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52560" y="2514600"/>
            <a:ext cx="73152" cy="658368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0" name="Text 28"/>
          <p:cNvSpPr/>
          <p:nvPr/>
        </p:nvSpPr>
        <p:spPr>
          <a:xfrm>
            <a:off x="9235440" y="251460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58400" y="251460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329184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291840"/>
            <a:ext cx="73152" cy="658368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291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269480" y="329184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052560" y="3291840"/>
            <a:ext cx="2606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052560" y="3291840"/>
            <a:ext cx="73152" cy="658368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38" name="Text 36"/>
          <p:cNvSpPr/>
          <p:nvPr/>
        </p:nvSpPr>
        <p:spPr>
          <a:xfrm>
            <a:off x="9235440" y="329184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058400" y="329184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Error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· HANDLING API RESPONSES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Error &amp; Empty States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8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574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found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08860" y="2560320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72491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2491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students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4630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F6E8"/>
          </a:solidFill>
          <a:ln w="12700">
            <a:solidFill>
              <a:srgbClr val="FFC857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645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17136" y="20574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0574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94476" y="2560320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17136" y="272491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272491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[]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94476" y="3227832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17136" y="3392424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3392424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students found."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74152" y="1463040"/>
            <a:ext cx="3611880" cy="3383280"/>
          </a:xfrm>
          <a:prstGeom prst="roundRect">
            <a:avLst>
              <a:gd name="adj" fmla="val 2703"/>
            </a:avLst>
          </a:prstGeom>
          <a:solidFill>
            <a:srgbClr val="FFE3DF"/>
          </a:solidFill>
          <a:ln w="12700">
            <a:solidFill>
              <a:srgbClr val="FF6B5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02752" y="16459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02752" y="205740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057400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Failure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880092" y="2560320"/>
            <a:ext cx="0" cy="164592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02752" y="2724912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FF6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2724912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"Unable to load students."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0749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UI should clearly communicate what is happening.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FORMS →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vs Sending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130552" y="21717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86584" y="178308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178308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014216" y="21717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70248" y="1783080"/>
            <a:ext cx="1627632" cy="777240"/>
          </a:xfrm>
          <a:prstGeom prst="roundRect">
            <a:avLst>
              <a:gd name="adj" fmla="val 9412"/>
            </a:avLst>
          </a:prstGeom>
          <a:solidFill>
            <a:srgbClr val="EAFBF6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178308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26364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NOW, REVERSE THE DIRECTION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1636776" cy="777240"/>
          </a:xfrm>
          <a:prstGeom prst="roundRect">
            <a:avLst>
              <a:gd name="adj" fmla="val 9412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83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Form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00416" y="21717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56448" y="1783080"/>
            <a:ext cx="1636776" cy="777240"/>
          </a:xfrm>
          <a:prstGeom prst="roundRect">
            <a:avLst>
              <a:gd name="adj" fmla="val 9412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783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793224" y="217170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49256" y="1783080"/>
            <a:ext cx="1636776" cy="777240"/>
          </a:xfrm>
          <a:prstGeom prst="roundRect">
            <a:avLst>
              <a:gd name="adj" fmla="val 9412"/>
            </a:avLst>
          </a:prstGeom>
          <a:solidFill>
            <a:srgbClr val="FFF6E8"/>
          </a:solidFill>
          <a:ln w="15875">
            <a:solidFill>
              <a:srgbClr val="FFC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4976" y="178308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2971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337560"/>
            <a:ext cx="11183112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279392"/>
            <a:ext cx="2011680" cy="585216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793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Form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63240" y="4572000"/>
            <a:ext cx="685800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77640" y="391363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9136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977640" y="450799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4507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77640" y="5102352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5102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760720" y="4572000"/>
            <a:ext cx="685800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75120" y="4279392"/>
            <a:ext cx="2103120" cy="585216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427939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52560" y="3886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form submission carries all three fields to the backend in one request.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FORMS →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React Forms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keeps the input values in state.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9280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84251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84251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184251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37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StudentForm.jsx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13969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setName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setEmail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useState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10896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26440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1411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" y="321411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321411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089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StudentForm.jsx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088" y="3511296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value=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onChange=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setName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057400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2057400"/>
            <a:ext cx="5276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74836" y="2624328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2825496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825496"/>
            <a:ext cx="5276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onChange()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74836" y="3392424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63640" y="3593592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3593592"/>
            <a:ext cx="5276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74836" y="4160520"/>
            <a:ext cx="0" cy="201168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63640" y="4361688"/>
            <a:ext cx="54223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4361688"/>
            <a:ext cx="5276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FORMS →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the 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PREVENT THE DEFAULT SUBMISSION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4708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967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17967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17967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StudentForm.jsx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209397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handleSubmit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preventDefault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SEND THE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4612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246120"/>
            <a:ext cx="539496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3401568"/>
            <a:ext cx="539496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35127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" y="335127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" y="335127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StudentForm.jsx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" y="3648456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"http://localhost:5000/api/students"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"Content-Type"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"application/json"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stringify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CONCEPTS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1737360"/>
            <a:ext cx="54223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737360"/>
            <a:ext cx="73152" cy="62179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73736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63640" y="2514600"/>
            <a:ext cx="54223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514600"/>
            <a:ext cx="73152" cy="62179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51460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263640" y="3291840"/>
            <a:ext cx="54223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291840"/>
            <a:ext cx="73152" cy="62179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29184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42239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069080"/>
            <a:ext cx="73152" cy="62179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069080"/>
            <a:ext cx="4937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JSON.stringify()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 · FORMS → 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Receiving the Form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32120" cy="2377440"/>
          </a:xfrm>
          <a:prstGeom prst="roundRect">
            <a:avLst>
              <a:gd name="adj" fmla="val 3846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553212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18488"/>
            <a:ext cx="553212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681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8" name="Shape 6"/>
          <p:cNvSpPr/>
          <p:nvPr/>
        </p:nvSpPr>
        <p:spPr>
          <a:xfrm>
            <a:off x="813816" y="15681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5681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6304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1865376"/>
            <a:ext cx="5166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"/api/students"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create_student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get_json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"course"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5532120" cy="1005840"/>
          </a:xfrm>
          <a:prstGeom prst="roundRect">
            <a:avLst>
              <a:gd name="adj" fmla="val 9091"/>
            </a:avLst>
          </a:prstGeom>
          <a:solidFill>
            <a:srgbClr val="11152A"/>
          </a:solidFill>
          <a:ln/>
          <a:effectLst>
            <a:outerShdw sx="100000" sy="100000" kx="0" ky="0" algn="bl" rotWithShape="0" blurRad="127000" dist="50800" dir="5400000">
              <a:srgbClr val="10142B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977640"/>
            <a:ext cx="5532120" cy="310896"/>
          </a:xfrm>
          <a:prstGeom prst="roundRect">
            <a:avLst>
              <a:gd name="adj" fmla="val 29412"/>
            </a:avLst>
          </a:prstGeom>
          <a:solidFill>
            <a:srgbClr val="1A1F3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4133088"/>
            <a:ext cx="5532120" cy="155448"/>
          </a:xfrm>
          <a:prstGeom prst="rect">
            <a:avLst/>
          </a:prstGeom>
          <a:solidFill>
            <a:srgbClr val="1A1F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4082796"/>
            <a:ext cx="100584" cy="100584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" y="4082796"/>
            <a:ext cx="100584" cy="100584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" y="4082796"/>
            <a:ext cx="100584" cy="100584"/>
          </a:xfrm>
          <a:prstGeom prst="ellipse">
            <a:avLst/>
          </a:prstGeom>
          <a:solidFill>
            <a:srgbClr val="00D1B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77640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" y="437997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"success"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00D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FC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"Student created successfully"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F4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AEB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35508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1783080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1783080"/>
            <a:ext cx="5184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Request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20556" y="2350008"/>
            <a:ext cx="0" cy="12801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55080" y="2478024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2478024"/>
            <a:ext cx="5184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request.get_json()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020556" y="3044952"/>
            <a:ext cx="0" cy="12801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355080" y="3172968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172968"/>
            <a:ext cx="5184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20556" y="3739896"/>
            <a:ext cx="0" cy="12801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55080" y="3867912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3867912"/>
            <a:ext cx="5184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20556" y="4434840"/>
            <a:ext cx="0" cy="128016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55080" y="4562856"/>
            <a:ext cx="53309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4562856"/>
            <a:ext cx="5184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PUTTING IT ALL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Frontend ↔ Backend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E7F6FF"/>
          </a:solidFill>
          <a:ln w="12700">
            <a:solidFill>
              <a:srgbClr val="1D6FA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91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List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11312" y="150876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E9F9EF"/>
          </a:solidFill>
          <a:ln w="12700">
            <a:solidFill>
              <a:srgbClr val="1E8E4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85632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8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85632" y="21031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/students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/students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77640" y="2514600"/>
            <a:ext cx="4142232" cy="0"/>
          </a:xfrm>
          <a:prstGeom prst="line">
            <a:avLst/>
          </a:prstGeom>
          <a:noFill/>
          <a:ln w="31750">
            <a:solidFill>
              <a:srgbClr val="00D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19872" y="2514600"/>
            <a:ext cx="-4142232" cy="0"/>
          </a:xfrm>
          <a:prstGeom prst="line">
            <a:avLst/>
          </a:prstGeom>
          <a:noFill/>
          <a:ln w="12700">
            <a:solidFill>
              <a:srgbClr val="00D1B2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394960" y="22860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94960" y="22860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286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566160"/>
            <a:ext cx="0" cy="50292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83480" y="41148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10142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0760" y="4617720"/>
            <a:ext cx="0" cy="50292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00600" y="51663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5166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Update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806440"/>
            <a:ext cx="5394960" cy="685800"/>
          </a:xfrm>
          <a:prstGeom prst="roundRect">
            <a:avLst>
              <a:gd name="adj" fmla="val 13333"/>
            </a:avLst>
          </a:prstGeom>
          <a:solidFill>
            <a:srgbClr val="EAFBF6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806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React → Flask → React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5806440"/>
            <a:ext cx="5422392" cy="685800"/>
          </a:xfrm>
          <a:prstGeom prst="roundRect">
            <a:avLst>
              <a:gd name="adj" fmla="val 13333"/>
            </a:avLst>
          </a:prstGeom>
          <a:solidFill>
            <a:srgbClr val="FFF6E8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5806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React → Flask → React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0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2044"/>
          </a:solidFill>
          <a:ln/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2763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8952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Connecting React to Flask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HTTP requests · fetch()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3054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GET · JSON responses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" y="34838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useEffect()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4173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2044"/>
          </a:solidFill>
          <a:ln/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17136" y="162763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44568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Loading &amp; success states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44568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Error handling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44568" y="3054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Empty states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44568" y="34838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response.ok · status codes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141732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B2044"/>
          </a:solidFill>
          <a:ln/>
          <a:effectLst>
            <a:outerShdw sx="100000" sy="100000" kx="0" ky="0" algn="bl" rotWithShape="0" blurRad="101600" dist="38100" dir="5400000">
              <a:srgbClr val="1B223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2752" y="162763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0D1B2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30184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forms · controlled inputs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30184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onChange · onSubmit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30184" y="3054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preventDefault()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0184" y="34838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 · JSON.stringify()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MENTAL MODEL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572000"/>
            <a:ext cx="2603754" cy="731520"/>
          </a:xfrm>
          <a:prstGeom prst="roundRect">
            <a:avLst>
              <a:gd name="adj" fmla="val 10000"/>
            </a:avLst>
          </a:prstGeom>
          <a:solidFill>
            <a:srgbClr val="232951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72000"/>
            <a:ext cx="2512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106674" y="49377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362706" y="4572000"/>
            <a:ext cx="2603754" cy="731520"/>
          </a:xfrm>
          <a:prstGeom prst="roundRect">
            <a:avLst>
              <a:gd name="adj" fmla="val 10000"/>
            </a:avLst>
          </a:prstGeom>
          <a:solidFill>
            <a:srgbClr val="232951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8426" y="4572000"/>
            <a:ext cx="2512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66460" y="49377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22492" y="4572000"/>
            <a:ext cx="2603754" cy="731520"/>
          </a:xfrm>
          <a:prstGeom prst="roundRect">
            <a:avLst>
              <a:gd name="adj" fmla="val 10000"/>
            </a:avLst>
          </a:prstGeom>
          <a:solidFill>
            <a:srgbClr val="232951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8212" y="4572000"/>
            <a:ext cx="2512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26246" y="4937760"/>
            <a:ext cx="256032" cy="0"/>
          </a:xfrm>
          <a:prstGeom prst="line">
            <a:avLst/>
          </a:prstGeom>
          <a:noFill/>
          <a:ln w="25400">
            <a:solidFill>
              <a:srgbClr val="C7CEE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82278" y="4572000"/>
            <a:ext cx="2603754" cy="731520"/>
          </a:xfrm>
          <a:prstGeom prst="roundRect">
            <a:avLst>
              <a:gd name="adj" fmla="val 10000"/>
            </a:avLst>
          </a:prstGeom>
          <a:solidFill>
            <a:srgbClr val="232951"/>
          </a:solidFill>
          <a:ln w="15875">
            <a:solidFill>
              <a:srgbClr val="00D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7998" y="4572000"/>
            <a:ext cx="2512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1B2044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562356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handles the user interface. Backend handles the application logic. APIs connect the two.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2026-08-09T09:52:31Z</dcterms:created>
  <dcterms:modified xsi:type="dcterms:W3CDTF">2026-08-09T09:52:31Z</dcterms:modified>
</cp:coreProperties>
</file>