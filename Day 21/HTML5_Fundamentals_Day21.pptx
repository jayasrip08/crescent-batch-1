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68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014A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html5class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5" y="84993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 ·  WEB DEVELOPMENT TRACK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Fundamentals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94360" y="3794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  ·  Semantic Tags  ·  Forms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94360" y="452628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4709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HTML5 powers the modern web — structure, accessibility, SEO and industry </a:t>
            </a:r>
            <a:r>
              <a:rPr lang="en-US" sz="130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CLASS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 build from the ground up — from a single tag to a fully working, accessible web 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20440" cy="228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05940" y="3108960"/>
            <a:ext cx="1005840" cy="1005840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html5class/icons/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517" y="3380537"/>
            <a:ext cx="462686" cy="46268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HTML Documents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49377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DOCTYPE, head, meta tags, and the anatomy of every webpage.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23317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89120" y="233172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89120" y="2606040"/>
            <a:ext cx="3520440" cy="228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17720" y="2404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646420" y="3108960"/>
            <a:ext cx="1005840" cy="1005840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/home/claude/html5class/icons/seman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997" y="3380537"/>
            <a:ext cx="462686" cy="46268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6344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HTML5 Tags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709160" y="49377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nav, main, section, article, aside, footer — and why they matter.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229600" y="23317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229600" y="233172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8229600" y="2606040"/>
            <a:ext cx="3520440" cy="228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458200" y="2404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9486900" y="3108960"/>
            <a:ext cx="1005840" cy="1005840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home/claude/html5class/icons/for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8477" y="3380537"/>
            <a:ext cx="462686" cy="46268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50392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549640" y="49377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validation, GET vs POST, and building a real registration form.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4864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industry standards, SEO, and accessibility woven through every topic.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HTML?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</a:t>
            </a: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(HyperText Markup Language) is the standard language used to build every webpage on the internet.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structure of a webpage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content on the page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relationship between elements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html5class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09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572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alone provides no styling or interactivity — that's the job of CSS and JavaScript.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55448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03720" y="1783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Trio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903720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html5class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886" y="2608326"/>
            <a:ext cx="315468" cy="315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2404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818120" y="27523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03720" y="3291840"/>
            <a:ext cx="4389120" cy="0"/>
          </a:xfrm>
          <a:prstGeom prst="line">
            <a:avLst/>
          </a:prstGeom>
          <a:noFill/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903720" y="347472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html5class/icons/palet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8886" y="3659886"/>
            <a:ext cx="315468" cy="3154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18120" y="3456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818120" y="3803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Styling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903720" y="4343400"/>
            <a:ext cx="4389120" cy="0"/>
          </a:xfrm>
          <a:prstGeom prst="line">
            <a:avLst/>
          </a:prstGeom>
          <a:noFill/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903720" y="45262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html5class/icons/ge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8886" y="4711446"/>
            <a:ext cx="315468" cy="3154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18120" y="4507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818120" y="48554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HISTORY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HTML — Why HTML5?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2103120"/>
            <a:ext cx="9235440" cy="0"/>
          </a:xfrm>
          <a:prstGeom prst="line">
            <a:avLst/>
          </a:prstGeom>
          <a:noFill/>
          <a:ln w="381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1.0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1783080"/>
            <a:ext cx="640080" cy="64008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1783080"/>
            <a:ext cx="640080" cy="64008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06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XHTML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698480" y="1783080"/>
            <a:ext cx="640080" cy="64008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98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10412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EAF4F4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Older HTML</a:t>
            </a:r>
            <a:endParaRPr lang="en-US" sz="1600" dirty="0"/>
          </a:p>
        </p:txBody>
      </p:sp>
      <p:pic>
        <p:nvPicPr>
          <p:cNvPr id="19" name="Image 0" descr="/home/claude/html5class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94760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3444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&lt;div&gt; for everything</a:t>
            </a:r>
            <a:endParaRPr lang="en-US" sz="1300" dirty="0"/>
          </a:p>
        </p:txBody>
      </p:sp>
      <p:pic>
        <p:nvPicPr>
          <p:cNvPr id="21" name="Image 1" descr="/home/claude/html5class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61688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34440" y="4315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multimedia support</a:t>
            </a:r>
            <a:endParaRPr lang="en-US" sz="1300" dirty="0"/>
          </a:p>
        </p:txBody>
      </p:sp>
      <p:pic>
        <p:nvPicPr>
          <p:cNvPr id="23" name="Image 2" descr="/home/claude/html5class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28616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34440" y="48828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accessibility</a:t>
            </a:r>
            <a:endParaRPr lang="en-US" sz="1300" dirty="0"/>
          </a:p>
        </p:txBody>
      </p:sp>
      <p:pic>
        <p:nvPicPr>
          <p:cNvPr id="25" name="Image 3" descr="/home/claude/html5class/icons/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9554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5449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SEO optimization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217920" y="3063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E4F7F1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653796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HTML5 Introduced</a:t>
            </a:r>
            <a:endParaRPr lang="en-US" sz="1600" dirty="0"/>
          </a:p>
        </p:txBody>
      </p:sp>
      <p:pic>
        <p:nvPicPr>
          <p:cNvPr id="29" name="Image 4" descr="/home/claude/html5clas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794760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9037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</a:t>
            </a:r>
            <a:endParaRPr lang="en-US" sz="1300" dirty="0"/>
          </a:p>
        </p:txBody>
      </p:sp>
      <p:pic>
        <p:nvPicPr>
          <p:cNvPr id="31" name="Image 5" descr="/home/claude/html5clas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361688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4315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video support</a:t>
            </a:r>
            <a:endParaRPr lang="en-US" sz="1300" dirty="0"/>
          </a:p>
        </p:txBody>
      </p:sp>
      <p:pic>
        <p:nvPicPr>
          <p:cNvPr id="33" name="Image 6" descr="/home/claude/html5clas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928616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03720" y="48828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smarter forms</a:t>
            </a:r>
            <a:endParaRPr lang="en-US" sz="1300" dirty="0"/>
          </a:p>
        </p:txBody>
      </p:sp>
      <p:pic>
        <p:nvPicPr>
          <p:cNvPr id="35" name="Image 7" descr="/home/claude/html5clas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495544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903720" y="5449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storage, geolocation, canvas &amp; SVG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HTML5 Brought to the Web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376" y="18745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13916" y="213055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html5class/icons/seman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426" y="2328062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65576" y="18745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57116" y="213055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html5class/icons/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4626" y="2328062"/>
            <a:ext cx="336499" cy="3364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7016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Video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08776" y="18745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100316" y="213055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html5class/icons/for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826" y="2328062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0216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Forms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951976" y="187452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843516" y="213055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html5class/icons/stor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1026" y="2328062"/>
            <a:ext cx="336499" cy="33649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43416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22376" y="3886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1613916" y="414223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html5class/icons/ge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1426" y="4339742"/>
            <a:ext cx="336499" cy="33649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3816" y="4983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APIs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465576" y="3886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357116" y="414223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/home/claude/html5class/icons/canva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4626" y="4339742"/>
            <a:ext cx="336499" cy="33649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57016" y="4983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&amp; SVG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08776" y="388620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7100316" y="414223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/home/claude/html5class/icons/mobi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3130" y="4339742"/>
            <a:ext cx="336499" cy="33649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00216" y="4983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DOCUMENT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HTML5 Document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846320"/>
          </a:xfrm>
          <a:prstGeom prst="roundRect">
            <a:avLst>
              <a:gd name="adj" fmla="val 1132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55648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charset="UTF-8"&gt;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name="viewport"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content="width=device-width,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initial-scale=1.0"&gt;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First Webpage&lt;/title&gt;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&lt;h1&gt;Hello Students&lt;/h1&gt;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0" y="1673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0116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browser to use HTML5 standards — without it, pages can render in unpredictable Quirks Mode.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2852928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33101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element. lang helps search engines, screen readers &amp; accessibility tools.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4151376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0" y="4270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460857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metadata: title, character encoding, viewport, SEO tags, linked CSS.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5449824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55686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59070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visible on the page lives here.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THE &lt;HEAD&gt;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Tags &amp; the &lt;title&gt;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html5class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20473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Encoding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3063240" cy="1234440"/>
          </a:xfrm>
          <a:prstGeom prst="roundRect">
            <a:avLst>
              <a:gd name="adj" fmla="val 4444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2834640"/>
            <a:ext cx="2697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charset="UTF-8"&gt;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English, Tamil, Hindi and emoji — every character your users type.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6002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html5class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614" y="204734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8928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Viewport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617720" y="2743200"/>
            <a:ext cx="3063240" cy="1234440"/>
          </a:xfrm>
          <a:prstGeom prst="roundRect">
            <a:avLst>
              <a:gd name="adj" fmla="val 4444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00600" y="2834640"/>
            <a:ext cx="2697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name="viewport"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content="width=device-width,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initial-scale=1.0"&gt;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63440" y="42062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website mobile-friendly by matching the screen's real width.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29600" y="16002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/home/claude/html5class/icons/brow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6742" y="2047342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81160" y="18928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&lt;title&gt; Tag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458200" y="2743200"/>
            <a:ext cx="3063240" cy="1234440"/>
          </a:xfrm>
          <a:prstGeom prst="roundRect">
            <a:avLst>
              <a:gd name="adj" fmla="val 4444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641080" y="2834640"/>
            <a:ext cx="2697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&lt;title&gt;Student Portal&lt;/title&gt;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503920" y="42062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the browser tab and as the clickable headline in Google search results.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COMMON ELEMENTS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Headings, Paragraphs &amp; Lists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Hierarchy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Title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035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Section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015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rule: only one &lt;h1&gt; per page — it directly improves SEO.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Ordered List &lt;ol&gt;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4069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Unordered List &lt;ul&gt;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43891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600200"/>
            <a:ext cx="5212080" cy="1280160"/>
          </a:xfrm>
          <a:prstGeom prst="roundRect">
            <a:avLst>
              <a:gd name="adj" fmla="val 4286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180136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a paragraph.&lt;/p&gt;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30175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&lt;p&gt; tag wraps every block of body text — search engines and screen readers both rely on it to find readable content.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93192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E4F7F1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/home/claude/html5class/icons/hea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160520"/>
            <a:ext cx="502920" cy="502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60920" y="40690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r>
              <a:rPr lang="en-US" sz="13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heading hierarchy and semantic text tags are exactly what Google and screen readers scan first when they visit a page.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LINKS &amp; IMAGES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Links, Images &amp; the Power of alt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013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Google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tags connect pages together — the foundation of the entire web.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7673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src="image.jpg"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alt="Student Image"&gt;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&lt;img&gt; needs alt text — it's not optional.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alt Text Matters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20840" y="26060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html5class/icons/a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006" y="2791206"/>
            <a:ext cx="315468" cy="3154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89520" y="2606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for blind &amp; low-vision users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720840" y="37490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/home/claude/html5class/icons/s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006" y="3934206"/>
            <a:ext cx="315468" cy="3154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89520" y="3749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— Google reads alt text as content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720840" y="48920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html5class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006" y="5077206"/>
            <a:ext cx="315468" cy="3154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589520" y="4892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placeholder if the image fails to load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SEMANTIC 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Semantic HTML?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</a:t>
            </a: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meaning of content. &lt;header&gt; doesn't just hold a box — it tells the browser "this is the page header."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BEAE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Non-Semantic Tags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301752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3218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wrap content but provide zero meaning — a browser (or screen reader) has no idea what's inside.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E4F7F1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Tags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37960" y="3017520"/>
            <a:ext cx="4754880" cy="1005840"/>
          </a:xfrm>
          <a:prstGeom prst="roundRect">
            <a:avLst>
              <a:gd name="adj" fmla="val 5455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12280" y="3218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  &lt;main&gt;  &lt;footer&gt;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4206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describe purpose — search engines rank better, screen readers navigate instantly, and code is far easier to maintain.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Core Semantic Tags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5196" y="187452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8076" y="2039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8076" y="24688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navigation, search — the top of the page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05556" y="187452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88436" y="2039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88436" y="24688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 of navigation links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5916" y="187452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68796" y="2039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68796" y="24688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content — only one per page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66276" y="187452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49156" y="2039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49156" y="24688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content, e.g. Courses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" y="3977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" y="4142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8076" y="4572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content: blog post, news, review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05556" y="3977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88436" y="4142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88436" y="4572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content: ads, related articles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85916" y="3977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68796" y="4142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68796" y="4572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Copyright, contact, social links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LIVE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Semantic Page Looks Like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industry webpage, built entirely from semantic tags — no meaningless &lt;div&gt; soup.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423160" y="1965960"/>
            <a:ext cx="7315200" cy="777240"/>
          </a:xfrm>
          <a:prstGeom prst="roundRect">
            <a:avLst>
              <a:gd name="adj" fmla="val 9412"/>
            </a:avLst>
          </a:prstGeom>
          <a:solidFill>
            <a:srgbClr val="CDEDE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51760" y="2039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235000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2350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23500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86200" y="2350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23500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350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23500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06440" y="2350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32520" y="2350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23160" y="2926080"/>
            <a:ext cx="4974336" cy="2331720"/>
          </a:xfrm>
          <a:prstGeom prst="roundRect">
            <a:avLst>
              <a:gd name="adj" fmla="val 3137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51760" y="3035808"/>
            <a:ext cx="4517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  &lt;section&gt;  &lt;article&gt;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3429000"/>
            <a:ext cx="4517136" cy="457200"/>
          </a:xfrm>
          <a:prstGeom prst="roundRect">
            <a:avLst>
              <a:gd name="adj" fmla="val 10000"/>
            </a:avLst>
          </a:prstGeom>
          <a:solidFill>
            <a:srgbClr val="DCEF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34640" y="3429000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1 — course card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51760" y="3995928"/>
            <a:ext cx="4517136" cy="457200"/>
          </a:xfrm>
          <a:prstGeom prst="roundRect">
            <a:avLst>
              <a:gd name="adj" fmla="val 10000"/>
            </a:avLst>
          </a:prstGeom>
          <a:solidFill>
            <a:srgbClr val="DCEF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34640" y="3995928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2 — course card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51760" y="4562856"/>
            <a:ext cx="4517136" cy="457200"/>
          </a:xfrm>
          <a:prstGeom prst="roundRect">
            <a:avLst>
              <a:gd name="adj" fmla="val 10000"/>
            </a:avLst>
          </a:prstGeom>
          <a:solidFill>
            <a:srgbClr val="DCEF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34640" y="4562856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3 — course card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80376" y="2926080"/>
            <a:ext cx="2157984" cy="2331720"/>
          </a:xfrm>
          <a:prstGeom prst="roundRect">
            <a:avLst>
              <a:gd name="adj" fmla="val 3390"/>
            </a:avLst>
          </a:prstGeom>
          <a:solidFill>
            <a:srgbClr val="FDF2E3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63256" y="303580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63256" y="3474720"/>
            <a:ext cx="179222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links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23160" y="539496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013A40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51760" y="5394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F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   ©  Copyright  ·  Contact  ·  Social Media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Semantic HTML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4018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html5class/icons/s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379" y="241675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SEO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understands your content structure, not just its text.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E4F7F1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02252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html5class/icons/a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451" y="241675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39312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announce page structure to visually impaired users.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64324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html5class/icons/maint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523" y="241675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Maintenance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01384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tags make code easier to read, debug and extend.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E4F7F1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026396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html5class/icons/stand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5" y="2416759"/>
            <a:ext cx="378562" cy="3785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3200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Standard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63456" y="388620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modern website is built on semantic markup.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HTML FORMS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Power the Interactive Web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are one of the most important concepts in HTML — nearly every website relies on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 starts here — a container for all user input.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20640" y="2148840"/>
            <a:ext cx="6492240" cy="3931920"/>
          </a:xfrm>
          <a:prstGeom prst="roundRect">
            <a:avLst>
              <a:gd name="adj" fmla="val 1860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Everywhere Forms Show Up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0680" y="3154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html5class/icon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124" y="3278124"/>
            <a:ext cx="210312" cy="210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8076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40680" y="3703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html5class/icons/gr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124" y="382676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8076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4068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html5class/icons/pay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124" y="437540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40680" y="4800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html5class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4124" y="4924044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80760" y="4800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40680" y="5349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html5class/icons/feedb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4124" y="5472684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080760" y="5349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LIVE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Input Types — Rendered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gives the browser built-in behavior — the right keyboard, picker, or validation, for free.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076" y="205740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2668" y="220370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2668" y="2459736"/>
            <a:ext cx="175564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8D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30068" y="205740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94660" y="220370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94660" y="2459736"/>
            <a:ext cx="175564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8D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86100" y="245973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name@email.com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2060" y="205740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6652" y="220370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6652" y="2459736"/>
            <a:ext cx="175564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8D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8092" y="245973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74052" y="205740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38644" y="220370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38644" y="2459736"/>
            <a:ext cx="175564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8D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30084" y="245973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96044" y="205740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60636" y="220370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60636" y="2459736"/>
            <a:ext cx="175564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8D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52076" y="245973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07 / 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" y="333756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2668" y="34838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2668" y="3739896"/>
            <a:ext cx="175564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8D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8388" y="3785616"/>
            <a:ext cx="777240" cy="237744"/>
          </a:xfrm>
          <a:prstGeom prst="roundRect">
            <a:avLst>
              <a:gd name="adj" fmla="val 15385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8388" y="37856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File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41348" y="373989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chosen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30068" y="333756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94660" y="34838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994660" y="3813048"/>
            <a:ext cx="219456" cy="219456"/>
          </a:xfrm>
          <a:prstGeom prst="ellipse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 descr="Radio button - Free interface icons">
            <a:extLst>
              <a:ext uri="{FF2B5EF4-FFF2-40B4-BE49-F238E27FC236}">
                <a16:creationId xmlns:a16="http://schemas.microsoft.com/office/drawing/2014/main" id="{E82F9D0F-9785-ED67-8D1D-07D142FCC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588" y="3739896"/>
            <a:ext cx="256033" cy="2560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Validation &amp; Form Methods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Attributes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77440" y="23774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&lt;label for="name"&gt;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7440" y="32461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submission until the field is filled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/ max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77440" y="4114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type="number" min="18" max="60"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77440" y="4983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pattern="[A-Za-z]{3,}" — for phone rules, register numbers, passwords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6002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DF2E3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Method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148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method="GET"&gt;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48716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appears in the URL — used for search.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E4F7F1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Method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method="POST"&gt;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463600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hidden from the URL — used for login, registration, and payment.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LIVE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Student Registration 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754880"/>
          </a:xfrm>
          <a:prstGeom prst="roundRect">
            <a:avLst>
              <a:gd name="adj" fmla="val 1154"/>
            </a:avLst>
          </a:prstGeom>
          <a:solidFill>
            <a:srgbClr val="0B2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01368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action="/register"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method="POST"&gt;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&lt;label&gt;Name&lt;/label&gt;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required&gt;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&lt;label&gt;Email&lt;/label&gt;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 required&gt;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&lt;label&gt;Department&lt;/label&gt;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&lt;option&gt;IT&lt;/option&gt;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&lt;option&gt;CSE&lt;/option&gt;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type="radio"&gt; Male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type="radio"&gt; Female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type="submit"&gt;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FE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26480" y="16002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Rendered in the Browser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2532888"/>
            <a:ext cx="493776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D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29900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3236976"/>
            <a:ext cx="493776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D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369417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3941064"/>
            <a:ext cx="493776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B8D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39410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 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444398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471830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56832" y="46634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471830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19872" y="4663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5266944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5266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Practices, SEO &amp; Accessibility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FBEAE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Avoid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 for everything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.box1 as a class name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 with no alt text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E4F7F1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Prefer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&lt;section&gt;, &lt;article&gt;, semantic tags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.student-card as a class name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32004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alt="Student Profile"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9834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/home/claude/html5class/icons/s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5230368"/>
            <a:ext cx="420624" cy="4206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965960" y="4937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965960" y="5321808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&amp; semantic tags directly affect Google ranking.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26480" y="46634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5FAFA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46520" y="49834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/home/claude/html5class/icons/a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5230368"/>
            <a:ext cx="420624" cy="4206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543800" y="4937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543800" y="5321808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blind, disabled and elderly users — semantic tags, labels, alt text, proper heading order.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Project: Student Portfolio Page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025159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Include</a:t>
            </a:r>
            <a:endParaRPr lang="en-US" sz="1700" dirty="0"/>
          </a:p>
        </p:txBody>
      </p:sp>
      <p:pic>
        <p:nvPicPr>
          <p:cNvPr id="6" name="Image 0" descr="/home/claude/html5clas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146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4688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</a:t>
            </a:r>
            <a:endParaRPr lang="en-US" sz="1450" dirty="0"/>
          </a:p>
        </p:txBody>
      </p:sp>
      <p:pic>
        <p:nvPicPr>
          <p:cNvPr id="8" name="Image 1" descr="/home/claude/html5clas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3639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3090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form</a:t>
            </a:r>
            <a:endParaRPr lang="en-US" sz="1450" dirty="0"/>
          </a:p>
        </p:txBody>
      </p:sp>
      <p:pic>
        <p:nvPicPr>
          <p:cNvPr id="10" name="Image 2" descr="/home/claude/html5clas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5818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71246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&amp; unordered lists</a:t>
            </a:r>
            <a:endParaRPr lang="en-US" sz="1450" dirty="0"/>
          </a:p>
        </p:txBody>
      </p:sp>
      <p:pic>
        <p:nvPicPr>
          <p:cNvPr id="12" name="Image 3" descr="/home/claude/html5clas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79976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43342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with alt text</a:t>
            </a:r>
            <a:endParaRPr lang="en-US" sz="1450" dirty="0"/>
          </a:p>
        </p:txBody>
      </p:sp>
      <p:pic>
        <p:nvPicPr>
          <p:cNvPr id="14" name="Image 4" descr="/home/claude/html5clas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01768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49560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50" dirty="0"/>
          </a:p>
        </p:txBody>
      </p:sp>
      <p:sp>
        <p:nvSpPr>
          <p:cNvPr id="16" name="Shape 9"/>
          <p:cNvSpPr/>
          <p:nvPr/>
        </p:nvSpPr>
        <p:spPr>
          <a:xfrm>
            <a:off x="5989320" y="1737360"/>
            <a:ext cx="5623560" cy="4297680"/>
          </a:xfrm>
          <a:prstGeom prst="roundRect">
            <a:avLst>
              <a:gd name="adj" fmla="val 1702"/>
            </a:avLst>
          </a:prstGeom>
          <a:solidFill>
            <a:srgbClr val="025159"/>
          </a:solidFill>
          <a:ln/>
          <a:effectLst>
            <a:outerShdw blurRad="101600" dist="25400" dir="5400000" algn="bl" rotWithShape="0">
              <a:srgbClr val="3A5A5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63093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Sections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>
            <a:off x="6309360" y="25603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6309360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8915400" y="25603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8915400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309360" y="36118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6309360" y="3611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915400" y="36118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915400" y="3611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309360" y="46634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6309360" y="4663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915400" y="46634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8915400" y="4663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5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91556" y="146304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html5class/icons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133" y="1734617"/>
            <a:ext cx="462686" cy="4626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3703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— then start building your Student Portfolio Page.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 ·  HTML5 Fundamentals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1572</Words>
  <Application>Microsoft Macintosh PowerPoint</Application>
  <PresentationFormat>Widescreen</PresentationFormat>
  <Paragraphs>330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S0613270</cp:lastModifiedBy>
  <cp:revision>3</cp:revision>
  <dcterms:created xsi:type="dcterms:W3CDTF">2026-07-21T09:45:52Z</dcterms:created>
  <dcterms:modified xsi:type="dcterms:W3CDTF">2026-07-21T12:00:41Z</dcterms:modified>
</cp:coreProperties>
</file>