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A" userId="d4aefb4dc3848e3c" providerId="LiveId" clId="{46E49844-1F58-4ABC-9BB8-1F83FEF183FC}"/>
    <pc:docChg chg="undo custSel modSld">
      <pc:chgData name="Rajesh A" userId="d4aefb4dc3848e3c" providerId="LiveId" clId="{46E49844-1F58-4ABC-9BB8-1F83FEF183FC}" dt="2026-07-29T11:45:57.908" v="44" actId="478"/>
      <pc:docMkLst>
        <pc:docMk/>
      </pc:docMkLst>
      <pc:sldChg chg="modSp mod">
        <pc:chgData name="Rajesh A" userId="d4aefb4dc3848e3c" providerId="LiveId" clId="{46E49844-1F58-4ABC-9BB8-1F83FEF183FC}" dt="2026-07-29T11:44:12.338" v="34" actId="20577"/>
        <pc:sldMkLst>
          <pc:docMk/>
          <pc:sldMk cId="0" sldId="256"/>
        </pc:sldMkLst>
        <pc:spChg chg="mod">
          <ac:chgData name="Rajesh A" userId="d4aefb4dc3848e3c" providerId="LiveId" clId="{46E49844-1F58-4ABC-9BB8-1F83FEF183FC}" dt="2026-07-29T11:43:33.630" v="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jesh A" userId="d4aefb4dc3848e3c" providerId="LiveId" clId="{46E49844-1F58-4ABC-9BB8-1F83FEF183FC}" dt="2026-07-29T11:44:12.338" v="34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Rajesh A" userId="d4aefb4dc3848e3c" providerId="LiveId" clId="{46E49844-1F58-4ABC-9BB8-1F83FEF183FC}" dt="2026-07-29T11:43:42.577" v="7" actId="107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Rajesh A" userId="d4aefb4dc3848e3c" providerId="LiveId" clId="{46E49844-1F58-4ABC-9BB8-1F83FEF183FC}" dt="2026-07-29T11:43:22.872" v="1" actId="1076"/>
          <ac:spMkLst>
            <pc:docMk/>
            <pc:sldMk cId="0" sldId="256"/>
            <ac:spMk id="42" creationId="{00000000-0000-0000-0000-000000000000}"/>
          </ac:spMkLst>
        </pc:spChg>
      </pc:sldChg>
      <pc:sldChg chg="modSp mod">
        <pc:chgData name="Rajesh A" userId="d4aefb4dc3848e3c" providerId="LiveId" clId="{46E49844-1F58-4ABC-9BB8-1F83FEF183FC}" dt="2026-07-29T11:45:21.910" v="41" actId="207"/>
        <pc:sldMkLst>
          <pc:docMk/>
          <pc:sldMk cId="0" sldId="259"/>
        </pc:sldMkLst>
        <pc:spChg chg="mod">
          <ac:chgData name="Rajesh A" userId="d4aefb4dc3848e3c" providerId="LiveId" clId="{46E49844-1F58-4ABC-9BB8-1F83FEF183FC}" dt="2026-07-29T11:44:51.962" v="35" actId="207"/>
          <ac:spMkLst>
            <pc:docMk/>
            <pc:sldMk cId="0" sldId="259"/>
            <ac:spMk id="38" creationId="{00000000-0000-0000-0000-000000000000}"/>
          </ac:spMkLst>
        </pc:spChg>
        <pc:spChg chg="mod">
          <ac:chgData name="Rajesh A" userId="d4aefb4dc3848e3c" providerId="LiveId" clId="{46E49844-1F58-4ABC-9BB8-1F83FEF183FC}" dt="2026-07-29T11:44:56.793" v="36" actId="207"/>
          <ac:spMkLst>
            <pc:docMk/>
            <pc:sldMk cId="0" sldId="259"/>
            <ac:spMk id="42" creationId="{00000000-0000-0000-0000-000000000000}"/>
          </ac:spMkLst>
        </pc:spChg>
        <pc:spChg chg="mod">
          <ac:chgData name="Rajesh A" userId="d4aefb4dc3848e3c" providerId="LiveId" clId="{46E49844-1F58-4ABC-9BB8-1F83FEF183FC}" dt="2026-07-29T11:45:00.994" v="37" actId="207"/>
          <ac:spMkLst>
            <pc:docMk/>
            <pc:sldMk cId="0" sldId="259"/>
            <ac:spMk id="46" creationId="{00000000-0000-0000-0000-000000000000}"/>
          </ac:spMkLst>
        </pc:spChg>
        <pc:spChg chg="mod">
          <ac:chgData name="Rajesh A" userId="d4aefb4dc3848e3c" providerId="LiveId" clId="{46E49844-1F58-4ABC-9BB8-1F83FEF183FC}" dt="2026-07-29T11:45:06.034" v="38" actId="207"/>
          <ac:spMkLst>
            <pc:docMk/>
            <pc:sldMk cId="0" sldId="259"/>
            <ac:spMk id="49" creationId="{00000000-0000-0000-0000-000000000000}"/>
          </ac:spMkLst>
        </pc:spChg>
        <pc:spChg chg="mod">
          <ac:chgData name="Rajesh A" userId="d4aefb4dc3848e3c" providerId="LiveId" clId="{46E49844-1F58-4ABC-9BB8-1F83FEF183FC}" dt="2026-07-29T11:45:21.910" v="41" actId="207"/>
          <ac:spMkLst>
            <pc:docMk/>
            <pc:sldMk cId="0" sldId="259"/>
            <ac:spMk id="53" creationId="{00000000-0000-0000-0000-000000000000}"/>
          </ac:spMkLst>
        </pc:spChg>
      </pc:sldChg>
      <pc:sldChg chg="delSp modSp mod">
        <pc:chgData name="Rajesh A" userId="d4aefb4dc3848e3c" providerId="LiveId" clId="{46E49844-1F58-4ABC-9BB8-1F83FEF183FC}" dt="2026-07-29T11:45:57.908" v="44" actId="478"/>
        <pc:sldMkLst>
          <pc:docMk/>
          <pc:sldMk cId="0" sldId="263"/>
        </pc:sldMkLst>
        <pc:spChg chg="del mod">
          <ac:chgData name="Rajesh A" userId="d4aefb4dc3848e3c" providerId="LiveId" clId="{46E49844-1F58-4ABC-9BB8-1F83FEF183FC}" dt="2026-07-29T11:45:54.630" v="43" actId="478"/>
          <ac:spMkLst>
            <pc:docMk/>
            <pc:sldMk cId="0" sldId="263"/>
            <ac:spMk id="23" creationId="{00000000-0000-0000-0000-000000000000}"/>
          </ac:spMkLst>
        </pc:spChg>
        <pc:spChg chg="del">
          <ac:chgData name="Rajesh A" userId="d4aefb4dc3848e3c" providerId="LiveId" clId="{46E49844-1F58-4ABC-9BB8-1F83FEF183FC}" dt="2026-07-29T11:45:57.908" v="44" actId="478"/>
          <ac:spMkLst>
            <pc:docMk/>
            <pc:sldMk cId="0" sldId="263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81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75488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 – INNOLIFT VENTURES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572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 Fundamentals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Modern Web Applications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320040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Design Principles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320040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Color Theory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320040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Typography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320040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Layout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3200400" cy="219456"/>
          </a:xfrm>
          <a:prstGeom prst="roundRect">
            <a:avLst>
              <a:gd name="adj" fmla="val 16667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Components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274320"/>
            <a:ext cx="1828800" cy="34747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15000" y="50292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15000" y="502920"/>
            <a:ext cx="15544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42432" y="521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79008" y="914400"/>
            <a:ext cx="1426464" cy="658368"/>
          </a:xfrm>
          <a:prstGeom prst="roundRect">
            <a:avLst>
              <a:gd name="adj" fmla="val 9722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79008" y="960120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Welcome! 👋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79008" y="120700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great UIs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35040" y="1664208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16642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79008" y="2029968"/>
            <a:ext cx="438912" cy="502920"/>
          </a:xfrm>
          <a:prstGeom prst="roundRect">
            <a:avLst>
              <a:gd name="adj" fmla="val 14583"/>
            </a:avLst>
          </a:prstGeom>
          <a:solidFill>
            <a:srgbClr val="000000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79008" y="202996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72784" y="2029968"/>
            <a:ext cx="438912" cy="502920"/>
          </a:xfrm>
          <a:prstGeom prst="roundRect">
            <a:avLst>
              <a:gd name="adj" fmla="val 14583"/>
            </a:avLst>
          </a:prstGeom>
          <a:solidFill>
            <a:srgbClr val="00000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72784" y="202996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66560" y="2029968"/>
            <a:ext cx="438912" cy="502920"/>
          </a:xfrm>
          <a:prstGeom prst="roundRect">
            <a:avLst>
              <a:gd name="adj" fmla="val 14583"/>
            </a:avLst>
          </a:prstGeom>
          <a:solidFill>
            <a:srgbClr val="000000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0" y="202996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79008" y="2651760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Loading...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779008" y="2852928"/>
            <a:ext cx="1426464" cy="128016"/>
          </a:xfrm>
          <a:prstGeom prst="roundRect">
            <a:avLst>
              <a:gd name="adj" fmla="val 35714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779008" y="2852928"/>
            <a:ext cx="91440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15000" y="3246120"/>
            <a:ext cx="1554480" cy="2743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79008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39712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19663" y="4055364"/>
            <a:ext cx="2693793" cy="900684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46320" y="4270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"Great design is invisible"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understand and apply after this session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24128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" y="1207008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11155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UI vs UX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14813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design and experience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24128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024128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19472" y="1207008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1207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15000" y="11155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UI Design Principles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4813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Consistency, hierarchy, contrast, spacing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267712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267712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" y="24505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2450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23591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Professional Color Theory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27249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60-30-10 rule and color palettes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267712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267712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19472" y="2450592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9472" y="2450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715000" y="235915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Typography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15000" y="27249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hierarchy, pairing, readability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511296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3511296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30352" y="3694176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0352" y="36941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25880" y="360273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Website Layouts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396849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hero, content, footer structure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511296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3511296"/>
            <a:ext cx="64008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19472" y="3694176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19472" y="36941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715000" y="360273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Better React Interfaces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15000" y="396849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UI/UX to your project frontend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User Interface (UI)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see and interact with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0241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the visual layer of a website — everything users can see, click, and interact with.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80136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21488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53312" y="178308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53312" y="180136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53312" y="21488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40864" y="178308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40864" y="180136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340864" y="21488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28416" y="178308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28416" y="180136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28416" y="21488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56032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57860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5760" y="29260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53312" y="256032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53312" y="257860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53312" y="29260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40864" y="256032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340864" y="257860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340864" y="29260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28416" y="256032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28416" y="257860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328416" y="29260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914400"/>
            <a:ext cx="3931920" cy="3794760"/>
          </a:xfrm>
          <a:prstGeom prst="roundRect">
            <a:avLst>
              <a:gd name="adj" fmla="val 241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9326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Instagram-style UI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23560" y="1234440"/>
            <a:ext cx="2377440" cy="32918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23560" y="1234440"/>
            <a:ext cx="2377440" cy="292608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623560" y="1508760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623560" y="1856232"/>
            <a:ext cx="237744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87568" y="15270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Instagram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0" y="1527048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</a:rPr>
              <a:t>✉️  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33288" y="1920240"/>
            <a:ext cx="384048" cy="38404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33288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😊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1920240"/>
            <a:ext cx="384048" cy="38404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6364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😊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93992" y="1920240"/>
            <a:ext cx="384048" cy="38404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93992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😊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24344" y="1920240"/>
            <a:ext cx="384048" cy="384048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24344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😊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50992" y="2423160"/>
            <a:ext cx="2322576" cy="128016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650992" y="2423160"/>
            <a:ext cx="23225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🌄</a:t>
            </a:r>
            <a:endParaRPr lang="en-US" sz="4000" dirty="0"/>
          </a:p>
        </p:txBody>
      </p:sp>
      <p:sp>
        <p:nvSpPr>
          <p:cNvPr id="53" name="Text 51"/>
          <p:cNvSpPr/>
          <p:nvPr/>
        </p:nvSpPr>
        <p:spPr>
          <a:xfrm>
            <a:off x="5687568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❤️  💬  🔖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87568" y="39776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 likes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687568" y="41605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user123  Amazing view! 🔥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4553712"/>
            <a:ext cx="4023360" cy="3200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45537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=  How it Looks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User Experience (UX)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journey and feeling while using an application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is how smooth, fast, and enjoyable it is for users to complete tasks inside an application.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" y="182880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18288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18013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easy to use?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304288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237744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3774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3500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users find info quickly?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852928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292608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29260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28986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navigation intuitive?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" y="347472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474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4472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app fast?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3950208"/>
            <a:ext cx="32004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" y="4023360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4023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9959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experience smooth?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40480" y="169164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77640" y="17556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Food Delivery App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977640" y="2176272"/>
            <a:ext cx="2103120" cy="2606040"/>
          </a:xfrm>
          <a:prstGeom prst="roundRect">
            <a:avLst>
              <a:gd name="adj" fmla="val 4348"/>
            </a:avLst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41648" y="2240280"/>
            <a:ext cx="19751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UX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160520" y="267004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6052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79392" y="2944368"/>
            <a:ext cx="36576" cy="16459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80560" y="26791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160520" y="310896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6052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79392" y="3383280"/>
            <a:ext cx="36576" cy="16459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80560" y="3118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Food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160520" y="354787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60520" y="3547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79392" y="3822192"/>
            <a:ext cx="36576" cy="16459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480560" y="35570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160520" y="398678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60520" y="3986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80560" y="39959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4041648" y="457200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clicks → Order done!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63640" y="2176272"/>
            <a:ext cx="2286000" cy="260604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327648" y="2240280"/>
            <a:ext cx="21579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UX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327648" y="2633472"/>
            <a:ext cx="215798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confusing steps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logins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buttons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loading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crashes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6327648" y="4572000"/>
            <a:ext cx="2157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clicks → User gave up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553712"/>
            <a:ext cx="3200400" cy="320040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" y="4553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 =  How it Works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vs  UX — Side by Side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products need both — they complement each other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3749040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UI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960120"/>
            <a:ext cx="3749040" cy="420624"/>
          </a:xfrm>
          <a:prstGeom prst="roundRect">
            <a:avLst>
              <a:gd name="adj" fmla="val 2173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96012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UX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1005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148132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4813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48132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4813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1572768"/>
            <a:ext cx="731520" cy="29260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0" y="15727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02996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0299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202996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20299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06240" y="2121408"/>
            <a:ext cx="731520" cy="29260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0" y="212140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257860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25786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&amp; Icons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257860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25786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Flow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06240" y="2670048"/>
            <a:ext cx="731520" cy="29260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06240" y="26700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2724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1272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&amp; Fonts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0" y="312724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31272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06240" y="3218688"/>
            <a:ext cx="731520" cy="29260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06240" y="321868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↔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67588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36758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29200" y="367588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0" y="36758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06240" y="3767328"/>
            <a:ext cx="731520" cy="29260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06240" y="376732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↔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22452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2245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Attractive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029200" y="422452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0" y="42245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Comfortable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206240" y="4315968"/>
            <a:ext cx="731520" cy="292608"/>
          </a:xfrm>
          <a:prstGeom prst="ellipse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06240" y="43159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371600" y="4709160"/>
            <a:ext cx="6400800" cy="256032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3716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Products Need Both UI and UX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UI Design Principles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fundamentals every frontend developer must know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987552"/>
            <a:ext cx="2743200" cy="1810512"/>
          </a:xfrm>
          <a:prstGeom prst="roundRect">
            <a:avLst>
              <a:gd name="adj" fmla="val 505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15214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15214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07592" y="117043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86537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colors, fonts, and button styles throughout the entire website.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987552"/>
            <a:ext cx="2743200" cy="1810512"/>
          </a:xfrm>
          <a:prstGeom prst="roundRect">
            <a:avLst>
              <a:gd name="adj" fmla="val 505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115214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115214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33672" y="117043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186537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interfaces clean. Remove anything that does not help the user.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987552"/>
            <a:ext cx="2743200" cy="1810512"/>
          </a:xfrm>
          <a:prstGeom prst="roundRect">
            <a:avLst>
              <a:gd name="adj" fmla="val 5051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115214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15214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9752" y="117043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86537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legible fonts, proper sizing, and enough contrast for all text.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907792"/>
            <a:ext cx="2743200" cy="1810512"/>
          </a:xfrm>
          <a:prstGeom prst="roundRect">
            <a:avLst>
              <a:gd name="adj" fmla="val 5051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07238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0723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07592" y="30906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378561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text and elements stand out clearly against their background.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2907792"/>
            <a:ext cx="2743200" cy="1810512"/>
          </a:xfrm>
          <a:prstGeom prst="roundRect">
            <a:avLst>
              <a:gd name="adj" fmla="val 505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29000" y="307238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29000" y="30723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233672" y="30906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378561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margin and padding. Whitespace is not wasted space.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2907792"/>
            <a:ext cx="2743200" cy="1810512"/>
          </a:xfrm>
          <a:prstGeom prst="roundRect">
            <a:avLst>
              <a:gd name="adj" fmla="val 505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55080" y="3072384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30723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59752" y="30906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378561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users attention — large headlines, smaller body, clear CTAs.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Theory — 60-30-10 Rule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formula for balanced, attractive color palettes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0241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0040" y="18105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176272"/>
            <a:ext cx="1645920" cy="2286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212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/ Light Gray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83464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 / #F3F4F6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" y="321868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background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" y="349300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088" y="3456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fill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" y="376732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088" y="3730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background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9601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10241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3246120" y="18105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Color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94760" y="2176272"/>
            <a:ext cx="1645920" cy="2286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46120" y="2212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&amp; Cards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0" y="2514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/ Indigo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03320" y="283464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#DBEAFE / #EEF2FF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47288" y="321868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30168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background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47288" y="349300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30168" y="3456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borders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47288" y="376732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30168" y="3730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dividers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9601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2200" y="10241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6172200" y="18105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Color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720840" y="2176272"/>
            <a:ext cx="1645920" cy="2286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72200" y="2212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&amp; CTAs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09360" y="2514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#2563EB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9400" y="283464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2940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#2563EB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73368" y="321868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56248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buttons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73368" y="349300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56248" y="3456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highlights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73368" y="376732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56248" y="3730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states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4297680"/>
            <a:ext cx="2743200" cy="27432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004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Maximum 3 colors per site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46120" y="4297680"/>
            <a:ext cx="2743200" cy="27432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4612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Ensure high contrast for readability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72200" y="4297680"/>
            <a:ext cx="2743200" cy="27432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17220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 not overuse bright accent colors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hierarchy, sizing, and readability rules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4754880" cy="365760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00584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Hierarchy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42646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Matters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77640" y="14447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32–48 px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525050"/>
            <a:ext cx="448056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6221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Theory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77640" y="268049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24–32 px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434225"/>
            <a:ext cx="448056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571385"/>
            <a:ext cx="3931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60-30-10 Rule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77640" y="3589673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px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4180114"/>
            <a:ext cx="448056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31727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spacing and clear fonts.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77640" y="433556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14–18 px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828032"/>
            <a:ext cx="448056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5410635"/>
            <a:ext cx="448056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03520" y="960120"/>
            <a:ext cx="347472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13248" y="10698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13248" y="1069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79008" y="1005840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 fonts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79008" y="12801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 headings, one for body text — never mix more.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03520" y="1709928"/>
            <a:ext cx="347472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13248" y="18196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13248" y="1819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79008" y="1755648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height 1.5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79008" y="20299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line spacing for comfortable paragraph reading.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03520" y="2459736"/>
            <a:ext cx="347472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13248" y="256946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13248" y="2569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79008" y="2505456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Left-align paragraphs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779008" y="277977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text is only for short headings, never body.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03520" y="3209544"/>
            <a:ext cx="347472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13248" y="331927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13248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79008" y="3255264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ALL CAPS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79008" y="352958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capitals for labels, badges, and short buttons.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03520" y="3959352"/>
            <a:ext cx="3474720" cy="667512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13248" y="40690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13248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79008" y="4005072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font pairing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779008" y="42793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+ Merriweather, or Poppins + Open Sans.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Structure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professional website follows this standard layout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8503920" cy="4005072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8503920" cy="384048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069848"/>
            <a:ext cx="146304" cy="146304"/>
          </a:xfrm>
          <a:prstGeom prst="ellipse">
            <a:avLst/>
          </a:prstGeom>
          <a:solidFill>
            <a:srgbClr val="D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" y="1069848"/>
            <a:ext cx="146304" cy="146304"/>
          </a:xfrm>
          <a:prstGeom prst="ellipse">
            <a:avLst/>
          </a:prstGeom>
          <a:solidFill>
            <a:srgbClr val="00B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78408" y="1069848"/>
            <a:ext cx="146304" cy="146304"/>
          </a:xfrm>
          <a:prstGeom prst="ellipse">
            <a:avLst/>
          </a:prstGeom>
          <a:solidFill>
            <a:srgbClr val="0000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34440" y="1024128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0160" y="10241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https://mywebsite.com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344168"/>
            <a:ext cx="850392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136245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/ Navbar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0" y="136245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Navigation Links + CTA Button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1801368"/>
            <a:ext cx="8503920" cy="68580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1819656"/>
            <a:ext cx="36576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0" y="1819656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+ Subtext + CTA + Visual/Illustration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487168"/>
            <a:ext cx="850392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50545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 / Features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0" y="250545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cards, sections, services, or portfolio items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236976"/>
            <a:ext cx="8503920" cy="594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255264"/>
            <a:ext cx="3657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/ Grid Section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0" y="3255264"/>
            <a:ext cx="45720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cards, blog posts, or team members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831336"/>
            <a:ext cx="8503920" cy="4572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84962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0" y="384962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social media, copyright info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/ Navbar Design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element users see — make it clear and professional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Professional Header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MyBrand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144475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1444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444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0" y="1444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29400" y="1444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14447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0" y="142646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0" y="14264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20116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Common Mistakes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322576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3957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WEBSITE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34640" y="24688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About  Services  Products  Blog  Portfolio  Careers  FAQ  Support  Contact  Login  Register  Privacy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299923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Best Practices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401568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34381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always left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2688" y="367588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recognition and standard convention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401568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83280" y="3401568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58768" y="34381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5–6 nav links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58768" y="367588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links confuse users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3401568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9360" y="3401568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84848" y="34381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navbar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84848" y="367588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visible as user scrolls down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005072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005072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2688" y="4041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Button in nav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32688" y="427939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call-to-action like Login or Get Started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91840" y="4005072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83280" y="4005072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858768" y="4041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 on mobile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858768" y="427939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nav into an icon for small screens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4005072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09360" y="4005072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84848" y="4041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state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784848" y="427939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current page link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Design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ignored — but critical for professionalism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Modern Dark Footer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8412480" cy="2331720"/>
          </a:xfrm>
          <a:prstGeom prst="roundRect">
            <a:avLst>
              <a:gd name="adj" fmla="val 3922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MyBrand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17647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modern digital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with passion.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35915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591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07592" y="235915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07592" y="23591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20824" y="235915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20824" y="23591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00400" y="13533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1709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0" y="20208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0" y="2642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0" y="2953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0" y="13533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1709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Design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20208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2642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0" y="13533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1709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hello@mybrand.com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0" y="20208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Chennai, India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291840"/>
            <a:ext cx="8412480" cy="2286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33467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 MyBrand. All rights reserved.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3467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 ·  Terms of Service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74904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Must-Haves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Brand / Logo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91840" y="411480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9184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Quick Links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411480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1792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Contact Info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11480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Social Media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91840" y="411480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9184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Copyright Text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17920" y="411480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1792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Background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" y="4507992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45079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Social Media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91840" y="4507992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91840" y="45079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Copyright Text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217920" y="4507992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0" y="45079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Background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UI Components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of every modern web interface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🔘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" y="16733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9601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10515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57400" y="16733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94760" y="9601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94760" y="10515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94760" y="16733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9601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32120" y="10515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532120" y="16733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9601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69480" y="10515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🔽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69480" y="16733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313432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24048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🪟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20040" y="302666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57400" y="2313432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57400" y="24048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057400" y="302666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94760" y="2313432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94760" y="24048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794760" y="302666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32120" y="2313432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24048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🪗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532120" y="302666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69480" y="2313432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69480" y="2404872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269480" y="302666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666744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375818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320040" y="437997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057400" y="3666744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057400" y="375818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2057400" y="437997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794760" y="3666744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794760" y="375818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3794760" y="437997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32120" y="3666744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532120" y="375818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532120" y="437997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69480" y="3666744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269480" y="375818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269480" y="437997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UI  vs  Bad UI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patterns to follow and avoid in your 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4160520" cy="402336"/>
          </a:xfrm>
          <a:prstGeom prst="roundRect">
            <a:avLst>
              <a:gd name="adj" fmla="val 2272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UI Practices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402336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960120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UI Practices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1444752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155448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14996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fonts (5+)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44752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155448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554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48072" y="14996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 fonts throughout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011680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121408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20665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colors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121408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48072" y="20665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colors using 60-30-10 rule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578608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2688336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688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26334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spacing — cramped layout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578608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00600" y="2688336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2688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48072" y="26334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margin and padding (8px grid)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3145536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3255264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255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" y="3200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unclickable buttons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3145536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0600" y="3255264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3255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48072" y="3200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44px+ touch target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3712464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" y="3822192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3822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4672" y="3767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unreadable text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63440" y="3712464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00600" y="3822192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00600" y="3822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48072" y="3767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16px body font size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20040" y="4279392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57200" y="438912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4672" y="43342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unbroken paragraphs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663440" y="4279392"/>
            <a:ext cx="4160520" cy="493776"/>
          </a:xfrm>
          <a:prstGeom prst="roundRect">
            <a:avLst>
              <a:gd name="adj" fmla="val 1851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800600" y="438912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0060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48072" y="43342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paragraphs, clear visual hierarchy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83480"/>
            <a:ext cx="4572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</a:rPr>
              <a:t>UI/UX Design Basics  ·  Day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983480"/>
            <a:ext cx="438912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Frontend Design Fundamentals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Resources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tools and references every frontend developer should bookmark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4251960" cy="1920240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Design Inspiration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3977640" cy="18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Dribbble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89304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89304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9304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93976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93976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93976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Awwwards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898648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98648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98648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Mobbin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703320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03320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03320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Land-book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23500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Visit and bookmark all of these for your projects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960120"/>
            <a:ext cx="4251960" cy="1920240"/>
          </a:xfrm>
          <a:prstGeom prst="roundRect">
            <a:avLst>
              <a:gd name="adj" fmla="val 476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10515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UI Libraries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0" y="1417320"/>
            <a:ext cx="3977640" cy="18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56632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56632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56632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861304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61304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61304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65976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65976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65976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Aceternity UI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70648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70648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470648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DaisyUI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275320" y="152704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75320" y="155448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75320" y="18745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Flowbite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29200" y="23500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Visit and bookmark all of these for your projects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2971800"/>
            <a:ext cx="4251960" cy="1920240"/>
          </a:xfrm>
          <a:prstGeom prst="roundRect">
            <a:avLst>
              <a:gd name="adj" fmla="val 4762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30632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🔣  Icons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3429000"/>
            <a:ext cx="3977640" cy="18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4632" y="353872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" y="356616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84632" y="38862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Heroicons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289304" y="353872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289304" y="356616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289304" y="38862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093976" y="353872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093976" y="356616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2093976" y="38862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898648" y="353872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898648" y="356616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2898648" y="38862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 Icons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57200" y="43616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Visit and bookmark all of these for your projects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92040" y="2971800"/>
            <a:ext cx="4251960" cy="1920240"/>
          </a:xfrm>
          <a:prstGeom prst="roundRect">
            <a:avLst>
              <a:gd name="adj" fmla="val 476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029200" y="30632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Illustrations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029200" y="3429000"/>
            <a:ext cx="3977640" cy="18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056632" y="353872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56632" y="356616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056632" y="38862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unDraw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861304" y="353872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861304" y="356616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861304" y="38862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Storyset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665976" y="353872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665976" y="356616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665976" y="38862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Humaaans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470648" y="3538728"/>
            <a:ext cx="69494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470648" y="3566160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470648" y="38862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Peeps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029200" y="43616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Visit and bookmark all of these for your projects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UI Checklist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every item before submitting your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54864" cy="10789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097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Header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navigation, and CTA button included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4408" y="100584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64408" y="1005840"/>
            <a:ext cx="54864" cy="10789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097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22776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22776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headline, subtext, and call-to-action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08776" y="100584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08776" y="1005840"/>
            <a:ext cx="54864" cy="10789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73368" y="1097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67144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67144" y="14813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mobile, tablet, and desktop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19456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194560"/>
            <a:ext cx="54864" cy="10789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" y="2286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8408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" y="26700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colors max using 60-30-10 rule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219456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64408" y="2194560"/>
            <a:ext cx="54864" cy="10789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29000" y="2286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22776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Typography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22776" y="26700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H1 &gt; H2 &gt; Body hierarchy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08776" y="219456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08776" y="2194560"/>
            <a:ext cx="54864" cy="10789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73368" y="2286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67144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Spacing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67144" y="26700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 grid, breathing room between sections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38328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040" y="3383280"/>
            <a:ext cx="54864" cy="10789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" y="3474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78408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Buttons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78408" y="38587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Padded, visible, with hover states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64408" y="338328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64408" y="3383280"/>
            <a:ext cx="54864" cy="10789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29000" y="3474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922776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Footer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922776" y="38587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social, copyright — dark background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08776" y="338328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08776" y="3383280"/>
            <a:ext cx="54864" cy="10789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73368" y="3474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867144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Friendly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67144" y="38587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at 375px and 768px breakpoints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14400" y="4663440"/>
            <a:ext cx="731520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14400" y="46634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UI attracts users. Great UX keeps them coming back."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1459</Words>
  <Application>Microsoft Office PowerPoint</Application>
  <PresentationFormat>On-screen Show (16:9)</PresentationFormat>
  <Paragraphs>466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Rajesh A</cp:lastModifiedBy>
  <cp:revision>1</cp:revision>
  <dcterms:created xsi:type="dcterms:W3CDTF">2026-07-29T11:03:29Z</dcterms:created>
  <dcterms:modified xsi:type="dcterms:W3CDTF">2026-07-29T11:46:03Z</dcterms:modified>
</cp:coreProperties>
</file>