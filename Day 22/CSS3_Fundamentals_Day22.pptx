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2.png"/><Relationship Id="rId6" Type="http://schemas.openxmlformats.org/officeDocument/2006/relationships/image" Target="../media/image-5-3.png"/><Relationship Id="rId7" Type="http://schemas.openxmlformats.org/officeDocument/2006/relationships/image" Target="../media/image-5-7.png"/><Relationship Id="rId8" Type="http://schemas.openxmlformats.org/officeDocument/2006/relationships/image" Target="../media/image-5-2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1.png"/><Relationship Id="rId3" Type="http://schemas.openxmlformats.org/officeDocument/2006/relationships/image" Target="../media/image-15-3.png"/><Relationship Id="rId4" Type="http://schemas.openxmlformats.org/officeDocument/2006/relationships/image" Target="../media/image-15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1.png"/><Relationship Id="rId3" Type="http://schemas.openxmlformats.org/officeDocument/2006/relationships/image" Target="../media/image-20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242C55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840480" cy="3840480"/>
          </a:xfrm>
          <a:prstGeom prst="ellipse">
            <a:avLst/>
          </a:prstGeom>
          <a:solidFill>
            <a:srgbClr val="2A336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777240" cy="77724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5" name="Image 0" descr="/home/claude/css3class/icons/css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9935" y="849935"/>
            <a:ext cx="357530" cy="3575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" y="2331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  ·  WEB DEVELOPMENT TRACK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9748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CSS3 Fundamentals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594360" y="3794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6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Selectors  ·  Box Model  ·  Flexbox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94360" y="4526280"/>
            <a:ext cx="2011680" cy="0"/>
          </a:xfrm>
          <a:prstGeom prst="line">
            <a:avLst/>
          </a:prstGeom>
          <a:noFill/>
          <a:ln w="31750">
            <a:solidFill>
              <a:srgbClr val="F9616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4360" y="47091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websites start looking professional — real company CSS structure, responsiveness, and debugging practice, for 2nd-year Computer Science students.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CLASS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where styling gets real — from picking the right selector to laying out a full page with Flexbox.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33172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06040"/>
            <a:ext cx="3520440" cy="2286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404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805940" y="3108960"/>
            <a:ext cx="1005840" cy="1005840"/>
          </a:xfrm>
          <a:prstGeom prst="ellipse">
            <a:avLst/>
          </a:prstGeom>
          <a:solidFill>
            <a:srgbClr val="EEF0F8"/>
          </a:solidFill>
          <a:ln/>
        </p:spPr>
      </p:sp>
      <p:pic>
        <p:nvPicPr>
          <p:cNvPr id="10" name="Image 0" descr="/home/claude/css3class/icons/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517" y="3380537"/>
            <a:ext cx="462686" cy="46268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Selectors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868680" y="49377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Element, ID, class, pseudo-class, attribute selectors — and specificity conflicts.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89120" y="23317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89120" y="233172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15" name="Shape 12"/>
          <p:cNvSpPr/>
          <p:nvPr/>
        </p:nvSpPr>
        <p:spPr>
          <a:xfrm>
            <a:off x="4389120" y="2606040"/>
            <a:ext cx="3520440" cy="2286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16" name="Text 13"/>
          <p:cNvSpPr/>
          <p:nvPr/>
        </p:nvSpPr>
        <p:spPr>
          <a:xfrm>
            <a:off x="4617720" y="2404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5646420" y="3108960"/>
            <a:ext cx="1005840" cy="1005840"/>
          </a:xfrm>
          <a:prstGeom prst="ellipse">
            <a:avLst/>
          </a:prstGeom>
          <a:solidFill>
            <a:srgbClr val="EEF0F8"/>
          </a:solidFill>
          <a:ln/>
        </p:spPr>
      </p:sp>
      <p:pic>
        <p:nvPicPr>
          <p:cNvPr id="18" name="Image 1" descr="/home/claude/css3class/icons/cub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7997" y="3380537"/>
            <a:ext cx="462686" cy="46268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663440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Box Model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4709160" y="49377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Content, padding, border, margin — and why box-sizing changes everything.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8229600" y="2331720"/>
            <a:ext cx="3520440" cy="374904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8229600" y="2331720"/>
            <a:ext cx="3520440" cy="502920"/>
          </a:xfrm>
          <a:prstGeom prst="roundRect">
            <a:avLst>
              <a:gd name="adj" fmla="val 14545"/>
            </a:avLst>
          </a:prstGeom>
          <a:solidFill>
            <a:srgbClr val="2F3C7E"/>
          </a:solidFill>
          <a:ln/>
        </p:spPr>
      </p:sp>
      <p:sp>
        <p:nvSpPr>
          <p:cNvPr id="23" name="Shape 19"/>
          <p:cNvSpPr/>
          <p:nvPr/>
        </p:nvSpPr>
        <p:spPr>
          <a:xfrm>
            <a:off x="8229600" y="2606040"/>
            <a:ext cx="3520440" cy="228600"/>
          </a:xfrm>
          <a:prstGeom prst="rect">
            <a:avLst/>
          </a:prstGeom>
          <a:solidFill>
            <a:srgbClr val="2F3C7E"/>
          </a:solidFill>
          <a:ln/>
        </p:spPr>
      </p:sp>
      <p:sp>
        <p:nvSpPr>
          <p:cNvPr id="24" name="Text 20"/>
          <p:cNvSpPr/>
          <p:nvPr/>
        </p:nvSpPr>
        <p:spPr>
          <a:xfrm>
            <a:off x="8458200" y="240487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9486900" y="3108960"/>
            <a:ext cx="1005840" cy="1005840"/>
          </a:xfrm>
          <a:prstGeom prst="ellipse">
            <a:avLst/>
          </a:prstGeom>
          <a:solidFill>
            <a:srgbClr val="EEF0F8"/>
          </a:solidFill>
          <a:ln/>
        </p:spPr>
      </p:sp>
      <p:pic>
        <p:nvPicPr>
          <p:cNvPr id="26" name="Image 2" descr="/home/claude/css3class/icons/flex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8477" y="3380537"/>
            <a:ext cx="462686" cy="462686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8503920" y="429768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8549640" y="4937760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layout: main axis, cross axis, and the properties behind every navbar and card grid.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48640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how real companies structure CSS, responsive thinking, and DevTools debugging.</a:t>
            </a:r>
            <a:endParaRPr lang="en-US" sz="1250" dirty="0"/>
          </a:p>
        </p:txBody>
      </p:sp>
      <p:sp>
        <p:nvSpPr>
          <p:cNvPr id="30" name="Text 2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CSS?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for Cascading Style Sheets — the language that turns plain HTML into a real, professional-looking website.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2F2F5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4871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CSS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3017520"/>
            <a:ext cx="46634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97280" y="31546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356616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paragraph describing the course. It has no color, spacing, or visual hierarchy at all.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4526280"/>
            <a:ext cx="10058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5262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228600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E9EDFB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2487168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CSS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3017520"/>
            <a:ext cx="46634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31821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Portal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766560" y="365760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beautifully styled paragraph with proper spacing, color, and a clear visual hierarchy that guides the eye.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766560" y="4709160"/>
            <a:ext cx="1234440" cy="384048"/>
          </a:xfrm>
          <a:prstGeom prst="roundRect">
            <a:avLst>
              <a:gd name="adj" fmla="val 19048"/>
            </a:avLst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470916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EVOLUTION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CSS1 → CSS2 → CSS3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is what makes modern, responsive, animated websites possible.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22376" y="201168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242C55"/>
          </a:solidFill>
          <a:ln/>
        </p:spPr>
      </p:sp>
      <p:sp>
        <p:nvSpPr>
          <p:cNvPr id="6" name="Shape 4"/>
          <p:cNvSpPr/>
          <p:nvPr/>
        </p:nvSpPr>
        <p:spPr>
          <a:xfrm>
            <a:off x="1687068" y="2176272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7" name="Image 0" descr="/home/claude/css3class/icons/fl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5076" y="2334280"/>
            <a:ext cx="269199" cy="2691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13816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465576" y="201168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242C55"/>
          </a:solidFill>
          <a:ln/>
        </p:spPr>
      </p:sp>
      <p:sp>
        <p:nvSpPr>
          <p:cNvPr id="10" name="Shape 7"/>
          <p:cNvSpPr/>
          <p:nvPr/>
        </p:nvSpPr>
        <p:spPr>
          <a:xfrm>
            <a:off x="4430268" y="2176272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/home/claude/css3class/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8276" y="2334280"/>
            <a:ext cx="269199" cy="26919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57016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08776" y="201168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242C55"/>
          </a:solidFill>
          <a:ln/>
        </p:spPr>
      </p:sp>
      <p:sp>
        <p:nvSpPr>
          <p:cNvPr id="14" name="Shape 10"/>
          <p:cNvSpPr/>
          <p:nvPr/>
        </p:nvSpPr>
        <p:spPr>
          <a:xfrm>
            <a:off x="7173468" y="2176272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5" name="Image 2" descr="/home/claude/css3class/icons/spark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1476" y="2334280"/>
            <a:ext cx="269199" cy="26919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0216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8951976" y="201168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242C55"/>
          </a:solidFill>
          <a:ln/>
        </p:spPr>
      </p:sp>
      <p:sp>
        <p:nvSpPr>
          <p:cNvPr id="18" name="Shape 13"/>
          <p:cNvSpPr/>
          <p:nvPr/>
        </p:nvSpPr>
        <p:spPr>
          <a:xfrm>
            <a:off x="9916668" y="2176272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9" name="Image 3" descr="/home/claude/css3class/icons/transitio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4676" y="2334280"/>
            <a:ext cx="269199" cy="269199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043416" y="28803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722376" y="365760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242C55"/>
          </a:solidFill>
          <a:ln/>
        </p:spPr>
      </p:sp>
      <p:sp>
        <p:nvSpPr>
          <p:cNvPr id="22" name="Shape 16"/>
          <p:cNvSpPr/>
          <p:nvPr/>
        </p:nvSpPr>
        <p:spPr>
          <a:xfrm>
            <a:off x="1687068" y="3822192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3" name="Image 4" descr="/home/claude/css3class/icons/mobi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5076" y="3980200"/>
            <a:ext cx="269199" cy="269199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13816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Queries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3465576" y="365760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242C55"/>
          </a:solidFill>
          <a:ln/>
        </p:spPr>
      </p:sp>
      <p:sp>
        <p:nvSpPr>
          <p:cNvPr id="26" name="Shape 19"/>
          <p:cNvSpPr/>
          <p:nvPr/>
        </p:nvSpPr>
        <p:spPr>
          <a:xfrm>
            <a:off x="4430268" y="3822192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7" name="Image 5" descr="/home/claude/css3class/icons/variab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8276" y="3980200"/>
            <a:ext cx="269199" cy="269199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557016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208776" y="365760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242C55"/>
          </a:solidFill>
          <a:ln/>
        </p:spPr>
      </p:sp>
      <p:sp>
        <p:nvSpPr>
          <p:cNvPr id="30" name="Shape 22"/>
          <p:cNvSpPr/>
          <p:nvPr/>
        </p:nvSpPr>
        <p:spPr>
          <a:xfrm>
            <a:off x="7173468" y="3822192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1" name="Image 6" descr="/home/claude/css3class/icons/shadow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31476" y="3980200"/>
            <a:ext cx="269199" cy="269199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300216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200" dirty="0"/>
          </a:p>
        </p:txBody>
      </p:sp>
      <p:sp>
        <p:nvSpPr>
          <p:cNvPr id="33" name="Shape 24"/>
          <p:cNvSpPr/>
          <p:nvPr/>
        </p:nvSpPr>
        <p:spPr>
          <a:xfrm>
            <a:off x="8951976" y="3657600"/>
            <a:ext cx="2514600" cy="1417320"/>
          </a:xfrm>
          <a:prstGeom prst="roundRect">
            <a:avLst>
              <a:gd name="adj" fmla="val 5806"/>
            </a:avLst>
          </a:prstGeom>
          <a:solidFill>
            <a:srgbClr val="242C55"/>
          </a:solidFill>
          <a:ln/>
        </p:spPr>
      </p:sp>
      <p:sp>
        <p:nvSpPr>
          <p:cNvPr id="34" name="Shape 25"/>
          <p:cNvSpPr/>
          <p:nvPr/>
        </p:nvSpPr>
        <p:spPr>
          <a:xfrm>
            <a:off x="9916668" y="3822192"/>
            <a:ext cx="585216" cy="585216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5" name="Image 7" descr="/home/claude/css3class/icons/transform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74676" y="3980200"/>
            <a:ext cx="269199" cy="269199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9043416" y="45262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Transformations</a:t>
            </a: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· APPLYING CSS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Add CSS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home/claude/css3class/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04734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928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CSS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2743200"/>
            <a:ext cx="3063240" cy="1280160"/>
          </a:xfrm>
          <a:prstGeom prst="roundRect">
            <a:avLst>
              <a:gd name="adj" fmla="val 4286"/>
            </a:avLst>
          </a:prstGeom>
          <a:solidFill>
            <a:srgbClr val="141A33"/>
          </a:solidFill>
          <a:ln/>
        </p:spPr>
      </p:sp>
      <p:sp>
        <p:nvSpPr>
          <p:cNvPr id="9" name="Text 6"/>
          <p:cNvSpPr/>
          <p:nvPr/>
        </p:nvSpPr>
        <p:spPr>
          <a:xfrm>
            <a:off x="960120" y="28346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style="color:red;"&gt;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Hello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050" dirty="0"/>
          </a:p>
        </p:txBody>
      </p:sp>
      <p:pic>
        <p:nvPicPr>
          <p:cNvPr id="10" name="Image 1" descr="/home/claude/css3clas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206240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70432" y="4160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testing</a:t>
            </a:r>
            <a:endParaRPr lang="en-US" sz="1100" dirty="0"/>
          </a:p>
        </p:txBody>
      </p:sp>
      <p:pic>
        <p:nvPicPr>
          <p:cNvPr id="12" name="Image 2" descr="/home/claude/css3class/icons/cros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800600"/>
            <a:ext cx="256032" cy="2560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0432" y="4754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reusable · hard to maintain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4389120" y="160020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663440" y="18745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6" name="Image 3" descr="/home/claude/css3class/icons/c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6262" y="2047342"/>
            <a:ext cx="294437" cy="294437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440680" y="18928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CSS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4617720" y="2743200"/>
            <a:ext cx="3063240" cy="1280160"/>
          </a:xfrm>
          <a:prstGeom prst="roundRect">
            <a:avLst>
              <a:gd name="adj" fmla="val 4286"/>
            </a:avLst>
          </a:prstGeom>
          <a:solidFill>
            <a:srgbClr val="141A33"/>
          </a:solidFill>
          <a:ln/>
        </p:spPr>
      </p:sp>
      <p:sp>
        <p:nvSpPr>
          <p:cNvPr id="19" name="Text 13"/>
          <p:cNvSpPr/>
          <p:nvPr/>
        </p:nvSpPr>
        <p:spPr>
          <a:xfrm>
            <a:off x="4800600" y="28346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&lt;style&gt;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red;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&lt;/style&gt;</a:t>
            </a:r>
            <a:endParaRPr lang="en-US" sz="1050" dirty="0"/>
          </a:p>
        </p:txBody>
      </p:sp>
      <p:pic>
        <p:nvPicPr>
          <p:cNvPr id="20" name="Image 4" descr="/home/claude/css3class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20624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010912" y="4160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 for a single page</a:t>
            </a:r>
            <a:endParaRPr lang="en-US" sz="1100" dirty="0"/>
          </a:p>
        </p:txBody>
      </p:sp>
      <p:pic>
        <p:nvPicPr>
          <p:cNvPr id="22" name="Image 5" descr="/home/claude/css3class/icons/cros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4800600"/>
            <a:ext cx="256032" cy="256032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10912" y="4754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tied to one file</a:t>
            </a:r>
            <a:endParaRPr lang="en-US" sz="1100" dirty="0"/>
          </a:p>
        </p:txBody>
      </p:sp>
      <p:sp>
        <p:nvSpPr>
          <p:cNvPr id="24" name="Shape 16"/>
          <p:cNvSpPr/>
          <p:nvPr/>
        </p:nvSpPr>
        <p:spPr>
          <a:xfrm>
            <a:off x="8229600" y="1600200"/>
            <a:ext cx="3520440" cy="4572000"/>
          </a:xfrm>
          <a:prstGeom prst="roundRect">
            <a:avLst>
              <a:gd name="adj" fmla="val 2078"/>
            </a:avLst>
          </a:prstGeom>
          <a:solidFill>
            <a:srgbClr val="E9EDFB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25" name="Shape 17"/>
          <p:cNvSpPr/>
          <p:nvPr/>
        </p:nvSpPr>
        <p:spPr>
          <a:xfrm>
            <a:off x="8503920" y="18745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26" name="Image 6" descr="/home/claude/css3class/icons/lin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76742" y="2047342"/>
            <a:ext cx="294437" cy="294437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281160" y="189280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CSS</a:t>
            </a:r>
            <a:endParaRPr lang="en-US" sz="1500" dirty="0"/>
          </a:p>
        </p:txBody>
      </p:sp>
      <p:sp>
        <p:nvSpPr>
          <p:cNvPr id="28" name="Shape 19"/>
          <p:cNvSpPr/>
          <p:nvPr/>
        </p:nvSpPr>
        <p:spPr>
          <a:xfrm>
            <a:off x="8458200" y="2743200"/>
            <a:ext cx="3063240" cy="1280160"/>
          </a:xfrm>
          <a:prstGeom prst="roundRect">
            <a:avLst>
              <a:gd name="adj" fmla="val 4286"/>
            </a:avLst>
          </a:prstGeom>
          <a:solidFill>
            <a:srgbClr val="141A33"/>
          </a:solidFill>
          <a:ln/>
        </p:spPr>
      </p:sp>
      <p:sp>
        <p:nvSpPr>
          <p:cNvPr id="29" name="Text 20"/>
          <p:cNvSpPr/>
          <p:nvPr/>
        </p:nvSpPr>
        <p:spPr>
          <a:xfrm>
            <a:off x="8641080" y="2834640"/>
            <a:ext cx="2697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&lt;link rel="stylesheet"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href="style.css"&gt;</a:t>
            </a:r>
            <a:endParaRPr lang="en-US" sz="1050" dirty="0"/>
          </a:p>
        </p:txBody>
      </p:sp>
      <p:pic>
        <p:nvPicPr>
          <p:cNvPr id="30" name="Image 7" descr="/home/claude/css3class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03920" y="4206240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8851392" y="41605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standard — this is what companies use</a:t>
            </a:r>
            <a:endParaRPr lang="en-US" sz="1100" dirty="0"/>
          </a:p>
        </p:txBody>
      </p:sp>
      <p:sp>
        <p:nvSpPr>
          <p:cNvPr id="32" name="Shape 22"/>
          <p:cNvSpPr/>
          <p:nvPr/>
        </p:nvSpPr>
        <p:spPr>
          <a:xfrm>
            <a:off x="8458200" y="5577840"/>
            <a:ext cx="3063240" cy="384048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33" name="Text 23"/>
          <p:cNvSpPr/>
          <p:nvPr/>
        </p:nvSpPr>
        <p:spPr>
          <a:xfrm>
            <a:off x="8458200" y="557784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Used by real companies</a:t>
            </a:r>
            <a:endParaRPr lang="en-US" sz="1050" dirty="0"/>
          </a:p>
        </p:txBody>
      </p:sp>
      <p:sp>
        <p:nvSpPr>
          <p:cNvPr id="34" name="Text 2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SYNTAX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Anatomy of a CSS Rule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0" y="2194560"/>
            <a:ext cx="5486400" cy="1554480"/>
          </a:xfrm>
          <a:prstGeom prst="roundRect">
            <a:avLst>
              <a:gd name="adj" fmla="val 4706"/>
            </a:avLst>
          </a:prstGeom>
          <a:solidFill>
            <a:srgbClr val="141A33"/>
          </a:solidFill>
          <a:ln/>
        </p:spPr>
      </p:sp>
      <p:sp>
        <p:nvSpPr>
          <p:cNvPr id="5" name="Text 3"/>
          <p:cNvSpPr/>
          <p:nvPr/>
        </p:nvSpPr>
        <p:spPr>
          <a:xfrm>
            <a:off x="3108960" y="233172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9616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{ </a:t>
            </a:r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FE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font-size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8FE3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40px</a:t>
            </a:r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pPr indent="0" marL="0">
              <a:lnSpc>
                <a:spcPct val="120000"/>
              </a:lnSpc>
              <a:buNone/>
            </a:pP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0690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429768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4297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51560" y="4937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Selector — which element to style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43400" y="40690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429768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F9E795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297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4937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— what aspect to change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4069080"/>
            <a:ext cx="3291840" cy="1737360"/>
          </a:xfrm>
          <a:prstGeom prst="roundRect">
            <a:avLst>
              <a:gd name="adj" fmla="val 4211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2440" y="4297680"/>
            <a:ext cx="1280160" cy="457200"/>
          </a:xfrm>
          <a:prstGeom prst="roundRect">
            <a:avLst>
              <a:gd name="adj" fmla="val 14000"/>
            </a:avLst>
          </a:prstGeom>
          <a:solidFill>
            <a:srgbClr val="8FE3A0"/>
          </a:solidFill>
          <a:ln/>
        </p:spPr>
      </p:sp>
      <p:sp>
        <p:nvSpPr>
          <p:cNvPr id="16" name="Text 14"/>
          <p:cNvSpPr/>
          <p:nvPr/>
        </p:nvSpPr>
        <p:spPr>
          <a:xfrm>
            <a:off x="8092440" y="42976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092440" y="493776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— the setting to apply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SELECTORS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Selectors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0116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home/claude/css3class/icons/t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410" y="220919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31520" y="3429000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141A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4747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 { color: red; }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731520" y="44348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every &lt;h1&gt; on the page.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410712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E9EDFB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7972" y="20116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3" name="Image 1" descr="/home/claude/css3class/icons/hashta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482" y="2209190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3593592" y="3429000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141A33"/>
          </a:solidFill>
          <a:ln/>
        </p:spPr>
      </p:sp>
      <p:sp>
        <p:nvSpPr>
          <p:cNvPr id="16" name="Text 12"/>
          <p:cNvSpPr/>
          <p:nvPr/>
        </p:nvSpPr>
        <p:spPr>
          <a:xfrm>
            <a:off x="3685032" y="34747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#title { color: blue; }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3593592" y="44348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one unique element. IDs must be unique per page.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272784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10044" y="20116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0" name="Image 2" descr="/home/claude/css3class/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554" y="2209190"/>
            <a:ext cx="336499" cy="33649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9944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6455664" y="3429000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141A33"/>
          </a:solidFill>
          <a:ln/>
        </p:spPr>
      </p:sp>
      <p:sp>
        <p:nvSpPr>
          <p:cNvPr id="23" name="Text 18"/>
          <p:cNvSpPr/>
          <p:nvPr/>
        </p:nvSpPr>
        <p:spPr>
          <a:xfrm>
            <a:off x="6547104" y="34747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.text { color: green; }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6455664" y="44348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across many elements — what most industry projects use.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9134856" y="1691640"/>
            <a:ext cx="2606040" cy="4480560"/>
          </a:xfrm>
          <a:prstGeom prst="roundRect">
            <a:avLst>
              <a:gd name="adj" fmla="val 2807"/>
            </a:avLst>
          </a:prstGeom>
          <a:solidFill>
            <a:srgbClr val="E9EDFB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072116" y="20116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7" name="Image 3" descr="/home/claude/css3class/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9626" y="2209190"/>
            <a:ext cx="336499" cy="33649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72016" y="292608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Universal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9317736" y="3429000"/>
            <a:ext cx="2240280" cy="777240"/>
          </a:xfrm>
          <a:prstGeom prst="roundRect">
            <a:avLst>
              <a:gd name="adj" fmla="val 7059"/>
            </a:avLst>
          </a:prstGeom>
          <a:solidFill>
            <a:srgbClr val="141A33"/>
          </a:solidFill>
          <a:ln/>
        </p:spPr>
      </p:sp>
      <p:sp>
        <p:nvSpPr>
          <p:cNvPr id="30" name="Text 24"/>
          <p:cNvSpPr/>
          <p:nvPr/>
        </p:nvSpPr>
        <p:spPr>
          <a:xfrm>
            <a:off x="9409176" y="34747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 margin: 0; padding: 0; }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9317736" y="443484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everything — the basis of a "CSS Reset."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SELECTORS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Combining Selectors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470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Selector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42316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p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blue;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474720" y="23317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one rule to multiple selectors at once.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64592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537960" y="184708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Descendant Selector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537960" y="233172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242316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 a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red;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89720" y="233172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all &lt;a&gt; links inside &lt;nav&gt; — anywhere within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5196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4531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Child Selector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93776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502920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 &gt; p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474720" y="49377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only direct children — not deeper descendants.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4251960"/>
            <a:ext cx="5394960" cy="2331720"/>
          </a:xfrm>
          <a:prstGeom prst="roundRect">
            <a:avLst>
              <a:gd name="adj" fmla="val 313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37960" y="445312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Attribute Selector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537960" y="493776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141A33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502920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input[type="text"] {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...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189720" y="49377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elements by an HTML attribute value.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PSEUDO-CLASSES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Pseudo-Class Selectors — Live Demo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respond to state and position — no JavaScript required.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20240" y="228600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7" name="Image 0" descr="/home/claude/css3class/icons/curs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7750" y="2483510"/>
            <a:ext cx="336499" cy="33649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154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:hover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531620" y="36576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1B2340"/>
          </a:solidFill>
          <a:ln/>
        </p:spPr>
      </p:sp>
      <p:sp>
        <p:nvSpPr>
          <p:cNvPr id="10" name="Text 7"/>
          <p:cNvSpPr/>
          <p:nvPr/>
        </p:nvSpPr>
        <p:spPr>
          <a:xfrm>
            <a:off x="1531620" y="365760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Hovered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" y="43434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button:hover {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background: black;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77240" y="50749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changes when the cursor is over the element.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3400" y="201168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15000" y="228600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5" name="Image 1" descr="/home/claude/css3class/icons/crosshai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510" y="2483510"/>
            <a:ext cx="336499" cy="33649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3154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:focus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097780" y="3657600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31750">
            <a:solidFill>
              <a:srgbClr val="F96167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234940" y="3657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here...</a:t>
            </a:r>
            <a:endParaRPr lang="en-US" sz="1000" dirty="0"/>
          </a:p>
        </p:txBody>
      </p:sp>
      <p:sp>
        <p:nvSpPr>
          <p:cNvPr id="19" name="Text 15"/>
          <p:cNvSpPr/>
          <p:nvPr/>
        </p:nvSpPr>
        <p:spPr>
          <a:xfrm>
            <a:off x="4572000" y="434340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input:focus {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border: 2px solid blue;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4572000" y="50749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changes while the field is actively selected.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8138160" y="2011680"/>
            <a:ext cx="3520440" cy="397764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9509760" y="228600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3" name="Image 2" descr="/home/claude/css3class/icons/listOrder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7270" y="2483510"/>
            <a:ext cx="336499" cy="33649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366760" y="31546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:first-child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8732520" y="36576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One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8732520" y="402336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Two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732520" y="43891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Three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8366760" y="489204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li:first-child {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color: red;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· INDUSTRY TOPIC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Selector Specificity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two rules conflict, the browser must decide which one wins. Higher specificity always beats lower.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62556" y="214884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2436876" y="214884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Inline Styles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094476" y="2148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style="color:red"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76956" y="3063240"/>
            <a:ext cx="6035040" cy="777240"/>
          </a:xfrm>
          <a:prstGeom prst="roundRect">
            <a:avLst>
              <a:gd name="adj" fmla="val 9412"/>
            </a:avLst>
          </a:prstGeom>
          <a:solidFill>
            <a:srgbClr val="2F3C7E"/>
          </a:solidFill>
          <a:ln/>
        </p:spPr>
      </p:sp>
      <p:sp>
        <p:nvSpPr>
          <p:cNvPr id="9" name="Text 7"/>
          <p:cNvSpPr/>
          <p:nvPr/>
        </p:nvSpPr>
        <p:spPr>
          <a:xfrm>
            <a:off x="3351276" y="30632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 Selectors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094476" y="306324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#title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991356" y="3977640"/>
            <a:ext cx="4206240" cy="777240"/>
          </a:xfrm>
          <a:prstGeom prst="roundRect">
            <a:avLst>
              <a:gd name="adj" fmla="val 9412"/>
            </a:avLst>
          </a:prstGeom>
          <a:solidFill>
            <a:srgbClr val="2F3C7E"/>
          </a:solidFill>
          <a:ln/>
        </p:spPr>
      </p:sp>
      <p:sp>
        <p:nvSpPr>
          <p:cNvPr id="12" name="Text 10"/>
          <p:cNvSpPr/>
          <p:nvPr/>
        </p:nvSpPr>
        <p:spPr>
          <a:xfrm>
            <a:off x="4265676" y="397764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Selectors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094476" y="397764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.text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905756" y="4892040"/>
            <a:ext cx="2377440" cy="777240"/>
          </a:xfrm>
          <a:prstGeom prst="roundRect">
            <a:avLst>
              <a:gd name="adj" fmla="val 9412"/>
            </a:avLst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5180076" y="48920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Element Selectors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094476" y="489204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A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h1, p, div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62556" y="1920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 — wins every conflict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05756" y="58247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priority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· COLORS &amp; UNITS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Colors &amp; Units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to Write Colors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8680" y="242316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1691640" y="242316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red;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347472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1691640" y="347472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#ff0000;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68680" y="4526280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4526280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color: rgb(255,0,0);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E9EDFB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18288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Units — Absolute vs Relative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331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37960" y="2697480"/>
            <a:ext cx="1371600" cy="502920"/>
          </a:xfrm>
          <a:prstGeom prst="roundRect">
            <a:avLst>
              <a:gd name="adj" fmla="val 50909"/>
            </a:avLst>
          </a:prstGeom>
          <a:solidFill>
            <a:srgbClr val="FFFFFF"/>
          </a:solidFill>
          <a:ln w="19050">
            <a:solidFill>
              <a:srgbClr val="C7CD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6974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34290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— industry prefers these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3794760"/>
            <a:ext cx="822960" cy="502920"/>
          </a:xfrm>
          <a:prstGeom prst="roundRect">
            <a:avLst>
              <a:gd name="adj" fmla="val 50909"/>
            </a:avLst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6537960" y="3794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470648" y="3794760"/>
            <a:ext cx="822960" cy="502920"/>
          </a:xfrm>
          <a:prstGeom prst="roundRect">
            <a:avLst>
              <a:gd name="adj" fmla="val 50909"/>
            </a:avLst>
          </a:prstGeom>
          <a:solidFill>
            <a:srgbClr val="2F3C7E"/>
          </a:solidFill>
          <a:ln/>
        </p:spPr>
      </p:sp>
      <p:sp>
        <p:nvSpPr>
          <p:cNvPr id="21" name="Text 19"/>
          <p:cNvSpPr/>
          <p:nvPr/>
        </p:nvSpPr>
        <p:spPr>
          <a:xfrm>
            <a:off x="7470648" y="3794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403336" y="3794760"/>
            <a:ext cx="822960" cy="502920"/>
          </a:xfrm>
          <a:prstGeom prst="roundRect">
            <a:avLst>
              <a:gd name="adj" fmla="val 50909"/>
            </a:avLst>
          </a:prstGeom>
          <a:solidFill>
            <a:srgbClr val="2F3C7E"/>
          </a:solidFill>
          <a:ln/>
        </p:spPr>
      </p:sp>
      <p:sp>
        <p:nvSpPr>
          <p:cNvPr id="23" name="Text 21"/>
          <p:cNvSpPr/>
          <p:nvPr/>
        </p:nvSpPr>
        <p:spPr>
          <a:xfrm>
            <a:off x="8403336" y="3794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336024" y="3794760"/>
            <a:ext cx="822960" cy="502920"/>
          </a:xfrm>
          <a:prstGeom prst="roundRect">
            <a:avLst>
              <a:gd name="adj" fmla="val 50909"/>
            </a:avLst>
          </a:prstGeom>
          <a:solidFill>
            <a:srgbClr val="2F3C7E"/>
          </a:solidFill>
          <a:ln/>
        </p:spPr>
      </p:sp>
      <p:sp>
        <p:nvSpPr>
          <p:cNvPr id="25" name="Text 23"/>
          <p:cNvSpPr/>
          <p:nvPr/>
        </p:nvSpPr>
        <p:spPr>
          <a:xfrm>
            <a:off x="9336024" y="3794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10268712" y="3794760"/>
            <a:ext cx="822960" cy="502920"/>
          </a:xfrm>
          <a:prstGeom prst="roundRect">
            <a:avLst>
              <a:gd name="adj" fmla="val 50909"/>
            </a:avLst>
          </a:prstGeom>
          <a:solidFill>
            <a:srgbClr val="2F3C7E"/>
          </a:solidFill>
          <a:ln/>
        </p:spPr>
      </p:sp>
      <p:sp>
        <p:nvSpPr>
          <p:cNvPr id="27" name="Text 25"/>
          <p:cNvSpPr/>
          <p:nvPr/>
        </p:nvSpPr>
        <p:spPr>
          <a:xfrm>
            <a:off x="10268712" y="379476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37960" y="45262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rem, %, vw and vh scale with the screen — fixed px values don't adapt to different devices.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THE BOX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CSS Is a Box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566160" y="1691640"/>
            <a:ext cx="5029200" cy="4572000"/>
          </a:xfrm>
          <a:prstGeom prst="roundRect">
            <a:avLst>
              <a:gd name="adj" fmla="val 1000"/>
            </a:avLst>
          </a:prstGeom>
          <a:solidFill>
            <a:srgbClr val="FDF2E3"/>
          </a:solidFill>
          <a:ln w="19050">
            <a:solidFill>
              <a:srgbClr val="E8C97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49040" y="18013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977640" y="2103120"/>
            <a:ext cx="4206240" cy="3749040"/>
          </a:xfrm>
          <a:prstGeom prst="roundRect">
            <a:avLst>
              <a:gd name="adj" fmla="val 1220"/>
            </a:avLst>
          </a:prstGeom>
          <a:solidFill>
            <a:srgbClr val="E9DDF2"/>
          </a:solidFill>
          <a:ln w="19050">
            <a:solidFill>
              <a:srgbClr val="B490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6052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4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2468880"/>
            <a:ext cx="3474720" cy="3017520"/>
          </a:xfrm>
          <a:prstGeom prst="roundRect">
            <a:avLst>
              <a:gd name="adj" fmla="val 1515"/>
            </a:avLst>
          </a:prstGeom>
          <a:solidFill>
            <a:srgbClr val="DCEAFB"/>
          </a:solidFill>
          <a:ln w="19050">
            <a:solidFill>
              <a:srgbClr val="8FBF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560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2834640"/>
            <a:ext cx="2743200" cy="2286000"/>
          </a:xfrm>
          <a:prstGeom prst="roundRect">
            <a:avLst>
              <a:gd name="adj" fmla="val 2000"/>
            </a:avLst>
          </a:prstGeom>
          <a:solidFill>
            <a:srgbClr val="2F3C7E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834640"/>
            <a:ext cx="2743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169164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3C7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63677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Content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19659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text, image or element itself.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278892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2F6FB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7340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Padding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padding: 20px; — space inside the border.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7A4FA0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383133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Border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1605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border: 2px solid black;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983480"/>
            <a:ext cx="201168" cy="201168"/>
          </a:xfrm>
          <a:prstGeom prst="roundRect">
            <a:avLst>
              <a:gd name="adj" fmla="val 18182"/>
            </a:avLst>
          </a:prstGeom>
          <a:solidFill>
            <a:srgbClr val="B8860B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9286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margin: 20px; — outer spacing between elements.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6 · BOX SIZING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box-sizing: border-box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industry-standard reset — makes width calculations predictable.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FBEAEA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Without border-box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width: 300px;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border: 10px;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padding: 20px;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188720" y="3749040"/>
            <a:ext cx="4206240" cy="1737360"/>
          </a:xfrm>
          <a:prstGeom prst="roundRect">
            <a:avLst/>
          </a:prstGeom>
          <a:solidFill>
            <a:srgbClr val="F5C6C6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8760" y="4069080"/>
            <a:ext cx="356616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44348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width = 360px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5577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Confusing — padding &amp; border add on top of the 300px.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965960"/>
            <a:ext cx="5394960" cy="4206240"/>
          </a:xfrm>
          <a:prstGeom prst="roundRect">
            <a:avLst>
              <a:gd name="adj" fmla="val 1739"/>
            </a:avLst>
          </a:prstGeom>
          <a:solidFill>
            <a:srgbClr val="E7F6EE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border-box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6974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{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box-sizing: border-box;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0" y="3749040"/>
            <a:ext cx="3840480" cy="1737360"/>
          </a:xfrm>
          <a:prstGeom prst="roundRect">
            <a:avLst/>
          </a:prstGeom>
          <a:solidFill>
            <a:srgbClr val="BEE7CF"/>
          </a:solidFill>
          <a:ln w="19050">
            <a:solidFill>
              <a:srgbClr val="1E8E5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78040" y="4069080"/>
            <a:ext cx="3200400" cy="10972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178040" y="4434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E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Rendered width = 300px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37960" y="557784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— padding &amp; border are included inside the 300px.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7 · DISPLAY PROPERTY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Block, Inline &amp; Inline-Block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1051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block;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1284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full available width. New line before and after.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43600" y="1965960"/>
            <a:ext cx="5120640" cy="4114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0" y="19659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Element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943600" y="2468880"/>
            <a:ext cx="5120640" cy="411480"/>
          </a:xfrm>
          <a:prstGeom prst="rect">
            <a:avLst/>
          </a:prstGeom>
          <a:solidFill>
            <a:srgbClr val="C7CDEB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24688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Block (own line)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50215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inline;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90448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only as much width as needed. Sits in the text flow.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943600" y="379476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text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highlight>
                  <a:srgbClr val="F96167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span</a:t>
            </a:r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flows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highlight>
                  <a:srgbClr val="2F3C7E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right in the sentence.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5193792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inline-block;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596128"/>
            <a:ext cx="4846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in the flow like inline, but accepts width/height like block.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0" y="5440680"/>
            <a:ext cx="1600200" cy="685800"/>
          </a:xfrm>
          <a:prstGeom prst="roundRect">
            <a:avLst>
              <a:gd name="adj" fmla="val 9333"/>
            </a:avLst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54406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26680" y="5440680"/>
            <a:ext cx="1600200" cy="685800"/>
          </a:xfrm>
          <a:prstGeom prst="roundRect">
            <a:avLst>
              <a:gd name="adj" fmla="val 9333"/>
            </a:avLst>
          </a:prstGeom>
          <a:solidFill>
            <a:srgbClr val="F96167"/>
          </a:solidFill>
          <a:ln/>
        </p:spPr>
      </p:sp>
      <p:sp>
        <p:nvSpPr>
          <p:cNvPr id="21" name="Text 19"/>
          <p:cNvSpPr/>
          <p:nvPr/>
        </p:nvSpPr>
        <p:spPr>
          <a:xfrm>
            <a:off x="7726680" y="54406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509760" y="5440680"/>
            <a:ext cx="1600200" cy="685800"/>
          </a:xfrm>
          <a:prstGeom prst="roundRect">
            <a:avLst>
              <a:gd name="adj" fmla="val 9333"/>
            </a:avLst>
          </a:prstGeom>
          <a:solidFill>
            <a:srgbClr val="2F3C7E"/>
          </a:solidFill>
          <a:ln/>
        </p:spPr>
      </p:sp>
      <p:sp>
        <p:nvSpPr>
          <p:cNvPr id="23" name="Text 21"/>
          <p:cNvSpPr/>
          <p:nvPr/>
        </p:nvSpPr>
        <p:spPr>
          <a:xfrm>
            <a:off x="9509760" y="544068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C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FLEXBOX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Modern Layouts Begin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242C55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Old Methods</a:t>
            </a:r>
            <a:endParaRPr lang="en-US" sz="1500" dirty="0"/>
          </a:p>
        </p:txBody>
      </p:sp>
      <p:pic>
        <p:nvPicPr>
          <p:cNvPr id="6" name="Image 0" descr="/home/claude/css3class/icons/cro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377440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2331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— hard to control, breaks easily</a:t>
            </a:r>
            <a:endParaRPr lang="en-US" sz="1150" dirty="0"/>
          </a:p>
        </p:txBody>
      </p:sp>
      <p:pic>
        <p:nvPicPr>
          <p:cNvPr id="8" name="Image 1" descr="/home/claude/css3class/icons/cro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70432" y="28803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— never meant for layout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548640" y="3794760"/>
            <a:ext cx="5120640" cy="1920240"/>
          </a:xfrm>
          <a:prstGeom prst="roundRect">
            <a:avLst>
              <a:gd name="adj" fmla="val 4286"/>
            </a:avLst>
          </a:prstGeom>
          <a:solidFill>
            <a:srgbClr val="242C55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" y="3977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 Solves It</a:t>
            </a:r>
            <a:endParaRPr lang="en-US" sz="1500" dirty="0"/>
          </a:p>
        </p:txBody>
      </p:sp>
      <p:pic>
        <p:nvPicPr>
          <p:cNvPr id="12" name="Image 2" descr="/home/claude/css3clas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480560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70432" y="44348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and distributes space automatically</a:t>
            </a:r>
            <a:endParaRPr lang="en-US" sz="1150" dirty="0"/>
          </a:p>
        </p:txBody>
      </p:sp>
      <p:pic>
        <p:nvPicPr>
          <p:cNvPr id="14" name="Image 3" descr="/home/claude/css3class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5029200"/>
            <a:ext cx="237744" cy="23774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0432" y="49834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6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CSS: display: flex;</a:t>
            </a:r>
            <a:endParaRPr lang="en-US" sz="1150" dirty="0"/>
          </a:p>
        </p:txBody>
      </p:sp>
      <p:sp>
        <p:nvSpPr>
          <p:cNvPr id="16" name="Shape 10"/>
          <p:cNvSpPr/>
          <p:nvPr/>
        </p:nvSpPr>
        <p:spPr>
          <a:xfrm>
            <a:off x="6172200" y="1691640"/>
            <a:ext cx="5486400" cy="4023360"/>
          </a:xfrm>
          <a:prstGeom prst="roundRect">
            <a:avLst>
              <a:gd name="adj" fmla="val 2045"/>
            </a:avLst>
          </a:prstGeom>
          <a:solidFill>
            <a:srgbClr val="242C55"/>
          </a:solidFill>
          <a:ln/>
        </p:spPr>
      </p:sp>
      <p:sp>
        <p:nvSpPr>
          <p:cNvPr id="17" name="Text 11"/>
          <p:cNvSpPr/>
          <p:nvPr/>
        </p:nvSpPr>
        <p:spPr>
          <a:xfrm>
            <a:off x="6446520" y="187452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E79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flex;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812280" y="3063240"/>
            <a:ext cx="1188720" cy="1188720"/>
          </a:xfrm>
          <a:prstGeom prst="roundRect">
            <a:avLst>
              <a:gd name="adj" fmla="val 5385"/>
            </a:avLst>
          </a:prstGeom>
          <a:solidFill>
            <a:srgbClr val="2F3C7E"/>
          </a:solidFill>
          <a:ln/>
        </p:spPr>
      </p:sp>
      <p:sp>
        <p:nvSpPr>
          <p:cNvPr id="19" name="Text 13"/>
          <p:cNvSpPr/>
          <p:nvPr/>
        </p:nvSpPr>
        <p:spPr>
          <a:xfrm>
            <a:off x="6812280" y="30632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1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8321040" y="3063240"/>
            <a:ext cx="1188720" cy="1188720"/>
          </a:xfrm>
          <a:prstGeom prst="roundRect">
            <a:avLst>
              <a:gd name="adj" fmla="val 5385"/>
            </a:avLst>
          </a:prstGeom>
          <a:solidFill>
            <a:srgbClr val="2F3C7E"/>
          </a:solidFill>
          <a:ln/>
        </p:spPr>
      </p:sp>
      <p:sp>
        <p:nvSpPr>
          <p:cNvPr id="21" name="Text 15"/>
          <p:cNvSpPr/>
          <p:nvPr/>
        </p:nvSpPr>
        <p:spPr>
          <a:xfrm>
            <a:off x="8321040" y="30632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2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9829800" y="3063240"/>
            <a:ext cx="1188720" cy="1188720"/>
          </a:xfrm>
          <a:prstGeom prst="roundRect">
            <a:avLst>
              <a:gd name="adj" fmla="val 5385"/>
            </a:avLst>
          </a:prstGeom>
          <a:solidFill>
            <a:srgbClr val="2F3C7E"/>
          </a:solidFill>
          <a:ln/>
        </p:spPr>
      </p:sp>
      <p:sp>
        <p:nvSpPr>
          <p:cNvPr id="23" name="Text 17"/>
          <p:cNvSpPr/>
          <p:nvPr/>
        </p:nvSpPr>
        <p:spPr>
          <a:xfrm>
            <a:off x="9829800" y="30632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3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537960" y="4572000"/>
            <a:ext cx="4754880" cy="0"/>
          </a:xfrm>
          <a:prstGeom prst="line">
            <a:avLst/>
          </a:prstGeom>
          <a:noFill/>
          <a:ln w="25400">
            <a:solidFill>
              <a:srgbClr val="F96167"/>
            </a:solidFill>
            <a:prstDash val="solid"/>
            <a:tailEnd type="triangle"/>
          </a:ln>
        </p:spPr>
      </p:sp>
      <p:sp>
        <p:nvSpPr>
          <p:cNvPr id="25" name="Text 19"/>
          <p:cNvSpPr/>
          <p:nvPr/>
        </p:nvSpPr>
        <p:spPr>
          <a:xfrm>
            <a:off x="6446520" y="4709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Axis — flex-direction: row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11201400" y="2286000"/>
            <a:ext cx="0" cy="685800"/>
          </a:xfrm>
          <a:prstGeom prst="line">
            <a:avLst/>
          </a:prstGeom>
          <a:noFill/>
          <a:ln w="25400">
            <a:solidFill>
              <a:srgbClr val="F9E795"/>
            </a:solidFill>
            <a:prstDash val="solid"/>
            <a:tailEnd type="triangle"/>
          </a:ln>
        </p:spPr>
      </p:sp>
      <p:sp>
        <p:nvSpPr>
          <p:cNvPr id="27" name="Text 21"/>
          <p:cNvSpPr/>
          <p:nvPr/>
        </p:nvSpPr>
        <p:spPr>
          <a:xfrm>
            <a:off x="10287000" y="22860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Axis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JUSTIFY-CONTENT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Controlling the Main Axis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470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center;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12848" y="2331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2898648" y="2331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3337560" y="2331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9" name="Shape 7"/>
          <p:cNvSpPr/>
          <p:nvPr/>
        </p:nvSpPr>
        <p:spPr>
          <a:xfrm>
            <a:off x="6172200" y="173736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355080" y="18470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space-between;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55080" y="2331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12" name="Shape 10"/>
          <p:cNvSpPr/>
          <p:nvPr/>
        </p:nvSpPr>
        <p:spPr>
          <a:xfrm>
            <a:off x="8526780" y="2331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98480" y="2331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52044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1520" y="36301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space-around;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05156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17" name="Shape 15"/>
          <p:cNvSpPr/>
          <p:nvPr/>
        </p:nvSpPr>
        <p:spPr>
          <a:xfrm>
            <a:off x="290322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19" name="Shape 17"/>
          <p:cNvSpPr/>
          <p:nvPr/>
        </p:nvSpPr>
        <p:spPr>
          <a:xfrm>
            <a:off x="6172200" y="3520440"/>
            <a:ext cx="5212080" cy="1554480"/>
          </a:xfrm>
          <a:prstGeom prst="roundRect">
            <a:avLst>
              <a:gd name="adj" fmla="val 4706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363016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3C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space-evenly;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62940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22" name="Shape 20"/>
          <p:cNvSpPr/>
          <p:nvPr/>
        </p:nvSpPr>
        <p:spPr>
          <a:xfrm>
            <a:off x="852678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23" name="Shape 21"/>
          <p:cNvSpPr/>
          <p:nvPr/>
        </p:nvSpPr>
        <p:spPr>
          <a:xfrm>
            <a:off x="10424160" y="41148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96167"/>
          </a:solidFill>
          <a:ln/>
        </p:spPr>
      </p:sp>
      <p:sp>
        <p:nvSpPr>
          <p:cNvPr id="24" name="Shape 22"/>
          <p:cNvSpPr/>
          <p:nvPr/>
        </p:nvSpPr>
        <p:spPr>
          <a:xfrm>
            <a:off x="548640" y="5394960"/>
            <a:ext cx="10881360" cy="1051560"/>
          </a:xfrm>
          <a:prstGeom prst="roundRect">
            <a:avLst>
              <a:gd name="adj" fmla="val 6957"/>
            </a:avLst>
          </a:prstGeom>
          <a:solidFill>
            <a:srgbClr val="E9EDFB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539496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align-items controls the same thing, but on the cross axis (vertical, by default).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MORE FLEX PROPERTIES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Direction, Alignment, Gap &amp; Wrap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06040" cy="4434840"/>
          </a:xfrm>
          <a:prstGeom prst="roundRect">
            <a:avLst>
              <a:gd name="adj" fmla="val 280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85900" y="20116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home/claude/css3class/icons/arrowUpDow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3410" y="2209190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align-items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31520" y="338328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141A33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34290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align-items: center;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31520" y="43891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Aligns items on the cross axis.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10712" y="1691640"/>
            <a:ext cx="2606040" cy="4434840"/>
          </a:xfrm>
          <a:prstGeom prst="roundRect">
            <a:avLst>
              <a:gd name="adj" fmla="val 2807"/>
            </a:avLst>
          </a:prstGeom>
          <a:solidFill>
            <a:srgbClr val="E9EDFB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47972" y="20116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3" name="Image 1" descr="/home/claude/css3class/icons/fle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482" y="2209190"/>
            <a:ext cx="336499" cy="3364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547872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flex-direction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593592" y="338328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141A33"/>
          </a:solidFill>
          <a:ln/>
        </p:spPr>
      </p:sp>
      <p:sp>
        <p:nvSpPr>
          <p:cNvPr id="16" name="Text 12"/>
          <p:cNvSpPr/>
          <p:nvPr/>
        </p:nvSpPr>
        <p:spPr>
          <a:xfrm>
            <a:off x="3685032" y="34290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 · column · row-reverse · column-reverse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593592" y="43891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which way the main axis runs.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72784" y="1691640"/>
            <a:ext cx="2606040" cy="4434840"/>
          </a:xfrm>
          <a:prstGeom prst="roundRect">
            <a:avLst>
              <a:gd name="adj" fmla="val 2807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210044" y="20116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0" name="Image 2" descr="/home/claude/css3class/icons/g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554" y="2209190"/>
            <a:ext cx="336499" cy="33649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9944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455664" y="338328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141A33"/>
          </a:solidFill>
          <a:ln/>
        </p:spPr>
      </p:sp>
      <p:sp>
        <p:nvSpPr>
          <p:cNvPr id="23" name="Text 18"/>
          <p:cNvSpPr/>
          <p:nvPr/>
        </p:nvSpPr>
        <p:spPr>
          <a:xfrm>
            <a:off x="6547104" y="34290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gap: 20px;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6455664" y="43891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spacing between items — no manual margins.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9134856" y="1691640"/>
            <a:ext cx="2606040" cy="4434840"/>
          </a:xfrm>
          <a:prstGeom prst="roundRect">
            <a:avLst>
              <a:gd name="adj" fmla="val 2807"/>
            </a:avLst>
          </a:prstGeom>
          <a:solidFill>
            <a:srgbClr val="E9EDFB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10072116" y="2011680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7" name="Image 3" descr="/home/claude/css3class/icons/wr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9626" y="2209190"/>
            <a:ext cx="336499" cy="33649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272016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flex-wrap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9317736" y="3383280"/>
            <a:ext cx="2240280" cy="822960"/>
          </a:xfrm>
          <a:prstGeom prst="roundRect">
            <a:avLst>
              <a:gd name="adj" fmla="val 6667"/>
            </a:avLst>
          </a:prstGeom>
          <a:solidFill>
            <a:srgbClr val="141A33"/>
          </a:solidFill>
          <a:ln/>
        </p:spPr>
      </p:sp>
      <p:sp>
        <p:nvSpPr>
          <p:cNvPr id="30" name="Text 24"/>
          <p:cNvSpPr/>
          <p:nvPr/>
        </p:nvSpPr>
        <p:spPr>
          <a:xfrm>
            <a:off x="9409176" y="342900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flex-wrap: wrap;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9317736" y="4389120"/>
            <a:ext cx="2240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items drop to a new line instead of shrinking forever.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INDIVIDUAL FLEX ITEMS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Controlling One Item at a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home/claude/css3class/icons/g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2138782"/>
            <a:ext cx="294437" cy="2944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842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flex-grow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77240" y="2834640"/>
            <a:ext cx="3063240" cy="640080"/>
          </a:xfrm>
          <a:prstGeom prst="roundRect">
            <a:avLst>
              <a:gd name="adj" fmla="val 8571"/>
            </a:avLst>
          </a:prstGeom>
          <a:solidFill>
            <a:srgbClr val="141A33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8803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flex-grow: 1;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22960" y="37033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an item expand to fill leftover space in the container.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8912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9659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3" name="Image 1" descr="/home/claude/css3class/icons/shrin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262" y="2138782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40680" y="19842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flex-shrink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4617720" y="2834640"/>
            <a:ext cx="3063240" cy="640080"/>
          </a:xfrm>
          <a:prstGeom prst="roundRect">
            <a:avLst>
              <a:gd name="adj" fmla="val 8571"/>
            </a:avLst>
          </a:prstGeom>
          <a:solidFill>
            <a:srgbClr val="141A33"/>
          </a:solidFill>
          <a:ln/>
        </p:spPr>
      </p:sp>
      <p:sp>
        <p:nvSpPr>
          <p:cNvPr id="16" name="Text 12"/>
          <p:cNvSpPr/>
          <p:nvPr/>
        </p:nvSpPr>
        <p:spPr>
          <a:xfrm>
            <a:off x="4709160" y="28803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flex-shrink: 0;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663440" y="37033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an item from shrinking when space runs out.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229600" y="1691640"/>
            <a:ext cx="3520440" cy="4480560"/>
          </a:xfrm>
          <a:prstGeom prst="roundRect">
            <a:avLst>
              <a:gd name="adj" fmla="val 20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503920" y="196596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0" name="Image 2" descr="/home/claude/css3class/icons/sel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6742" y="2138782"/>
            <a:ext cx="294437" cy="2944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281160" y="19842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align-self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8458200" y="2834640"/>
            <a:ext cx="3063240" cy="640080"/>
          </a:xfrm>
          <a:prstGeom prst="roundRect">
            <a:avLst>
              <a:gd name="adj" fmla="val 8571"/>
            </a:avLst>
          </a:prstGeom>
          <a:solidFill>
            <a:srgbClr val="141A33"/>
          </a:solidFill>
          <a:ln/>
        </p:spPr>
      </p:sp>
      <p:sp>
        <p:nvSpPr>
          <p:cNvPr id="23" name="Text 18"/>
          <p:cNvSpPr/>
          <p:nvPr/>
        </p:nvSpPr>
        <p:spPr>
          <a:xfrm>
            <a:off x="8549640" y="288036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7DEF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align-self: center;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503920" y="370332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Overrides align-items for just this one item.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548640" y="4114800"/>
            <a:ext cx="10881360" cy="1737360"/>
          </a:xfrm>
          <a:prstGeom prst="roundRect">
            <a:avLst>
              <a:gd name="adj" fmla="val 4211"/>
            </a:avLst>
          </a:prstGeom>
          <a:solidFill>
            <a:srgbClr val="E9EDFB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822960" y="4251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three items, middle one has flex-grow: 1;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22960" y="46634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2F3C7E"/>
          </a:solidFill>
          <a:ln/>
        </p:spPr>
      </p:sp>
      <p:sp>
        <p:nvSpPr>
          <p:cNvPr id="28" name="Text 23"/>
          <p:cNvSpPr/>
          <p:nvPr/>
        </p:nvSpPr>
        <p:spPr>
          <a:xfrm>
            <a:off x="822960" y="46634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2423160" y="4663440"/>
            <a:ext cx="5943600" cy="914400"/>
          </a:xfrm>
          <a:prstGeom prst="roundRect">
            <a:avLst>
              <a:gd name="adj" fmla="val 6000"/>
            </a:avLst>
          </a:prstGeom>
          <a:solidFill>
            <a:srgbClr val="F96167"/>
          </a:solidFill>
          <a:ln/>
        </p:spPr>
      </p:sp>
      <p:sp>
        <p:nvSpPr>
          <p:cNvPr id="30" name="Text 25"/>
          <p:cNvSpPr/>
          <p:nvPr/>
        </p:nvSpPr>
        <p:spPr>
          <a:xfrm>
            <a:off x="2423160" y="46634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flex-grow: 1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8686800" y="4663440"/>
            <a:ext cx="1280160" cy="914400"/>
          </a:xfrm>
          <a:prstGeom prst="roundRect">
            <a:avLst>
              <a:gd name="adj" fmla="val 6000"/>
            </a:avLst>
          </a:prstGeom>
          <a:solidFill>
            <a:srgbClr val="2F3C7E"/>
          </a:solidFill>
          <a:ln/>
        </p:spPr>
      </p:sp>
      <p:sp>
        <p:nvSpPr>
          <p:cNvPr id="32" name="Text 27"/>
          <p:cNvSpPr/>
          <p:nvPr/>
        </p:nvSpPr>
        <p:spPr>
          <a:xfrm>
            <a:off x="8686800" y="466344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8 · REAL-WORLD PATTERNS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Flexbox in the Real World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Navbar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4846320" cy="594360"/>
          </a:xfrm>
          <a:prstGeom prst="roundRect">
            <a:avLst>
              <a:gd name="adj" fmla="val 9231"/>
            </a:avLst>
          </a:prstGeom>
          <a:solidFill>
            <a:srgbClr val="2F3C7E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21945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926080" y="21945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6C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2313432"/>
            <a:ext cx="731520" cy="365760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313432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29718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justify-content: space-between;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4592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1783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Card Row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92240" y="219456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2F3C7E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219456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1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92440" y="219456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8092440" y="219456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2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692640" y="2194560"/>
            <a:ext cx="1417320" cy="960120"/>
          </a:xfrm>
          <a:prstGeom prst="roundRect">
            <a:avLst>
              <a:gd name="adj" fmla="val 5714"/>
            </a:avLst>
          </a:prstGeom>
          <a:solidFill>
            <a:srgbClr val="2F3C7E"/>
          </a:solidFill>
          <a:ln/>
        </p:spPr>
      </p:sp>
      <p:sp>
        <p:nvSpPr>
          <p:cNvPr id="19" name="Text 17"/>
          <p:cNvSpPr/>
          <p:nvPr/>
        </p:nvSpPr>
        <p:spPr>
          <a:xfrm>
            <a:off x="9692640" y="2194560"/>
            <a:ext cx="1417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0" y="3291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flex; gap: 20px;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9776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2296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Hero Section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" y="4526280"/>
            <a:ext cx="2651760" cy="1188720"/>
          </a:xfrm>
          <a:prstGeom prst="roundRect">
            <a:avLst>
              <a:gd name="adj" fmla="val 4615"/>
            </a:avLst>
          </a:prstGeom>
          <a:solidFill>
            <a:srgbClr val="2F3C7E"/>
          </a:solidFill>
          <a:ln/>
        </p:spPr>
      </p:sp>
      <p:sp>
        <p:nvSpPr>
          <p:cNvPr id="24" name="Text 22"/>
          <p:cNvSpPr/>
          <p:nvPr/>
        </p:nvSpPr>
        <p:spPr>
          <a:xfrm>
            <a:off x="1005840" y="45262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content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call to action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11880" y="4526280"/>
            <a:ext cx="2057400" cy="1188720"/>
          </a:xfrm>
          <a:prstGeom prst="roundRect">
            <a:avLst>
              <a:gd name="adj" fmla="val 4615"/>
            </a:avLst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4526280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39776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492240" y="4114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Layout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92240" y="4526280"/>
            <a:ext cx="1371600" cy="1188720"/>
          </a:xfrm>
          <a:prstGeom prst="roundRect">
            <a:avLst>
              <a:gd name="adj" fmla="val 4615"/>
            </a:avLst>
          </a:prstGeom>
          <a:solidFill>
            <a:srgbClr val="1B2340"/>
          </a:solidFill>
          <a:ln/>
        </p:spPr>
      </p:sp>
      <p:sp>
        <p:nvSpPr>
          <p:cNvPr id="30" name="Text 28"/>
          <p:cNvSpPr/>
          <p:nvPr/>
        </p:nvSpPr>
        <p:spPr>
          <a:xfrm>
            <a:off x="6492240" y="4526280"/>
            <a:ext cx="1371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01000" y="4526280"/>
            <a:ext cx="3154680" cy="1188720"/>
          </a:xfrm>
          <a:prstGeom prst="roundRect">
            <a:avLst>
              <a:gd name="adj" fmla="val 4615"/>
            </a:avLst>
          </a:prstGeom>
          <a:solidFill>
            <a:srgbClr val="C7CDEB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0" y="452628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9 &amp; 10 · 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Thinking &amp; Professional Practice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BEAEA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Avoid Fixed Widths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width: 1200px;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8E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Prefer Relative Units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3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width: 80%;   ·   rem   ·   vw / vh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60020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Organize CSS Like a Team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Reset */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Variables */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Layout */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Components */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4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Responsive */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Naming Convention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22960" y="452628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1E8E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✅  .student-card, .navbar-menu
</a:t>
            </a:r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❌  .box1, .div2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931920"/>
            <a:ext cx="5394960" cy="2194560"/>
          </a:xfrm>
          <a:prstGeom prst="roundRect">
            <a:avLst>
              <a:gd name="adj" fmla="val 3333"/>
            </a:avLst>
          </a:prstGeom>
          <a:solidFill>
            <a:srgbClr val="E9EDFB"/>
          </a:solidFill>
          <a:ln/>
          <a:effectLst>
            <a:outerShdw sx="100000" sy="100000" kx="0" ky="0" algn="bl" rotWithShape="0" blurRad="101600" dist="25400" dir="5400000">
              <a:srgbClr val="3A3F6A">
                <a:alpha val="1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Like a Pro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492240" y="4498848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8" name="Image 0" descr="/home/claude/css3class/icons/chr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90995" y="4597603"/>
            <a:ext cx="168250" cy="16825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995160" y="44988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DevTools · Inspect Element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92240" y="4956048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1" name="Image 1" descr="/home/claude/css3class/icons/chr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995" y="5054803"/>
            <a:ext cx="168250" cy="16825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95160" y="49560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Model Viewer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492240" y="5413248"/>
            <a:ext cx="365760" cy="3657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4" name="Image 2" descr="/home/claude/css3class/icons/chr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0995" y="5512003"/>
            <a:ext cx="168250" cy="16825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995160" y="541324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Overlay · Live Editing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E7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PRACTICE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Project: Style the Student Portfolio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39496" y="19202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42C55"/>
          </a:solidFill>
          <a:ln/>
        </p:spPr>
      </p:sp>
      <p:sp>
        <p:nvSpPr>
          <p:cNvPr id="5" name="Shape 3"/>
          <p:cNvSpPr/>
          <p:nvPr/>
        </p:nvSpPr>
        <p:spPr>
          <a:xfrm>
            <a:off x="1933956" y="2176272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/home/claude/css3class/icons/ba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1466" y="2373782"/>
            <a:ext cx="336499" cy="3364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6656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Bar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34256" y="19202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42C55"/>
          </a:solidFill>
          <a:ln/>
        </p:spPr>
      </p:sp>
      <p:sp>
        <p:nvSpPr>
          <p:cNvPr id="9" name="Shape 6"/>
          <p:cNvSpPr/>
          <p:nvPr/>
        </p:nvSpPr>
        <p:spPr>
          <a:xfrm>
            <a:off x="5728716" y="2176272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0" name="Image 1" descr="/home/claude/css3class/icons/column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6226" y="2373782"/>
            <a:ext cx="336499" cy="33649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471416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Hero Section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29016" y="192024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42C55"/>
          </a:solidFill>
          <a:ln/>
        </p:spPr>
      </p:sp>
      <p:sp>
        <p:nvSpPr>
          <p:cNvPr id="13" name="Shape 9"/>
          <p:cNvSpPr/>
          <p:nvPr/>
        </p:nvSpPr>
        <p:spPr>
          <a:xfrm>
            <a:off x="9523476" y="2176272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4" name="Image 2" descr="/home/claude/css3class/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0986" y="2373782"/>
            <a:ext cx="336499" cy="33649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266176" y="30632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Cards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39496" y="39319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42C55"/>
          </a:solidFill>
          <a:ln/>
        </p:spPr>
      </p:sp>
      <p:sp>
        <p:nvSpPr>
          <p:cNvPr id="17" name="Shape 12"/>
          <p:cNvSpPr/>
          <p:nvPr/>
        </p:nvSpPr>
        <p:spPr>
          <a:xfrm>
            <a:off x="1933956" y="4187952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8" name="Image 3" descr="/home/claude/css3class/icons/layou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1466" y="4385462"/>
            <a:ext cx="336499" cy="33649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6656" y="5074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Cards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34256" y="39319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42C55"/>
          </a:solidFill>
          <a:ln/>
        </p:spPr>
      </p:sp>
      <p:sp>
        <p:nvSpPr>
          <p:cNvPr id="21" name="Shape 15"/>
          <p:cNvSpPr/>
          <p:nvPr/>
        </p:nvSpPr>
        <p:spPr>
          <a:xfrm>
            <a:off x="5728716" y="4187952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2" name="Image 4" descr="/home/claude/css3class/icons/envelo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6226" y="4385462"/>
            <a:ext cx="336499" cy="33649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471416" y="5074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Form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8129016" y="393192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242C55"/>
          </a:solidFill>
          <a:ln/>
        </p:spPr>
      </p:sp>
      <p:sp>
        <p:nvSpPr>
          <p:cNvPr id="25" name="Shape 18"/>
          <p:cNvSpPr/>
          <p:nvPr/>
        </p:nvSpPr>
        <p:spPr>
          <a:xfrm>
            <a:off x="9523476" y="4187952"/>
            <a:ext cx="731520" cy="7315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6" name="Image 5" descr="/home/claude/css3class/icons/window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0986" y="4385462"/>
            <a:ext cx="336499" cy="33649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266176" y="50749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8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42C55"/>
          </a:solidFill>
          <a:ln/>
        </p:spPr>
      </p:sp>
      <p:sp>
        <p:nvSpPr>
          <p:cNvPr id="3" name="Shape 1"/>
          <p:cNvSpPr/>
          <p:nvPr/>
        </p:nvSpPr>
        <p:spPr>
          <a:xfrm>
            <a:off x="5591556" y="146304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4" name="Image 0" descr="/home/claude/css3class/icons/gr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63133" y="1734617"/>
            <a:ext cx="462686" cy="46268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7432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371600" y="370332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AA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discuss — then start styling your Student Portfolio Page.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22  ·  CSS3 Fundamentals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2026-07-22T03:56:49Z</dcterms:created>
  <dcterms:modified xsi:type="dcterms:W3CDTF">2026-07-22T03:56:49Z</dcterms:modified>
</cp:coreProperties>
</file>