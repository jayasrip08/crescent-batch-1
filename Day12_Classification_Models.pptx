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331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B558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DATA ANALYTICS INTERNSHIP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 •   K-Nearest Neighbors (KNN)   •   Decision Tree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943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512064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Classification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23360" y="512064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2"/>
          <p:cNvSpPr/>
          <p:nvPr/>
        </p:nvSpPr>
        <p:spPr>
          <a:xfrm>
            <a:off x="42519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452360" y="512064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4"/>
          <p:cNvSpPr/>
          <p:nvPr/>
        </p:nvSpPr>
        <p:spPr>
          <a:xfrm>
            <a:off x="76809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94360" y="553212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023360" y="553212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18"/>
          <p:cNvSpPr/>
          <p:nvPr/>
        </p:nvSpPr>
        <p:spPr>
          <a:xfrm>
            <a:off x="42519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452360" y="553212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0"/>
          <p:cNvSpPr/>
          <p:nvPr/>
        </p:nvSpPr>
        <p:spPr>
          <a:xfrm>
            <a:off x="76809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today's session, students will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66544"/>
            <a:ext cx="493776" cy="49377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2194926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391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Classification problems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63040" y="23500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and where they show up in real life.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907792"/>
            <a:ext cx="493776" cy="49377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3036174"/>
            <a:ext cx="237012" cy="237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880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Classification vs Regression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463040" y="319125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predict a category vs. a number.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4845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749040"/>
            <a:ext cx="493776" cy="49377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877422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7216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core models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463040" y="40325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KNN, and Decision Tree from scratch.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489704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590288"/>
            <a:ext cx="493776" cy="49377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4718670"/>
            <a:ext cx="237012" cy="2370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562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new data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463040" y="48737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trained model to an unseen example.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33095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26" name="Shape 20"/>
          <p:cNvSpPr/>
          <p:nvPr/>
        </p:nvSpPr>
        <p:spPr>
          <a:xfrm>
            <a:off x="749808" y="5431536"/>
            <a:ext cx="493776" cy="49377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90" y="5559918"/>
            <a:ext cx="237012" cy="237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54041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classifiers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463040" y="5715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which model fits which kind of problem.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Classification?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a Machine Learning technique used to predict categories or classes — not numbers.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36208" y="1965960"/>
            <a:ext cx="502920" cy="5029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67" y="20967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36208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36208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 Spam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82396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025128" y="1965960"/>
            <a:ext cx="502920" cy="5029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887" y="20967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25128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025128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32004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6208" y="3383280"/>
            <a:ext cx="502920" cy="5029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967" y="351403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36208" y="4187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823960" y="32004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25128" y="3383280"/>
            <a:ext cx="502920" cy="5029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887" y="35140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25128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025128" y="4187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297180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21295C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22960" y="3474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answers: </a:t>
            </a: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group does this belong to?”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22960" y="4297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outputs a label — a category — never a continuous number like price or marks.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vs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0B558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17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5544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16852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417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8640" y="233172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233172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Categories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355080" y="233172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15" name="Text 11"/>
          <p:cNvSpPr/>
          <p:nvPr/>
        </p:nvSpPr>
        <p:spPr>
          <a:xfrm>
            <a:off x="6629400" y="233172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Numbers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31089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355080" y="310896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31089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388620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38862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355080" y="388620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38862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48640" y="466344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46634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 Spam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6355080" y="466344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F0F6F9"/>
          </a:solidFill>
          <a:ln/>
        </p:spPr>
      </p:sp>
      <p:sp>
        <p:nvSpPr>
          <p:cNvPr id="27" name="Text 23"/>
          <p:cNvSpPr/>
          <p:nvPr/>
        </p:nvSpPr>
        <p:spPr>
          <a:xfrm>
            <a:off x="6629400" y="46634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5870448" y="23317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5"/>
          <p:cNvSpPr/>
          <p:nvPr/>
        </p:nvSpPr>
        <p:spPr>
          <a:xfrm>
            <a:off x="58704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7755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11" y="318796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73798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56678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5793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949" y="3187964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02398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202398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81835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764715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93830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986" y="3187964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10435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810435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89873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372753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01868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024" y="3187964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8473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Classifier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18473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97911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6980791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09906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62" y="3187964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26511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026511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405949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8588829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017943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100" y="3187964"/>
            <a:ext cx="280904" cy="28090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34549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634549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0013986" y="341071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2"/>
          <p:cNvSpPr/>
          <p:nvPr/>
        </p:nvSpPr>
        <p:spPr>
          <a:xfrm>
            <a:off x="10196866" y="2834640"/>
            <a:ext cx="1443446" cy="1554480"/>
          </a:xfrm>
          <a:prstGeom prst="roundRect">
            <a:avLst>
              <a:gd name="adj" fmla="val 5068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625981" y="30358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8137" y="3187964"/>
            <a:ext cx="280904" cy="28090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242586" y="3749040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10242586" y="2450592"/>
            <a:ext cx="1352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0F6F9"/>
          </a:solidFill>
          <a:ln/>
        </p:spPr>
      </p:sp>
      <p:sp>
        <p:nvSpPr>
          <p:cNvPr id="46" name="Text 37"/>
          <p:cNvSpPr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project follows this same pipeline — from raw data to an evaluated, working model.</a:t>
            </a:r>
            <a:endParaRPr lang="en-US" sz="1450" dirty="0"/>
          </a:p>
        </p:txBody>
      </p:sp>
      <p:sp>
        <p:nvSpPr>
          <p:cNvPr id="47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 possible classes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8346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026664"/>
            <a:ext cx="182880" cy="182880"/>
          </a:xfrm>
          <a:prstGeom prst="ellipse">
            <a:avLst/>
          </a:prstGeom>
          <a:solidFill>
            <a:srgbClr val="0B5583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2834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" y="361188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51560" y="3803904"/>
            <a:ext cx="182880" cy="182880"/>
          </a:xfrm>
          <a:prstGeom prst="ellipse">
            <a:avLst/>
          </a:prstGeom>
          <a:solidFill>
            <a:srgbClr val="0B5583"/>
          </a:solidFill>
          <a:ln/>
        </p:spPr>
      </p:sp>
      <p:sp>
        <p:nvSpPr>
          <p:cNvPr id="14" name="Text 11"/>
          <p:cNvSpPr/>
          <p:nvPr/>
        </p:nvSpPr>
        <p:spPr>
          <a:xfrm>
            <a:off x="1417320" y="3611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438912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051560" y="4581144"/>
            <a:ext cx="182880" cy="182880"/>
          </a:xfrm>
          <a:prstGeom prst="ellipse">
            <a:avLst/>
          </a:prstGeom>
          <a:solidFill>
            <a:srgbClr val="0B5583"/>
          </a:solidFill>
          <a:ln/>
        </p:spPr>
      </p:sp>
      <p:sp>
        <p:nvSpPr>
          <p:cNvPr id="17" name="Text 14"/>
          <p:cNvSpPr/>
          <p:nvPr/>
        </p:nvSpPr>
        <p:spPr>
          <a:xfrm>
            <a:off x="1417320" y="43891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/ No Cancer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14630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1783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1973275"/>
            <a:ext cx="351130" cy="3511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895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 Classification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589520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 more possible classes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675120" y="28346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0" y="302666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7223760" y="2834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/ B / C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675120" y="361188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6858000" y="380390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7223760" y="3611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Classification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675120" y="438912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6858000" y="458114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/>
          <p:nvPr/>
        </p:nvSpPr>
        <p:spPr>
          <a:xfrm>
            <a:off x="7223760" y="43891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Classification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algorithm used for binary classification — it estimates the probability an input belongs to a class.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0F6F9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136392"/>
            <a:ext cx="402336" cy="40233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7" y="3240999"/>
            <a:ext cx="193121" cy="1931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063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0F6F9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3822192"/>
            <a:ext cx="402336" cy="40233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3926799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749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0F6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" y="4507992"/>
            <a:ext cx="402336" cy="402336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07" y="461259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434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09360" y="30632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E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200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309360" y="37490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E9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8862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4944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309360" y="44348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E9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57200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4434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binary problems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627632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62763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model.predict(X_test)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print(prediction)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 lines to train: create the model, fit it, and predict.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57784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417320"/>
            <a:ext cx="5166360" cy="4617720"/>
          </a:xfrm>
          <a:prstGeom prst="roundRect">
            <a:avLst>
              <a:gd name="adj" fmla="val 2376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208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= 5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= 80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208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model.predict() ↓</a:t>
            </a:r>
            <a:endParaRPr lang="en-US" sz="1300" dirty="0"/>
          </a:p>
        </p:txBody>
      </p:sp>
      <p:sp>
        <p:nvSpPr>
          <p:cNvPr id="5" name="Shape 7"/>
          <p:cNvSpPr/>
          <p:nvPr/>
        </p:nvSpPr>
        <p:spPr>
          <a:xfrm>
            <a:off x="6720840" y="347472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2F9E44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36576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20840" y="39319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✓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study hours and higher attendance, the model predicts a higher chance of passing.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KNN?  </a:t>
            </a: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predicts the class of a new point based on the classes of its nearest neighbors.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306324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2296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691640" y="3429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“Look at the nearest data points and assign the majority class.”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asking your closest friends what they'd choose — you go with the majority answer.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KNN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178" cy="4023360"/>
          </a:xfrm>
          <a:prstGeom prst="roundRect">
            <a:avLst>
              <a:gd name="adj" fmla="val 3562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6469" y="2011680"/>
            <a:ext cx="731520" cy="7315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664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21099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we want to classify appears.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70098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90138" y="1691640"/>
            <a:ext cx="2567178" cy="4023360"/>
          </a:xfrm>
          <a:prstGeom prst="roundRect">
            <a:avLst>
              <a:gd name="adj" fmla="val 3562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967" y="2011680"/>
            <a:ext cx="731520" cy="7315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62" y="22018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7298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73018" y="29718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5 nearest students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18738" y="3566160"/>
            <a:ext cx="21099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to every known student; pick the closest 5.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11596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31636" y="1691640"/>
            <a:ext cx="2567178" cy="4023360"/>
          </a:xfrm>
          <a:prstGeom prst="roundRect">
            <a:avLst>
              <a:gd name="adj" fmla="val 3562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49465" y="2011680"/>
            <a:ext cx="731520" cy="73152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660" y="22018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68796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14516" y="29718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= Pass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60236" y="3566160"/>
            <a:ext cx="21099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those 5 neighbors, most already “Passed”.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53094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73134" y="1691640"/>
            <a:ext cx="2567178" cy="4023360"/>
          </a:xfrm>
          <a:prstGeom prst="roundRect">
            <a:avLst>
              <a:gd name="adj" fmla="val 3562"/>
            </a:avLst>
          </a:prstGeom>
          <a:solidFill>
            <a:srgbClr val="F0F6F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90963" y="2011680"/>
            <a:ext cx="731520" cy="73152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158" y="2201875"/>
            <a:ext cx="351130" cy="35113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10294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56014" y="29718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Pass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301734" y="3566160"/>
            <a:ext cx="21099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student is assigned the majority class.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—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627632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62763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KNeighborsClassifier(n_neighbors=3)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model.predict(X_test)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print(prediction)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n_neighbors=3 means KNN looks at the 3 closest points to decide the class.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IT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Advantages &amp; Disadvantages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AF2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6060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523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06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338328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958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3832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complexity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68680" y="416052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068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160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small datasets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355080" y="14630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BEEE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75120" y="173736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191566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438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6675120" y="26060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52344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2606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for large datasets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675120" y="338328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29584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69480" y="33832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feature scaling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 </a:t>
            </a: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predicts using a series of simple if-else conditions.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310896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&gt; 75?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34924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41605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80560" y="4160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&gt; 5?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760720" y="3611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607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80560" y="521208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2F9E4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48056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—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627632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62763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DecisionTreeClassifier()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model.predict(X_test)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print(prediction)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every time: create, fit, predict — only the model class changes.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—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&gt; 80?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Yes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0B558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&gt; 70?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Yes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2F9E4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0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top question: is Attendance above 80%?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check the next question: is Assignment above 70?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branch that matches, down to a final label: Pass or Fail.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Models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Understand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“best” model — the right choice depends on your data size, need for speed, and how interpretable the result must be.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Dataset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DATASET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577840" cy="1554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416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57200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817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4572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521208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2180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5212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48640" y="5943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three on the same data, then compare their predictions side by side.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55080" y="1417320"/>
            <a:ext cx="5257800" cy="5029200"/>
          </a:xfrm>
          <a:prstGeom prst="roundRect">
            <a:avLst>
              <a:gd name="adj" fmla="val 1818"/>
            </a:avLst>
          </a:prstGeom>
          <a:solidFill>
            <a:srgbClr val="0D1B2A"/>
          </a:solidFill>
          <a:ln/>
        </p:spPr>
      </p:sp>
      <p:sp>
        <p:nvSpPr>
          <p:cNvPr id="18" name="Shape 12"/>
          <p:cNvSpPr/>
          <p:nvPr/>
        </p:nvSpPr>
        <p:spPr>
          <a:xfrm>
            <a:off x="6629400" y="1600200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Shape 13"/>
          <p:cNvSpPr/>
          <p:nvPr/>
        </p:nvSpPr>
        <p:spPr>
          <a:xfrm>
            <a:off x="6867144" y="1600200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0" name="Shape 14"/>
          <p:cNvSpPr/>
          <p:nvPr/>
        </p:nvSpPr>
        <p:spPr>
          <a:xfrm>
            <a:off x="7104888" y="160020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5"/>
          <p:cNvSpPr/>
          <p:nvPr/>
        </p:nvSpPr>
        <p:spPr>
          <a:xfrm>
            <a:off x="6537960" y="1874520"/>
            <a:ext cx="48920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pd.read_csv('students.csv')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df[['Hours','Attendance','Assignment']]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df['Pass']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train_test_split(X, y, test_size=0.2,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random_state=42)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DecisionTreeClassifier()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print(model.predict(X_test))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&amp; Interview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B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227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Dataset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94106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8496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 Feature Selection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68680" y="456285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471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Mismatch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" y="518464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5093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 random_state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55080" y="14630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0F6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0B558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1903781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6294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086600" y="24688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Classification?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629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086600" y="2971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Classification and Regression?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629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7086600" y="3474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Logistic Regression?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29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086600" y="3977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KNN work?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629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086600" y="4480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Decision Tree?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6294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7086600" y="49834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classifier is best for binary classification?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/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816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558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07" y="303398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8163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82663" indent="-534988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I WILL POST IN YOUR WHATSAPP GROUP</a:t>
            </a:r>
          </a:p>
        </p:txBody>
      </p:sp>
      <p:sp>
        <p:nvSpPr>
          <p:cNvPr id="18" name="Text 15"/>
          <p:cNvSpPr/>
          <p:nvPr/>
        </p:nvSpPr>
        <p:spPr>
          <a:xfrm>
            <a:off x="73152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5385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31520" y="4878324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2B13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51476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371600" y="48783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Submit before 4:30 PM @Today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B558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23829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20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Multi-Class Classification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002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337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355080" y="33375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18" name="Shape 13"/>
          <p:cNvSpPr/>
          <p:nvPr/>
        </p:nvSpPr>
        <p:spPr>
          <a:xfrm>
            <a:off x="6583680" y="365760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380024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3337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7548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21756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7548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355080" y="47548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26" name="Shape 19"/>
          <p:cNvSpPr/>
          <p:nvPr/>
        </p:nvSpPr>
        <p:spPr>
          <a:xfrm>
            <a:off x="6583680" y="507492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52175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15200" y="47548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67512" y="272491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  <p:txBody>
          <a:bodyPr/>
          <a:lstStyle/>
          <a:p>
            <a:pPr marL="447675" algn="ctr"/>
            <a:r>
              <a:rPr lang="en-IN" sz="32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18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Classification Models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1358</Words>
  <Application>Microsoft Office PowerPoint</Application>
  <PresentationFormat>Widescreen</PresentationFormat>
  <Paragraphs>369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12 - Classification Models</dc:title>
  <dc:subject>PptxGenJS Presentation</dc:subject>
  <dc:creator>Data Analytics Internship</dc:creator>
  <cp:lastModifiedBy>VENKATESH .K</cp:lastModifiedBy>
  <cp:revision>2</cp:revision>
  <dcterms:created xsi:type="dcterms:W3CDTF">2026-07-08T06:08:43Z</dcterms:created>
  <dcterms:modified xsi:type="dcterms:W3CDTF">2026-07-09T16:51:40Z</dcterms:modified>
</cp:coreProperties>
</file>