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5" r:id="rId9"/>
    <p:sldId id="261" r:id="rId10"/>
    <p:sldId id="264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43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41196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Self-study asset. GradeVault Analytics is a brand new project extending Day 4's GradeVault, distinct from Day 3's CampusLib.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114800" cy="4114800"/>
          </a:xfrm>
          <a:prstGeom prst="ellipse">
            <a:avLst/>
          </a:prstGeom>
          <a:solidFill>
            <a:srgbClr val="4950BC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-1280160" y="4206240"/>
            <a:ext cx="3840480" cy="3840480"/>
          </a:xfrm>
          <a:prstGeom prst="ellipse">
            <a:avLst/>
          </a:prstGeom>
          <a:solidFill>
            <a:srgbClr val="E8912B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685800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6B6FD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9144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DAD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Basics — From Data to Real Computation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3611880"/>
            <a:ext cx="8503920" cy="502920"/>
          </a:xfrm>
          <a:prstGeom prst="roundRect">
            <a:avLst>
              <a:gd name="adj" fmla="val 14545"/>
            </a:avLst>
          </a:prstGeom>
          <a:solidFill>
            <a:srgbClr val="4950B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3611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Today's build: FitTrack Analytics — a brand-new NumPy weekly report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297680"/>
            <a:ext cx="7498080" cy="777240"/>
          </a:xfrm>
          <a:prstGeom prst="roundRect">
            <a:avLst>
              <a:gd name="adj" fmla="val 9412"/>
            </a:avLst>
          </a:prstGeom>
          <a:solidFill>
            <a:srgbClr val="342E6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22960" y="429768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🏫  No live class today — Work through this deck + README at your own pace.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59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Stack AI Developer Program · Innolift Ventures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377440" cy="347472"/>
          </a:xfrm>
          <a:prstGeom prst="roundRect">
            <a:avLst>
              <a:gd name="adj" fmla="val 21053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95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+ TODAY'S 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Organizing Data to Computing On It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1–4 recap: variables, control flow, functions, modules, file I/O, lists, tuples, dicts, sets.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502920" cy="502920"/>
          </a:xfrm>
          <a:prstGeom prst="ellipse">
            <a:avLst/>
          </a:prstGeom>
          <a:solidFill>
            <a:srgbClr val="FCEED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dirty="0">
                <a:solidFill>
                  <a:srgbClr val="000000"/>
                </a:solidFill>
              </a:rPr>
              <a:t>🔢</a:t>
            </a:r>
            <a:endParaRPr lang="en-US" sz="1430" dirty="0"/>
          </a:p>
        </p:txBody>
      </p:sp>
      <p:sp>
        <p:nvSpPr>
          <p:cNvPr id="8" name="Text 6"/>
          <p:cNvSpPr/>
          <p:nvPr/>
        </p:nvSpPr>
        <p:spPr>
          <a:xfrm>
            <a:off x="1280160" y="22585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Arrays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0" y="230428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numerical data type almost every AI framework is built on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999232"/>
            <a:ext cx="502920" cy="502920"/>
          </a:xfrm>
          <a:prstGeom prst="ellipse">
            <a:avLst/>
          </a:prstGeom>
          <a:solidFill>
            <a:srgbClr val="DADBF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48640" y="2999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dirty="0">
                <a:solidFill>
                  <a:srgbClr val="000000"/>
                </a:solidFill>
              </a:rPr>
              <a:t>🎯</a:t>
            </a:r>
            <a:endParaRPr lang="en-US" sz="1430" dirty="0"/>
          </a:p>
        </p:txBody>
      </p:sp>
      <p:sp>
        <p:nvSpPr>
          <p:cNvPr id="12" name="Text 10"/>
          <p:cNvSpPr/>
          <p:nvPr/>
        </p:nvSpPr>
        <p:spPr>
          <a:xfrm>
            <a:off x="1280160" y="2971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Indexing &amp; Slicing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0" y="30175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 as list indexing — now built for speed and scale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712464"/>
            <a:ext cx="502920" cy="502920"/>
          </a:xfrm>
          <a:prstGeom prst="ellipse">
            <a:avLst/>
          </a:prstGeom>
          <a:solidFill>
            <a:srgbClr val="FCEED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8640" y="37124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dirty="0">
                <a:solidFill>
                  <a:srgbClr val="000000"/>
                </a:solidFill>
              </a:rPr>
              <a:t>⚡</a:t>
            </a:r>
            <a:endParaRPr lang="en-US" sz="1430" dirty="0"/>
          </a:p>
        </p:txBody>
      </p:sp>
      <p:sp>
        <p:nvSpPr>
          <p:cNvPr id="16" name="Text 14"/>
          <p:cNvSpPr/>
          <p:nvPr/>
        </p:nvSpPr>
        <p:spPr>
          <a:xfrm>
            <a:off x="1280160" y="36850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Vectorized Operations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029200" y="373075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one operation to a whole array at once, no loop needed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425696"/>
            <a:ext cx="502920" cy="502920"/>
          </a:xfrm>
          <a:prstGeom prst="ellipse">
            <a:avLst/>
          </a:prstGeom>
          <a:solidFill>
            <a:srgbClr val="DADBF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48640" y="44256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dirty="0">
                <a:solidFill>
                  <a:srgbClr val="000000"/>
                </a:solidFill>
              </a:rPr>
              <a:t>📈</a:t>
            </a:r>
            <a:endParaRPr lang="en-US" sz="1430" dirty="0"/>
          </a:p>
        </p:txBody>
      </p:sp>
      <p:sp>
        <p:nvSpPr>
          <p:cNvPr id="20" name="Text 18"/>
          <p:cNvSpPr/>
          <p:nvPr/>
        </p:nvSpPr>
        <p:spPr>
          <a:xfrm>
            <a:off x="1280160" y="439826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&amp; Normalization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029200" y="4443984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mean, max, min — and the 0–1 scaling trick used in real ML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5138928"/>
            <a:ext cx="502920" cy="502920"/>
          </a:xfrm>
          <a:prstGeom prst="ellipse">
            <a:avLst/>
          </a:prstGeom>
          <a:solidFill>
            <a:srgbClr val="FCEED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48640" y="51389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dirty="0">
                <a:solidFill>
                  <a:srgbClr val="000000"/>
                </a:solidFill>
              </a:rPr>
              <a:t>🎓</a:t>
            </a:r>
            <a:endParaRPr lang="en-US" sz="1430" dirty="0"/>
          </a:p>
        </p:txBody>
      </p:sp>
      <p:sp>
        <p:nvSpPr>
          <p:cNvPr id="24" name="Text 22"/>
          <p:cNvSpPr/>
          <p:nvPr/>
        </p:nvSpPr>
        <p:spPr>
          <a:xfrm>
            <a:off x="1280160" y="51114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FitTrack Analytics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029200" y="5157216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brand-new weekly fitness report built from your own step-count log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FA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INNOLIFT VENTURES  ·  FULL STACK AI DEVELOPER PROGRAM  ·  PHASE 01 · DAY 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377440" cy="347472"/>
          </a:xfrm>
          <a:prstGeom prst="roundRect">
            <a:avLst>
              <a:gd name="adj" fmla="val 21053"/>
            </a:avLst>
          </a:prstGeom>
          <a:solidFill>
            <a:srgbClr val="FCEED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HOOK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NumPy Is the Real Starting Line for AI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organized your data. Today, your data gets computed on — fast.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22960" y="219456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2296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dirty="0">
                <a:solidFill>
                  <a:srgbClr val="000000"/>
                </a:solidFill>
              </a:rPr>
              <a:t>🤖</a:t>
            </a:r>
            <a:endParaRPr lang="en-US" sz="1430" dirty="0"/>
          </a:p>
        </p:txBody>
      </p:sp>
      <p:sp>
        <p:nvSpPr>
          <p:cNvPr id="9" name="Text 7"/>
          <p:cNvSpPr/>
          <p:nvPr/>
        </p:nvSpPr>
        <p:spPr>
          <a:xfrm>
            <a:off x="1508760" y="217627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ML framework sits on it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78892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PyTorch, TensorFlow, and scikit-learn all use NumPy-style arrays underneath.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80760" y="192024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355080" y="219456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35508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dirty="0">
                <a:solidFill>
                  <a:srgbClr val="000000"/>
                </a:solidFill>
              </a:rPr>
              <a:t>⚡</a:t>
            </a:r>
            <a:endParaRPr lang="en-US" sz="1430" dirty="0"/>
          </a:p>
        </p:txBody>
      </p:sp>
      <p:sp>
        <p:nvSpPr>
          <p:cNvPr id="14" name="Text 12"/>
          <p:cNvSpPr/>
          <p:nvPr/>
        </p:nvSpPr>
        <p:spPr>
          <a:xfrm>
            <a:off x="7040880" y="217627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10–100x faster than loops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55080" y="278892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Vectorized operations crunch huge datasets in a fraction of the time plain Python takes.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822960" y="42976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822960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dirty="0">
                <a:solidFill>
                  <a:srgbClr val="000000"/>
                </a:solidFill>
              </a:rPr>
              <a:t>📉</a:t>
            </a:r>
            <a:endParaRPr lang="en-US" sz="1430" dirty="0"/>
          </a:p>
        </p:txBody>
      </p:sp>
      <p:sp>
        <p:nvSpPr>
          <p:cNvPr id="19" name="Text 17"/>
          <p:cNvSpPr/>
          <p:nvPr/>
        </p:nvSpPr>
        <p:spPr>
          <a:xfrm>
            <a:off x="1508760" y="427939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Normalization is real ML prep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89204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values to 0–1 is a genuine preprocessing step you'll reuse on real datasets.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080760" y="40233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6355080" y="42976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355080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dirty="0">
                <a:solidFill>
                  <a:srgbClr val="000000"/>
                </a:solidFill>
              </a:rPr>
              <a:t>🎓</a:t>
            </a:r>
            <a:endParaRPr lang="en-US" sz="1430" dirty="0"/>
          </a:p>
        </p:txBody>
      </p:sp>
      <p:sp>
        <p:nvSpPr>
          <p:cNvPr id="24" name="Text 22"/>
          <p:cNvSpPr/>
          <p:nvPr/>
        </p:nvSpPr>
        <p:spPr>
          <a:xfrm>
            <a:off x="7040880" y="427939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gets a real report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355080" y="489204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 of step counts stops being just numbers — today it becomes a ranked, normalized report.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FA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INNOLIFT VENTURES  ·  FULL STACK AI DEVELOPER PROGRAM  ·  PHASE 01 · DAY 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377440" cy="347472"/>
          </a:xfrm>
          <a:prstGeom prst="roundRect">
            <a:avLst>
              <a:gd name="adj" fmla="val 21053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95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NumPy, and Creating Arrays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data type built for fast, large-scale number crunching.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11091672" cy="2560320"/>
          </a:xfrm>
          <a:prstGeom prst="roundRect">
            <a:avLst>
              <a:gd name="adj" fmla="val 2143"/>
            </a:avLst>
          </a:prstGeom>
          <a:solidFill>
            <a:srgbClr val="1E1E2E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13232" y="2295144"/>
            <a:ext cx="109728" cy="109728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914400" y="2295144"/>
            <a:ext cx="109728" cy="109728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5568" y="2295144"/>
            <a:ext cx="109728" cy="109728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2532888"/>
            <a:ext cx="10543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7FB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numpy as np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960" y="2779776"/>
            <a:ext cx="10543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" y="3026664"/>
            <a:ext cx="10543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4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np.array([82, 58, 30, 91, 67])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22960" y="3273552"/>
            <a:ext cx="10543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4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print(scores)      </a:t>
            </a:r>
            <a:r>
              <a:rPr lang="en-US" sz="1350" dirty="0">
                <a:solidFill>
                  <a:srgbClr val="8A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[82 58 30 91 67]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2960" y="3520440"/>
            <a:ext cx="10543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4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print(type(scores))</a:t>
            </a:r>
            <a:r>
              <a:rPr lang="en-US" sz="1350" dirty="0">
                <a:solidFill>
                  <a:srgbClr val="8A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&lt;class 'numpy.ndarray'&gt;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2960" y="3767328"/>
            <a:ext cx="10543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2960" y="4014216"/>
            <a:ext cx="10543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4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zeros = np.zeros(5)      </a:t>
            </a:r>
            <a:r>
              <a:rPr lang="en-US" sz="1350" dirty="0">
                <a:solidFill>
                  <a:srgbClr val="8A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array([0.,0.,0.,0.,0.])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22960" y="4261104"/>
            <a:ext cx="10543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4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counted = np.arange(0, 10, 2)  </a:t>
            </a:r>
            <a:r>
              <a:rPr lang="en-US" sz="1350" dirty="0">
                <a:solidFill>
                  <a:srgbClr val="8A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[0 2 4 6 8]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4983480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22960" y="4983480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 </a:t>
            </a: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numpy, then import numpy as np — “np” is the universal shorthand everyone uses.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FA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INNOLIFT VENTURES  ·  FULL STACK AI DEVELOPER PROGRAM  ·  PHASE 01 · DAY 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377440" cy="347472"/>
          </a:xfrm>
          <a:prstGeom prst="roundRect">
            <a:avLst>
              <a:gd name="adj" fmla="val 21053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95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CONTINUED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Indexing &amp; Slicing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 as list indexing you already know — plus row/column access for 2D data.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11091672" cy="2743200"/>
          </a:xfrm>
          <a:prstGeom prst="roundRect">
            <a:avLst>
              <a:gd name="adj" fmla="val 2000"/>
            </a:avLst>
          </a:prstGeom>
          <a:solidFill>
            <a:srgbClr val="1E1E2E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13232" y="2295144"/>
            <a:ext cx="109728" cy="109728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914400" y="2295144"/>
            <a:ext cx="109728" cy="109728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5568" y="2295144"/>
            <a:ext cx="109728" cy="109728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253288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4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np.array([82, 58, 30, 91, 67])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960" y="280720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4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print(scores[0])    </a:t>
            </a:r>
            <a:r>
              <a:rPr lang="en-US" sz="1350" dirty="0">
                <a:solidFill>
                  <a:srgbClr val="8A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82 -&gt; first student's score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" y="308152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4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print(scores[1:3])  </a:t>
            </a:r>
            <a:r>
              <a:rPr lang="en-US" sz="1350" dirty="0">
                <a:solidFill>
                  <a:srgbClr val="8A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[58 30]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22960" y="335584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4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print(scores[-1])   </a:t>
            </a:r>
            <a:r>
              <a:rPr lang="en-US" sz="1350" dirty="0">
                <a:solidFill>
                  <a:srgbClr val="8A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67 -&gt; last item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2960" y="363016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2960" y="390448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4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scores_2d = np.array([[82, 58], [30, 91]])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2960" y="417880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4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print(scores_2d[0, 1])     </a:t>
            </a:r>
            <a:r>
              <a:rPr lang="en-US" sz="1350" dirty="0">
                <a:solidFill>
                  <a:srgbClr val="8A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58 -&gt; row 0, col 1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22960" y="445312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4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print(scores_2d.shape)     </a:t>
            </a:r>
            <a:r>
              <a:rPr lang="en-US" sz="1350" dirty="0">
                <a:solidFill>
                  <a:srgbClr val="8A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(2, 2)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FA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INNOLIFT VENTURES  ·  FULL STACK AI DEVELOPER PROGRAM  ·  PHASE 01 · DAY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377440" cy="347472"/>
          </a:xfrm>
          <a:prstGeom prst="roundRect">
            <a:avLst>
              <a:gd name="adj" fmla="val 21053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95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Vectorized Operations — the Whole Point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operation, applied to every element at once. No loop required.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11091672" cy="2377440"/>
          </a:xfrm>
          <a:prstGeom prst="roundRect">
            <a:avLst>
              <a:gd name="adj" fmla="val 2308"/>
            </a:avLst>
          </a:prstGeom>
          <a:solidFill>
            <a:srgbClr val="1E1E2E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13232" y="2295144"/>
            <a:ext cx="109728" cy="109728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914400" y="2295144"/>
            <a:ext cx="109728" cy="109728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5568" y="2295144"/>
            <a:ext cx="109728" cy="109728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2532888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4E4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np.array([82, 58, 30, 91, 67])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898648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3264408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4E4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print(scores + 5)   </a:t>
            </a:r>
            <a:r>
              <a:rPr lang="en-US" sz="1400" dirty="0">
                <a:solidFill>
                  <a:srgbClr val="8A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add 5 bonus marks, no loop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3630168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4E4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print(scores * 2)   </a:t>
            </a:r>
            <a:r>
              <a:rPr lang="en-US" sz="1400" dirty="0">
                <a:solidFill>
                  <a:srgbClr val="8A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double every score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11091672" cy="128016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22960" y="475488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 plain Python:  </a:t>
            </a: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[s + 5 for s in scores_list] — works, but needs a full loop just to add 5 to everything.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FA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INNOLIFT VENTURES  ·  FULL STACK AI DEVELOPER PROGRAM  ·  PHASE 01 · DAY 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377440" cy="347472"/>
          </a:xfrm>
          <a:prstGeom prst="roundRect">
            <a:avLst>
              <a:gd name="adj" fmla="val 21053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95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CONTINUED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&amp; Boolean Masking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methods for summary stats, plus filtering with a condition.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11091672" cy="2834640"/>
          </a:xfrm>
          <a:prstGeom prst="roundRect">
            <a:avLst>
              <a:gd name="adj" fmla="val 1935"/>
            </a:avLst>
          </a:prstGeom>
          <a:solidFill>
            <a:srgbClr val="1E1E2E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13232" y="2295144"/>
            <a:ext cx="109728" cy="109728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914400" y="2295144"/>
            <a:ext cx="109728" cy="109728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5568" y="2295144"/>
            <a:ext cx="109728" cy="109728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2532888"/>
            <a:ext cx="10543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4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np.array([82, 58, 30, 91, 67])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960" y="2825496"/>
            <a:ext cx="10543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" y="3118104"/>
            <a:ext cx="10543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4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print(scores.mean())  </a:t>
            </a:r>
            <a:r>
              <a:rPr lang="en-US" sz="1350" dirty="0">
                <a:solidFill>
                  <a:srgbClr val="8A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65.6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22960" y="3410712"/>
            <a:ext cx="10543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4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print(scores.max())   </a:t>
            </a:r>
            <a:r>
              <a:rPr lang="en-US" sz="1350" dirty="0">
                <a:solidFill>
                  <a:srgbClr val="8A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91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2960" y="3703320"/>
            <a:ext cx="10543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4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print(scores.min())   </a:t>
            </a:r>
            <a:r>
              <a:rPr lang="en-US" sz="1350" dirty="0">
                <a:solidFill>
                  <a:srgbClr val="8A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30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2960" y="3995928"/>
            <a:ext cx="10543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2960" y="4288536"/>
            <a:ext cx="10543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4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above_avg = scores &gt; scores.mean()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22960" y="4581144"/>
            <a:ext cx="10543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4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print(np.sum(above_avg))  </a:t>
            </a:r>
            <a:r>
              <a:rPr lang="en-US" sz="1350" dirty="0">
                <a:solidFill>
                  <a:srgbClr val="8A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3 -&gt; count above average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FA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INNOLIFT VENTURES  ·  FULL STACK AI DEVELOPER PROGRAM  ·  PHASE 01 · DAY 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926080" cy="347472"/>
          </a:xfrm>
          <a:prstGeom prst="roundRect">
            <a:avLst>
              <a:gd name="adj" fmla="val 21053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95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 SOMETHING NEW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NumPy Is 10–100x Faster — Prove It Yourself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fact that makes people take NumPy seriously.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11091672" cy="2880360"/>
          </a:xfrm>
          <a:prstGeom prst="roundRect">
            <a:avLst>
              <a:gd name="adj" fmla="val 1905"/>
            </a:avLst>
          </a:prstGeom>
          <a:solidFill>
            <a:srgbClr val="1E1E2E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13232" y="2295144"/>
            <a:ext cx="109728" cy="109728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914400" y="2295144"/>
            <a:ext cx="109728" cy="109728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5568" y="2295144"/>
            <a:ext cx="109728" cy="109728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2532888"/>
            <a:ext cx="10543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4E4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time; size = 1_000_000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2761488"/>
            <a:ext cx="10543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4E4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python_list = list(range(size)); numpy_array = np.arange(size)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2990088"/>
            <a:ext cx="10543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3218688"/>
            <a:ext cx="10543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4E4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 = time.time()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22960" y="3447288"/>
            <a:ext cx="10543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4E4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result_list = [x * 2 for x in python_list]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3675888"/>
            <a:ext cx="10543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4E4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print("Python loop:", time.time() - start)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22960" y="3904488"/>
            <a:ext cx="10543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" y="4133088"/>
            <a:ext cx="10543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4E4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 = time.time()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4361688"/>
            <a:ext cx="10543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4E4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result_array = numpy_array * 2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4590288"/>
            <a:ext cx="10543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4E4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print("NumPy vectorized:", time.time() - start)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257800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22960" y="525780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and compare the two printed times — that gap is the entire reason NumPy exists.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FA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INNOLIFT VENTURES  ·  FULL STACK AI DEVELOPER PROGRAM  ·  PHASE 01 · DAY 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108960" cy="347472"/>
          </a:xfrm>
          <a:prstGeom prst="roundRect">
            <a:avLst>
              <a:gd name="adj" fmla="val 21053"/>
            </a:avLst>
          </a:prstGeom>
          <a:solidFill>
            <a:srgbClr val="FCEED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PRACTICE · ROUND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Yourself: Array Basics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through this on your own, at your own pace — no need to wait for anyone.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48640" y="21031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95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5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103120" y="210312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Task:  </a:t>
            </a:r>
            <a:r>
              <a:rPr lang="en-US" sz="1400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index a small NumPy array.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365760" cy="365760"/>
          </a:xfrm>
          <a:prstGeom prst="ellipse">
            <a:avLst/>
          </a:prstGeom>
          <a:solidFill>
            <a:srgbClr val="E891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548640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27889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array_warmup.py and build a NumPy array of 6 numbers of your choice.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401568"/>
            <a:ext cx="365760" cy="365760"/>
          </a:xfrm>
          <a:prstGeom prst="ellipse">
            <a:avLst/>
          </a:prstGeom>
          <a:solidFill>
            <a:srgbClr val="E891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4864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335584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the first item, the last item, and a slice of the middle 2 items.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968496"/>
            <a:ext cx="365760" cy="365760"/>
          </a:xfrm>
          <a:prstGeom prst="ellipse">
            <a:avLst/>
          </a:prstGeom>
          <a:solidFill>
            <a:srgbClr val="E891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548640" y="3968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97280" y="392277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the array's length using len() and confirm it matches what you expect.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764024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22960" y="4764024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Hint:  </a:t>
            </a: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indexing works here too — arr[-1] is always the last item, just like a list.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FA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INNOLIFT VENTURES  ·  FULL STACK AI DEVELOPER PROGRAM  ·  PHASE 01 · DAY 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108960" cy="347472"/>
          </a:xfrm>
          <a:prstGeom prst="roundRect">
            <a:avLst>
              <a:gd name="adj" fmla="val 21053"/>
            </a:avLst>
          </a:prstGeom>
          <a:solidFill>
            <a:srgbClr val="FCEED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PRACTICE · ROUND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Yourself: Stats Warm-Up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through this on your own, at your own pace — no need to wait for anyone.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48640" y="21031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95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5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103120" y="210312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Task:  </a:t>
            </a:r>
            <a:r>
              <a:rPr lang="en-US" sz="1400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summary stats on your Round 1 array.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365760" cy="365760"/>
          </a:xfrm>
          <a:prstGeom prst="ellipse">
            <a:avLst/>
          </a:prstGeom>
          <a:solidFill>
            <a:srgbClr val="E891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548640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27889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the array from array_warmup.py (or make a new one with 6+ numbers).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401568"/>
            <a:ext cx="365760" cy="365760"/>
          </a:xfrm>
          <a:prstGeom prst="ellipse">
            <a:avLst/>
          </a:prstGeom>
          <a:solidFill>
            <a:srgbClr val="E891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4864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335584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mean(), max(), min(), and sum().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968496"/>
            <a:ext cx="365760" cy="365760"/>
          </a:xfrm>
          <a:prstGeom prst="ellipse">
            <a:avLst/>
          </a:prstGeom>
          <a:solidFill>
            <a:srgbClr val="E891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548640" y="3968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97280" y="392277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boolean condition to print how many values are above the mean.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764024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22960" y="4764024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Hint:  </a:t>
            </a: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&gt; arr.mean() gives you True/False for every item — np.sum() on that counts the Trues.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FA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INNOLIFT VENTURES  ·  FULL STACK AI DEVELOPER PROGRAM  ·  PHASE 01 · DAY 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4950BC">
              <a:alpha val="2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48640" y="457200"/>
            <a:ext cx="2377440" cy="347472"/>
          </a:xfrm>
          <a:prstGeom prst="roundRect">
            <a:avLst>
              <a:gd name="adj" fmla="val 21053"/>
            </a:avLst>
          </a:prstGeom>
          <a:solidFill>
            <a:srgbClr val="E8912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FOR TODAY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FitTrack Analytics — a Real Fitness Report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6766560" cy="3931920"/>
          </a:xfrm>
          <a:prstGeom prst="roundRect">
            <a:avLst>
              <a:gd name="adj" fmla="val 1395"/>
            </a:avLst>
          </a:prstGeom>
          <a:solidFill>
            <a:srgbClr val="1E1E2E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13232" y="2249424"/>
            <a:ext cx="109728" cy="109728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914400" y="2249424"/>
            <a:ext cx="109728" cy="109728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5568" y="2249424"/>
            <a:ext cx="109728" cy="109728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2487168"/>
            <a:ext cx="621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A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250" dirty="0">
                <a:solidFill>
                  <a:srgbClr val="E4E4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fittrack_analytics.py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2871216"/>
            <a:ext cx="621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3255264"/>
            <a:ext cx="621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FB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===== FITTRACK WEEKLY REPORT =====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3639312"/>
            <a:ext cx="621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2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Monday       | steps: 8500 | activity: 0.72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22960" y="4023360"/>
            <a:ext cx="621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2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Tuesday      | steps: 6200 | activity: 0.00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4407408"/>
            <a:ext cx="621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2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Wednesday    | steps: 9100 | activity: 1.00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22960" y="4791456"/>
            <a:ext cx="621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FB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========================================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" y="5175504"/>
            <a:ext cx="621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4E4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average: </a:t>
            </a:r>
            <a:r>
              <a:rPr lang="en-US" sz="1250" dirty="0">
                <a:solidFill>
                  <a:srgbClr val="F2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56.7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52360" y="2286000"/>
            <a:ext cx="4206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brand new build. </a:t>
            </a:r>
            <a:r>
              <a:rPr lang="en-US" sz="1500" dirty="0">
                <a:solidFill>
                  <a:srgbClr val="DAD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FitTrack Analytics reads your own steps_log.txt and ranks your whole week using NumPy.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FA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INNOLIFT VENTURES  ·  FULL STACK AI DEVELOPER PROGRAM  ·  PHASE 01 · DAY 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377440" cy="347472"/>
          </a:xfrm>
          <a:prstGeom prst="roundRect">
            <a:avLst>
              <a:gd name="adj" fmla="val 21053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95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BRIEF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FitTrack Analytics — What You're Building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brand new file that reads your own step log and computes with Day 5's tools.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11091672" cy="27432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36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FILE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FUNCTION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WHAT IT SHOULD DO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7252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grade_analytics.py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4950B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read log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72525"/>
                          </a:solidFill>
                        </a:rPr>
                        <a:t>Open grades_log.txt safely with try/except FileNotFoundError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7252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grade_analytics.py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4950B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parse scores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72525"/>
                          </a:solidFill>
                        </a:rPr>
                        <a:t>Loop the log lines, pull out name + score per student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7252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grade_analytics.py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4950B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 dict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72525"/>
                          </a:solidFill>
                        </a:rPr>
                        <a:t>Store results as {name: score} pairs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7252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grade_analytics.py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4950B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 array + stats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72525"/>
                          </a:solidFill>
                        </a:rPr>
                        <a:t>Convert values to a NumPy array, compute mean/max/min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7252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grade_analytics.py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4950B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normalize + report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72525"/>
                          </a:solidFill>
                        </a:rPr>
                        <a:t>Vectorized 0–1 score per student, printed as a ranked leaderboard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623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requirements and starter guidance are in the Day 5 README — Task 5.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FA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INNOLIFT VENTURES  ·  FULL STACK AI DEVELOPER PROGRAM  ·  PHASE 01 · DAY 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377440" cy="347472"/>
          </a:xfrm>
          <a:prstGeom prst="roundRect">
            <a:avLst>
              <a:gd name="adj" fmla="val 21053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95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SELF-STUDY · 4 REAL-WORLD TASKS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1–4: Small Tools You'll Actually Use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5727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teaches a NumPy skill through a genuinely useful mini-tool — not just syntax practice.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11091672" cy="658368"/>
          </a:xfrm>
          <a:prstGeom prst="roundRect">
            <a:avLst>
              <a:gd name="adj" fmla="val 11111"/>
            </a:avLst>
          </a:prstGeom>
          <a:solidFill>
            <a:srgbClr val="F5F5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49808" y="2276856"/>
            <a:ext cx="402336" cy="402336"/>
          </a:xfrm>
          <a:prstGeom prst="ellipse">
            <a:avLst/>
          </a:prstGeom>
          <a:solidFill>
            <a:srgbClr val="4950B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49808" y="22768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25880" y="2221992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Grocery Bill Calculator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572000" y="2221992"/>
            <a:ext cx="6885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* quantities, vectorized — the math behind every billing screen.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953512"/>
            <a:ext cx="11091672" cy="658368"/>
          </a:xfrm>
          <a:prstGeom prst="roundRect">
            <a:avLst>
              <a:gd name="adj" fmla="val 11111"/>
            </a:avLst>
          </a:prstGeom>
          <a:solidFill>
            <a:srgbClr val="F5F5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749808" y="3081528"/>
            <a:ext cx="402336" cy="402336"/>
          </a:xfrm>
          <a:prstGeom prst="ellipse">
            <a:avLst/>
          </a:prstGeom>
          <a:solidFill>
            <a:srgbClr val="4950B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49808" y="3081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25880" y="3026664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Converter Batch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026664"/>
            <a:ext cx="6885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a whole week of Celsius readings to Fahrenheit in one line.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758184"/>
            <a:ext cx="11091672" cy="658368"/>
          </a:xfrm>
          <a:prstGeom prst="roundRect">
            <a:avLst>
              <a:gd name="adj" fmla="val 11111"/>
            </a:avLst>
          </a:prstGeom>
          <a:solidFill>
            <a:srgbClr val="F5F5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749808" y="3886200"/>
            <a:ext cx="402336" cy="402336"/>
          </a:xfrm>
          <a:prstGeom prst="ellipse">
            <a:avLst/>
          </a:prstGeom>
          <a:solidFill>
            <a:srgbClr val="4950B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749808" y="3886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25880" y="3831336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Curve Applier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572000" y="3831336"/>
            <a:ext cx="6885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a curve to a whole class's scores at once — compare mean before/after.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4562856"/>
            <a:ext cx="11091672" cy="658368"/>
          </a:xfrm>
          <a:prstGeom prst="roundRect">
            <a:avLst>
              <a:gd name="adj" fmla="val 11111"/>
            </a:avLst>
          </a:prstGeom>
          <a:solidFill>
            <a:srgbClr val="F5F5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749808" y="4690872"/>
            <a:ext cx="402336" cy="402336"/>
          </a:xfrm>
          <a:prstGeom prst="ellipse">
            <a:avLst/>
          </a:prstGeom>
          <a:solidFill>
            <a:srgbClr val="4950B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749808" y="4690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325880" y="4636008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Sales Quick Stats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572000" y="4636008"/>
            <a:ext cx="6885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Mean, max, min, total, plus a boolean mask for above-average days.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FA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INNOLIFT VENTURES  ·  FULL STACK AI DEVELOPER PROGRAM  ·  PHASE 01 · DAY 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291840" cy="347472"/>
          </a:xfrm>
          <a:prstGeom prst="roundRect">
            <a:avLst>
              <a:gd name="adj" fmla="val 21053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95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5 · MAIN PROJECT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5: Build FitTrack Analytics — Budget the Most Time Here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big one — it should take real effort and pulls together everything from Days 1–5.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6675120" cy="3977640"/>
          </a:xfrm>
          <a:prstGeom prst="roundRect">
            <a:avLst>
              <a:gd name="adj" fmla="val 1839"/>
            </a:avLst>
          </a:prstGeom>
          <a:solidFill>
            <a:srgbClr val="F5F5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68680" y="226771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fittrack_analytics.py must include: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68680" y="2688336"/>
            <a:ext cx="182880" cy="182880"/>
          </a:xfrm>
          <a:prstGeom prst="ellipse">
            <a:avLst/>
          </a:prstGeom>
          <a:solidFill>
            <a:srgbClr val="2F9E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68680" y="268833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70432" y="261518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steps_log.txt safely with try/except FileNotFoundError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68680" y="3145536"/>
            <a:ext cx="182880" cy="182880"/>
          </a:xfrm>
          <a:prstGeom prst="ellipse">
            <a:avLst/>
          </a:prstGeom>
          <a:solidFill>
            <a:srgbClr val="2F9E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68680" y="314553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70432" y="307238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each line into a {day: steps} dictionary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68680" y="3602736"/>
            <a:ext cx="182880" cy="182880"/>
          </a:xfrm>
          <a:prstGeom prst="ellipse">
            <a:avLst/>
          </a:prstGeom>
          <a:solidFill>
            <a:srgbClr val="2F9E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68680" y="360273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70432" y="352958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values to a NumPy array; compute mean/max/min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68680" y="4059936"/>
            <a:ext cx="182880" cy="182880"/>
          </a:xfrm>
          <a:prstGeom prst="ellipse">
            <a:avLst/>
          </a:prstGeom>
          <a:solidFill>
            <a:srgbClr val="2F9E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868680" y="405993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70432" y="398678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Vectorized normalization to a 0–1 activity score per day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68680" y="4517136"/>
            <a:ext cx="182880" cy="182880"/>
          </a:xfrm>
          <a:prstGeom prst="ellipse">
            <a:avLst/>
          </a:prstGeom>
          <a:solidFill>
            <a:srgbClr val="2F9E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68680" y="451713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70432" y="444398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goal_rate() — % of days hitting 8,000+ steps, using a boolean mask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68680" y="4974336"/>
            <a:ext cx="182880" cy="182880"/>
          </a:xfrm>
          <a:prstGeom prst="ellipse">
            <a:avLst/>
          </a:prstGeom>
          <a:solidFill>
            <a:srgbClr val="2F9E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868680" y="497433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70432" y="490118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most/least active day by name via np.argmax() / np.argmin()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68680" y="5431536"/>
            <a:ext cx="182880" cy="182880"/>
          </a:xfrm>
          <a:prstGeom prst="ellipse">
            <a:avLst/>
          </a:prstGeom>
          <a:solidFill>
            <a:srgbClr val="2F9E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868680" y="543153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70432" y="535838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week ranked highest to lowest via np.argsort()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315200" y="2103120"/>
            <a:ext cx="4325112" cy="3977640"/>
          </a:xfrm>
          <a:prstGeom prst="roundRect">
            <a:avLst>
              <a:gd name="adj" fmla="val 1839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7589520" y="2331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  Bonus Challenge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589520" y="278892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AD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speed-comparison experiment from the “Something New” slide and print how many times faster NumPy was, e.g. “NumPy was 8.3x faster.”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7589520" y="4709160"/>
            <a:ext cx="3794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B8B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at least 5 comments — especially around goal_rate() and the argsort() ranking logic.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FA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INNOLIFT VENTURES  ·  FULL STACK AI DEVELOPER PROGRAM  ·  PHASE 01 · DAY 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377440" cy="347472"/>
          </a:xfrm>
          <a:prstGeom prst="roundRect">
            <a:avLst>
              <a:gd name="adj" fmla="val 21053"/>
            </a:avLst>
          </a:prstGeom>
          <a:solidFill>
            <a:srgbClr val="FBEAE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GET STUCK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Mistakes — Fixed Fast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166360" cy="1783080"/>
          </a:xfrm>
          <a:prstGeom prst="roundRect">
            <a:avLst>
              <a:gd name="adj" fmla="val 4103"/>
            </a:avLst>
          </a:prstGeom>
          <a:solidFill>
            <a:srgbClr val="F5F5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2331720"/>
            <a:ext cx="457200" cy="457200"/>
          </a:xfrm>
          <a:prstGeom prst="ellipse">
            <a:avLst/>
          </a:prstGeom>
          <a:solidFill>
            <a:srgbClr val="FBEAE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2296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0000"/>
                </a:solidFill>
              </a:rPr>
              <a:t>➖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44752" y="232257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Divide-by-zero in normalize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22960" y="288036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every day has the same step count, max − min is 0.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33375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2F9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r>
              <a:rPr lang="en-US" sz="1150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scores.max() != scores.min() before dividing.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80760" y="2103120"/>
            <a:ext cx="5166360" cy="1783080"/>
          </a:xfrm>
          <a:prstGeom prst="roundRect">
            <a:avLst>
              <a:gd name="adj" fmla="val 4103"/>
            </a:avLst>
          </a:prstGeom>
          <a:solidFill>
            <a:srgbClr val="F5F5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355080" y="2331720"/>
            <a:ext cx="457200" cy="457200"/>
          </a:xfrm>
          <a:prstGeom prst="ellipse">
            <a:avLst/>
          </a:prstGeom>
          <a:solidFill>
            <a:srgbClr val="FBEAE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35508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0000"/>
                </a:solidFill>
              </a:rPr>
              <a:t>🔢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976872" y="232257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array surprises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355080" y="288036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np.array([1,2,3]) / 2 might not behave like you expect on old NumPy.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355080" y="33375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2F9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r>
              <a:rPr lang="en-US" sz="1150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NumPy returns floats automatically — print the dtype to check.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14800"/>
            <a:ext cx="5166360" cy="1783080"/>
          </a:xfrm>
          <a:prstGeom prst="roundRect">
            <a:avLst>
              <a:gd name="adj" fmla="val 4103"/>
            </a:avLst>
          </a:prstGeom>
          <a:solidFill>
            <a:srgbClr val="F5F5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22960" y="4343400"/>
            <a:ext cx="457200" cy="457200"/>
          </a:xfrm>
          <a:prstGeom prst="ellipse">
            <a:avLst/>
          </a:prstGeom>
          <a:solidFill>
            <a:srgbClr val="FBEAE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2296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0000"/>
                </a:solidFill>
              </a:rPr>
              <a:t>📁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44752" y="433425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FileNotFoundError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22960" y="489204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steps_log.txt doesn't exist yet if you haven't created it.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22960" y="53492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2F9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r>
              <a:rPr lang="en-US" sz="1150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the open() in try/except and handle the empty case.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080760" y="4114800"/>
            <a:ext cx="5166360" cy="1783080"/>
          </a:xfrm>
          <a:prstGeom prst="roundRect">
            <a:avLst>
              <a:gd name="adj" fmla="val 4103"/>
            </a:avLst>
          </a:prstGeom>
          <a:solidFill>
            <a:srgbClr val="F5F5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6355080" y="4343400"/>
            <a:ext cx="457200" cy="457200"/>
          </a:xfrm>
          <a:prstGeom prst="ellipse">
            <a:avLst/>
          </a:prstGeom>
          <a:solidFill>
            <a:srgbClr val="FBEAE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35508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0000"/>
                </a:solidFill>
              </a:rPr>
              <a:t>🔁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976872" y="433425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Looping instead of vectorizing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6355080" y="489204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a for loop to add 5 to every array item.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355080" y="53492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2F9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r>
              <a:rPr lang="en-US" sz="1150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you're looping over a NumPy array for simple math, there's a vectorized way — look for it.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FA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INNOLIFT VENTURES  ·  FULL STACK AI DEVELOPER PROGRAM  ·  PHASE 01 · DAY 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377440" cy="347472"/>
          </a:xfrm>
          <a:prstGeom prst="roundRect">
            <a:avLst>
              <a:gd name="adj" fmla="val 21053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95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Submit Today's Work – A total of 5 tasks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F5F5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777240" y="2267712"/>
            <a:ext cx="411480" cy="411480"/>
          </a:xfrm>
          <a:prstGeom prst="ellipse">
            <a:avLst/>
          </a:prstGeom>
          <a:solidFill>
            <a:srgbClr val="4950B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77240" y="2267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762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your files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754880" y="2176272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grocery_bill.py, temp_converter.py, curve_applier.py, sales_stats.py + fittrack_analytics.py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777240" y="3227832"/>
            <a:ext cx="411480" cy="411480"/>
          </a:xfrm>
          <a:prstGeom prst="ellipse">
            <a:avLst/>
          </a:prstGeom>
          <a:solidFill>
            <a:srgbClr val="4950B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77240" y="32278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71600" y="313639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it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54880" y="3136392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fittrack_analytics.py running — full ranked report, goal_rate(), most/least active day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023360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F5F5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777240" y="4187952"/>
            <a:ext cx="411480" cy="411480"/>
          </a:xfrm>
          <a:prstGeom prst="ellipse">
            <a:avLst/>
          </a:prstGeom>
          <a:solidFill>
            <a:srgbClr val="4950B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777240" y="41879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409651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your report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754880" y="4096512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today's entry to your single running Daily Task Submission Report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983480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777240" y="5148072"/>
            <a:ext cx="411480" cy="411480"/>
          </a:xfrm>
          <a:prstGeom prst="ellipse">
            <a:avLst/>
          </a:prstGeom>
          <a:solidFill>
            <a:srgbClr val="4950B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777240" y="5148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71600" y="505663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whenever ready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754880" y="5056632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before 5c in </a:t>
            </a:r>
            <a:r>
              <a:rPr lang="en-US" sz="1250" dirty="0" err="1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Innodesk</a:t>
            </a: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FA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INNOLIFT VENTURES  ·  FULL STACK AI DEVELOPER PROGRAM  ·  PHASE 01 · DAY 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3840480"/>
            <a:ext cx="4572000" cy="4572000"/>
          </a:xfrm>
          <a:prstGeom prst="ellipse">
            <a:avLst/>
          </a:prstGeom>
          <a:solidFill>
            <a:srgbClr val="4950BC">
              <a:alpha val="2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48640" y="457200"/>
            <a:ext cx="2377440" cy="347472"/>
          </a:xfrm>
          <a:prstGeom prst="roundRect">
            <a:avLst>
              <a:gd name="adj" fmla="val 21053"/>
            </a:avLst>
          </a:prstGeom>
          <a:solidFill>
            <a:srgbClr val="2F9E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WORK TODAY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Self-Study Days, Two Brand New Builds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2148840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AD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now organize data like a programmer and compute on it like a data scientist — normalization, vectorization, stats. GradeVault and FitTrack Analytics are both entirely your own builds.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863840" cy="1188720"/>
          </a:xfrm>
          <a:prstGeom prst="roundRect">
            <a:avLst>
              <a:gd name="adj" fmla="val 6154"/>
            </a:avLst>
          </a:prstGeom>
          <a:solidFill>
            <a:srgbClr val="4950B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68680" y="336499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🔜  Next Live Class — Day 6: Pandas Basics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374904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DataFrames, reading CSVs, and cleaning real tabular data.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FA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INNOLIFT VENTURES  ·  FULL STACK AI DEVELOPER PROGRAM  ·  PHASE 01 · DAY 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2163</Words>
  <Application>Microsoft Office PowerPoint</Application>
  <PresentationFormat>Widescreen</PresentationFormat>
  <Paragraphs>250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Innolift Ventures</dc:creator>
  <cp:lastModifiedBy>Jaya sri</cp:lastModifiedBy>
  <cp:revision>3</cp:revision>
  <dcterms:created xsi:type="dcterms:W3CDTF">2026-07-03T15:52:53Z</dcterms:created>
  <dcterms:modified xsi:type="dcterms:W3CDTF">2026-07-04T15:20:23Z</dcterms:modified>
</cp:coreProperties>
</file>