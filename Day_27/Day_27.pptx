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9"/>
  </p:notesMasterIdLst>
  <p:handoutMasterIdLst>
    <p:handoutMasterId r:id="rId30"/>
  </p:handoutMasterIdLst>
  <p:sldIdLst>
    <p:sldId id="256" r:id="rId5"/>
    <p:sldId id="257" r:id="rId6"/>
    <p:sldId id="260" r:id="rId7"/>
    <p:sldId id="258" r:id="rId8"/>
    <p:sldId id="261" r:id="rId9"/>
    <p:sldId id="291" r:id="rId10"/>
    <p:sldId id="292" r:id="rId11"/>
    <p:sldId id="293" r:id="rId12"/>
    <p:sldId id="283" r:id="rId13"/>
    <p:sldId id="264" r:id="rId14"/>
    <p:sldId id="266" r:id="rId15"/>
    <p:sldId id="294" r:id="rId16"/>
    <p:sldId id="295" r:id="rId17"/>
    <p:sldId id="284" r:id="rId18"/>
    <p:sldId id="286" r:id="rId19"/>
    <p:sldId id="288" r:id="rId20"/>
    <p:sldId id="287" r:id="rId21"/>
    <p:sldId id="297" r:id="rId22"/>
    <p:sldId id="289" r:id="rId23"/>
    <p:sldId id="285" r:id="rId24"/>
    <p:sldId id="298" r:id="rId25"/>
    <p:sldId id="299" r:id="rId26"/>
    <p:sldId id="300" r:id="rId27"/>
    <p:sldId id="269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3F6AF7-40AF-42AE-882E-5E3FC326DFDD}" v="80" dt="2026-07-24T13:32:35.0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27-Jul-26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27-Jul-26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JS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COMPONENTS,JSX,PROPS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BE075FF-1E9D-C263-C29E-78CFC3C0BFD5}"/>
              </a:ext>
            </a:extLst>
          </p:cNvPr>
          <p:cNvSpPr txBox="1">
            <a:spLocks/>
          </p:cNvSpPr>
          <p:nvPr/>
        </p:nvSpPr>
        <p:spPr>
          <a:xfrm>
            <a:off x="9838944" y="301260"/>
            <a:ext cx="1707273" cy="471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lang="en-GB" sz="1800" kern="1200" spc="30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27 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30DDCF6-737F-3094-2976-16465F3707F0}"/>
              </a:ext>
            </a:extLst>
          </p:cNvPr>
          <p:cNvSpPr txBox="1">
            <a:spLocks/>
          </p:cNvSpPr>
          <p:nvPr/>
        </p:nvSpPr>
        <p:spPr>
          <a:xfrm>
            <a:off x="8965249" y="855407"/>
            <a:ext cx="3069435" cy="47185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lang="en-GB" sz="1800" kern="1200" spc="30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INNOLIFT VENTURES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2572F4F5-B742-CFD0-A29B-D083DEBE8057}"/>
              </a:ext>
            </a:extLst>
          </p:cNvPr>
          <p:cNvSpPr txBox="1">
            <a:spLocks/>
          </p:cNvSpPr>
          <p:nvPr/>
        </p:nvSpPr>
        <p:spPr>
          <a:xfrm>
            <a:off x="721295" y="6017440"/>
            <a:ext cx="6525079" cy="471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lang="en-GB" sz="1800" kern="1200" spc="30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STACK WEB DEVELOPMENT INTERSHIP</a:t>
            </a: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673" y="298978"/>
            <a:ext cx="7781544" cy="85905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95F4DE-39B7-4CE2-BC1E-8B8AE662A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07832" y="1345024"/>
            <a:ext cx="7876942" cy="4857756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React?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React?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 vs React Native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 vs Traditional Websites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 (Single Page Application)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 Ecosystem (Next.js &amp; TypeScript)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Installing React Vite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JSX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646" y="292768"/>
            <a:ext cx="4566238" cy="85905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react?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DDBE65-9AB1-4989-AF86-726591A6A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1277" y="1229032"/>
            <a:ext cx="8563897" cy="5451168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an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open-source JavaScript library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used to build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fast, interactive, and reusable User Interfaces (UI)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modern web applications. It was developed by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Facebook (Meta)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officially released in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2013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Component-Based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Build applications using reusable UI components.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 DOM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Updates only the changed parts of the page for better performance.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 Page Application (SPA)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Loads one HTML page and updates content without full page reloads.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JSX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Write HTML-like syntax inside JavaScript for easier UI development.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Declarative UI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Describe how the UI should look, and React updates it automatically.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Library, Not a Framework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Focuses only on the UI layer, giving developers flexibility to choose other tools.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33093"/>
            <a:ext cx="6998519" cy="53553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Developers Choose React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1" y="1241927"/>
            <a:ext cx="10164506" cy="4093243"/>
          </a:xfrm>
        </p:spPr>
        <p:txBody>
          <a:bodyPr/>
          <a:lstStyle/>
          <a:p>
            <a:pPr marL="0" indent="0" algn="just"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Performance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DOM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update only the changed parts of the page.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Reusable Components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Build once and reuse components across the application.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Develop &amp; Maintain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Declarative approach makes code clean, simple, and easy to manage.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Single Page Applications (SPA)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Provides a smooth user experience without full page reloads.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Community &amp; Ecosystem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Backed by Meta (Facebook) with strong community support and many libraries. </a:t>
            </a:r>
          </a:p>
          <a:p>
            <a:pPr marL="0" indent="0" algn="just">
              <a:buNone/>
            </a:pP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"React is popular because it's fast, reusable, easy to maintain, and widely used by companies to build modern web applications."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Website vs React (SPA)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917D656-5B96-C4E8-FE58-AD49D0A571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0616988"/>
              </p:ext>
            </p:extLst>
          </p:nvPr>
        </p:nvGraphicFramePr>
        <p:xfrm>
          <a:off x="1061884" y="1504335"/>
          <a:ext cx="9471742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5871">
                  <a:extLst>
                    <a:ext uri="{9D8B030D-6E8A-4147-A177-3AD203B41FA5}">
                      <a16:colId xmlns:a16="http://schemas.microsoft.com/office/drawing/2014/main" val="2587600291"/>
                    </a:ext>
                  </a:extLst>
                </a:gridCol>
                <a:gridCol w="4735871">
                  <a:extLst>
                    <a:ext uri="{9D8B030D-6E8A-4147-A177-3AD203B41FA5}">
                      <a16:colId xmlns:a16="http://schemas.microsoft.com/office/drawing/2014/main" val="1644206968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Traditional Website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React Application (SPA)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825057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Loads a 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 HTML page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every request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Loads 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one HTML page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initially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770131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 page reload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on navigation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full page reload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574658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Requests the server for every 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Updates content 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inside the browser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53642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Directly updates the 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Virtual DOM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faster updates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914104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Slower user experience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Faster and smoother user experience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73616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 is less reusable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reusable components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031186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for simple websites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for dynamic, interactive web applications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1488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5584D-E2B6-9194-6878-0827AF854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194B42-F28A-ADA3-8A49-07D159FDA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DOM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BF9645-4502-7B99-3F3A-11279E512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868E8B-D448-5BCE-514A-AC7A546DFCA2}"/>
              </a:ext>
            </a:extLst>
          </p:cNvPr>
          <p:cNvSpPr txBox="1"/>
          <p:nvPr/>
        </p:nvSpPr>
        <p:spPr>
          <a:xfrm>
            <a:off x="789449" y="2025445"/>
            <a:ext cx="1035131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 DOM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 lightweight copy of the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 DOM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 updates the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 DOM first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instead of the Real DOM.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 compares the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 DOM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the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 DOM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(Diffing).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the changed elements are updated in the Real DOM.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reduces unnecessary page updates and improves performance.</a:t>
            </a:r>
          </a:p>
        </p:txBody>
      </p:sp>
    </p:spTree>
    <p:extLst>
      <p:ext uri="{BB962C8B-B14F-4D97-AF65-F5344CB8AC3E}">
        <p14:creationId xmlns:p14="http://schemas.microsoft.com/office/powerpoint/2010/main" val="539260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44361-9BF3-7FF3-53AF-F003092EC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177800"/>
            <a:ext cx="11214100" cy="53553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DOM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CFF845-76C8-88A0-325A-FF93B8CB8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7</a:t>
            </a:fld>
            <a:endParaRPr lang="en-US" noProof="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3DD49BA-C4CD-A693-0C42-B625F2E89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874241"/>
            <a:ext cx="10668000" cy="5279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682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8BE38-D10D-6801-95F1-1C8741EDB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Single Page Application (SPA)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B94F22-68ED-2FC6-F1A5-64C7667E3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55B02B-5D66-A566-29F9-2365BB5F23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78436" y="1848311"/>
            <a:ext cx="8680195" cy="3893727"/>
          </a:xfrm>
        </p:spPr>
        <p:txBody>
          <a:bodyPr>
            <a:norm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Single Page Application (SPA) is a web application that loads a single HTML page initially. 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reloading the entire page, it updates only the required content dynamically using JavaScript. 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provides a fast, smooth, and responsive user experience. </a:t>
            </a:r>
          </a:p>
          <a:p>
            <a:pPr algn="just"/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algn="just"/>
            <a:b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📍 Google Maps – Switching between Map and Satellite view updates the interface instantly without reloading the entire page.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5287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842" y="377306"/>
            <a:ext cx="11214100" cy="53553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vs React Native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478C69-0A1D-45FF-8600-ED903803F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88C1047-3E20-4C54-011C-328BD5CC0E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40791"/>
              </p:ext>
            </p:extLst>
          </p:nvPr>
        </p:nvGraphicFramePr>
        <p:xfrm>
          <a:off x="938980" y="1199535"/>
          <a:ext cx="10314039" cy="48288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8013">
                  <a:extLst>
                    <a:ext uri="{9D8B030D-6E8A-4147-A177-3AD203B41FA5}">
                      <a16:colId xmlns:a16="http://schemas.microsoft.com/office/drawing/2014/main" val="2544825599"/>
                    </a:ext>
                  </a:extLst>
                </a:gridCol>
                <a:gridCol w="3438013">
                  <a:extLst>
                    <a:ext uri="{9D8B030D-6E8A-4147-A177-3AD203B41FA5}">
                      <a16:colId xmlns:a16="http://schemas.microsoft.com/office/drawing/2014/main" val="4177052167"/>
                    </a:ext>
                  </a:extLst>
                </a:gridCol>
                <a:gridCol w="3438013">
                  <a:extLst>
                    <a:ext uri="{9D8B030D-6E8A-4147-A177-3AD203B41FA5}">
                      <a16:colId xmlns:a16="http://schemas.microsoft.com/office/drawing/2014/main" val="991942683"/>
                    </a:ext>
                  </a:extLst>
                </a:gridCol>
              </a:tblGrid>
              <a:tr h="4241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Feature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React JS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React Native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5264157"/>
                  </a:ext>
                </a:extLst>
              </a:tr>
              <a:tr h="732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Purpose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Builds interactive </a:t>
                      </a:r>
                      <a:r>
                        <a:rPr lang="en-US" b="1"/>
                        <a:t>web applications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Builds </a:t>
                      </a:r>
                      <a:r>
                        <a:rPr lang="en-US" b="1"/>
                        <a:t>native mobile applications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1409886"/>
                  </a:ext>
                </a:extLst>
              </a:tr>
              <a:tr h="4241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Target Platform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Web Browsers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Android &amp; iOS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3269553"/>
                  </a:ext>
                </a:extLst>
              </a:tr>
              <a:tr h="1045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Rendering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Renders </a:t>
                      </a:r>
                      <a:r>
                        <a:rPr lang="en-US" b="1"/>
                        <a:t>HTML</a:t>
                      </a:r>
                      <a:r>
                        <a:rPr lang="en-US"/>
                        <a:t> using the Virtual DOM (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ReactDOM</a:t>
                      </a:r>
                      <a:r>
                        <a:rPr lang="en-US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Renders </a:t>
                      </a:r>
                      <a:r>
                        <a:rPr lang="en-US" b="1"/>
                        <a:t>Native UI Components</a:t>
                      </a:r>
                      <a:r>
                        <a:rPr lang="en-US"/>
                        <a:t> (No HTML/DOM)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7158101"/>
                  </a:ext>
                </a:extLst>
              </a:tr>
              <a:tr h="4241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Language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JavaScript (JSX)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JavaScript (JSX)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8688477"/>
                  </a:ext>
                </a:extLst>
              </a:tr>
              <a:tr h="732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Styling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CSS, SCSS, Tailwind, Bootstrap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StyleSheet</a:t>
                      </a:r>
                      <a:r>
                        <a:rPr lang="en-US"/>
                        <a:t> API (CSS-like styling)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4840314"/>
                  </a:ext>
                </a:extLst>
              </a:tr>
              <a:tr h="1045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Example Applications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Gmail, Facebook Web, Netflix Web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Facebook App, Instagram, Shopify, Discord Mobile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49067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1187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ECOSYSTEM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C2D367-2A6E-41FE-A9EA-24FF17BCA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AB873A-7388-3690-94D3-A3F54AB4F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802" y="1393336"/>
            <a:ext cx="9174760" cy="4978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103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01323FB-427E-4A8D-B473-AB0657D8D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r>
              <a:rPr lang="en-US" b="1" kern="1200" spc="-7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398C1C-6656-4A73-A680-62A81CDC2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263D6C4-4840-40CC-AC84-17E24B3B7BDE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8FDB48-7CBE-F022-E870-6F3EC34035E5}"/>
              </a:ext>
            </a:extLst>
          </p:cNvPr>
          <p:cNvSpPr txBox="1"/>
          <p:nvPr/>
        </p:nvSpPr>
        <p:spPr>
          <a:xfrm>
            <a:off x="443365" y="1517715"/>
            <a:ext cx="5184437" cy="465924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Prerequisites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Node.js installed (v18+ recommended) — check with node -v</a:t>
            </a:r>
          </a:p>
          <a:p>
            <a:pPr marL="457200" indent="-4572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 Code (or any code editor)</a:t>
            </a:r>
          </a:p>
          <a:p>
            <a:pPr marL="457200" indent="-457200" algn="just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1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1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 Setup:</a:t>
            </a: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Verified Node.js (v24.11.0) and </a:t>
            </a:r>
            <a:r>
              <a:rPr lang="en-US" sz="19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(v11.6.1) runtime environment in the terminal.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1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Initialization:</a:t>
            </a: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Used Vite (create-vite@9.1.1) via </a:t>
            </a:r>
            <a:r>
              <a:rPr lang="en-US" sz="19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scaffold a new modern web project named </a:t>
            </a:r>
            <a:r>
              <a:rPr lang="en-US" sz="19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innolift</a:t>
            </a: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1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 Selection:</a:t>
            </a: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Configured the project setup interface to select and configure the desired frontend framework/template.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1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 Readiness:</a:t>
            </a: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Established a fast and optimized local development foundation ready for application building.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</a:pP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CF5F0A-4DE1-F95A-61ED-464885591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2142" y="1517715"/>
            <a:ext cx="5426493" cy="465924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65425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BA6B4-6BF4-D4AE-77E3-50D2710E8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5ECB8C-D0CE-A8D5-4BD7-E18E0C87B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12</a:t>
            </a:fld>
            <a:endParaRPr lang="en-US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B6A994-4615-9933-D5A6-1B1197FD6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0" y="1348528"/>
            <a:ext cx="3139712" cy="32387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69EE01-A627-F95A-B1B8-7D25CFC152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8210" y="1348528"/>
            <a:ext cx="3894157" cy="21490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7530019-6085-BB36-6108-6E3C8CD4A2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8210" y="4293887"/>
            <a:ext cx="2911092" cy="9221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6A66114-EB2D-38DC-D7B8-A93643876B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7202" y="1576259"/>
            <a:ext cx="3101609" cy="133361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1A8F253-788D-B16D-B90F-2737B30B5F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7533" y="4284055"/>
            <a:ext cx="4480948" cy="91447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A82C159-10FE-7BCD-F2A5-39474287EB20}"/>
              </a:ext>
            </a:extLst>
          </p:cNvPr>
          <p:cNvSpPr txBox="1"/>
          <p:nvPr/>
        </p:nvSpPr>
        <p:spPr>
          <a:xfrm>
            <a:off x="729306" y="4754937"/>
            <a:ext cx="21374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PROJECT 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SELECT REACT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610BDF-9977-44FA-1E89-A9FAEF16206B}"/>
              </a:ext>
            </a:extLst>
          </p:cNvPr>
          <p:cNvSpPr txBox="1"/>
          <p:nvPr/>
        </p:nvSpPr>
        <p:spPr>
          <a:xfrm>
            <a:off x="3774671" y="5387626"/>
            <a:ext cx="2429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SELECT OXLINT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CF86CB-4FB1-361E-0855-8001C759B26B}"/>
              </a:ext>
            </a:extLst>
          </p:cNvPr>
          <p:cNvSpPr txBox="1"/>
          <p:nvPr/>
        </p:nvSpPr>
        <p:spPr>
          <a:xfrm>
            <a:off x="3774671" y="3706138"/>
            <a:ext cx="3038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 SELECT JAVASCRIPT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E99546-AAFA-D25C-A216-E1EA7B8FA3CC}"/>
              </a:ext>
            </a:extLst>
          </p:cNvPr>
          <p:cNvSpPr txBox="1"/>
          <p:nvPr/>
        </p:nvSpPr>
        <p:spPr>
          <a:xfrm>
            <a:off x="8593065" y="3059668"/>
            <a:ext cx="26591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INSTALL DEPENDENCIES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C910CFE-AECF-7F11-A41E-CED59DB80649}"/>
              </a:ext>
            </a:extLst>
          </p:cNvPr>
          <p:cNvSpPr txBox="1"/>
          <p:nvPr/>
        </p:nvSpPr>
        <p:spPr>
          <a:xfrm>
            <a:off x="8342342" y="5387472"/>
            <a:ext cx="33162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INSTALLATION IN PROGRESS...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06980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64315-F1D0-BED0-DFB2-2CEC427A6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F1633C-B7E1-781D-C47C-1DB5C5666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13</a:t>
            </a:fld>
            <a:endParaRPr lang="en-US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B66868-37DA-28BD-4F8B-6B37E2DCA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775" y="1497160"/>
            <a:ext cx="4938188" cy="38636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E16A88-4FFD-D65E-BBF9-BF2656DF6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9497" y="1497160"/>
            <a:ext cx="3136489" cy="38636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7F88FBA-D9BC-7605-D169-6E892A8B0AA3}"/>
              </a:ext>
            </a:extLst>
          </p:cNvPr>
          <p:cNvSpPr txBox="1"/>
          <p:nvPr/>
        </p:nvSpPr>
        <p:spPr>
          <a:xfrm>
            <a:off x="737775" y="559487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INSTALLAION COMPL	ETED SUCCESSFULLY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456AC6-3180-B377-13FF-87121D21A142}"/>
              </a:ext>
            </a:extLst>
          </p:cNvPr>
          <p:cNvSpPr txBox="1"/>
          <p:nvPr/>
        </p:nvSpPr>
        <p:spPr>
          <a:xfrm>
            <a:off x="6501290" y="559487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PROJECT FOLDER CREATED  SUCCESSFULLY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34497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01323FB-427E-4A8D-B473-AB0657D8D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Vite?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398C1C-6656-4A73-A680-62A81CDC2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FC6B31-A20D-2F31-D6DA-CBA756A0BB74}"/>
              </a:ext>
            </a:extLst>
          </p:cNvPr>
          <p:cNvSpPr txBox="1"/>
          <p:nvPr/>
        </p:nvSpPr>
        <p:spPr>
          <a:xfrm>
            <a:off x="444499" y="1475874"/>
            <a:ext cx="1102560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Vite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modern build tool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used to create and develop React applications.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provides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 project setup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high-performance development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automatically starts a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 development server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your application.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Hot Module Replacement (HMR)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instant updates without refreshing the browser.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Supports multiple frameworks such as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React, Vue, Angular, Svelte,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more.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72690B-FE0F-F302-933A-FE61F59FADFF}"/>
              </a:ext>
            </a:extLst>
          </p:cNvPr>
          <p:cNvSpPr txBox="1"/>
          <p:nvPr/>
        </p:nvSpPr>
        <p:spPr>
          <a:xfrm>
            <a:off x="513325" y="4033974"/>
            <a:ext cx="637339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⚡ Fast Project Setup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🚀 Instant Live Reload (HMR)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📦 Optimized Build Process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🌐 Built-in Local Development Server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🔧 Supports Multiple Frameworks</a:t>
            </a:r>
          </a:p>
        </p:txBody>
      </p:sp>
    </p:spTree>
    <p:extLst>
      <p:ext uri="{BB962C8B-B14F-4D97-AF65-F5344CB8AC3E}">
        <p14:creationId xmlns:p14="http://schemas.microsoft.com/office/powerpoint/2010/main" val="3322300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C1216-972D-EE1F-5BD0-A7586D351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BC0404E-F26D-18C3-B534-EFBD5F665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Folder Structure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77D339-2D0C-1E5E-07E2-FC83C480F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15</a:t>
            </a:fld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B71BC1-5540-6A61-572C-5B7E212098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9752697"/>
              </p:ext>
            </p:extLst>
          </p:nvPr>
        </p:nvGraphicFramePr>
        <p:xfrm>
          <a:off x="444500" y="1443789"/>
          <a:ext cx="7207584" cy="4170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3792">
                  <a:extLst>
                    <a:ext uri="{9D8B030D-6E8A-4147-A177-3AD203B41FA5}">
                      <a16:colId xmlns:a16="http://schemas.microsoft.com/office/drawing/2014/main" val="3949615313"/>
                    </a:ext>
                  </a:extLst>
                </a:gridCol>
                <a:gridCol w="3603792">
                  <a:extLst>
                    <a:ext uri="{9D8B030D-6E8A-4147-A177-3AD203B41FA5}">
                      <a16:colId xmlns:a16="http://schemas.microsoft.com/office/drawing/2014/main" val="3513752863"/>
                    </a:ext>
                  </a:extLst>
                </a:gridCol>
              </a:tblGrid>
              <a:tr h="5213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Folder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What it does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697974"/>
                  </a:ext>
                </a:extLst>
              </a:tr>
              <a:tr h="9123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node_modules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 installed packages live </a:t>
                      </a:r>
                    </a:p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here — never touch this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7666818"/>
                  </a:ext>
                </a:extLst>
              </a:tr>
              <a:tr h="9123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public/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 files like favicon, images </a:t>
                      </a:r>
                    </a:p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 served as-is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3254316"/>
                  </a:ext>
                </a:extLst>
              </a:tr>
              <a:tr h="9123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src/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Your workspace — all your code goes here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6639704"/>
                  </a:ext>
                </a:extLst>
              </a:tr>
              <a:tr h="9123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src/assets/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Images, icons, fonts used inside components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4098625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1D4E17EC-3961-1EAF-CAEA-0453F288B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8911" y="1443789"/>
            <a:ext cx="3136489" cy="4017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503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21D76-9557-515F-73F2-7D4524F75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8F15D5-8E45-DDF5-F2C3-4175B6C53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EFB10C-F8DE-A448-02E5-5A2D32E8C4AC}"/>
              </a:ext>
            </a:extLst>
          </p:cNvPr>
          <p:cNvSpPr txBox="1"/>
          <p:nvPr/>
        </p:nvSpPr>
        <p:spPr>
          <a:xfrm>
            <a:off x="375673" y="1443841"/>
            <a:ext cx="675271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JSX (JavaScript XML)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 syntax extension that allows developers to write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HTML-like code inside JavaScript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It makes creating React user interfaces simple, readable, and easy to maintain.</a:t>
            </a:r>
          </a:p>
          <a:p>
            <a:pPr algn="just"/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📝 Write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HTML-like syntax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inside JavaScript.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⚡ Makes UI code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and readable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🔄 Supports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JavaScript expressions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using {}.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🎨 Use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instead of class for CSS.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🔧 JSX is converted into JavaScript by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Babel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before running in the browser.</a:t>
            </a:r>
          </a:p>
          <a:p>
            <a:pPr algn="just"/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A89B40-F193-DBEA-2BF3-4AD4E9D93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3690" y="1314216"/>
            <a:ext cx="4579784" cy="3631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7948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86379-1E0B-0F1F-0EB6-BA58ED6B3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DA4BA76-F90F-1F69-99C8-04ED06207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8A5106-5079-DC31-CA73-24D1630F7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5AA4D8-4E54-3CC9-0038-650DE1369B07}"/>
              </a:ext>
            </a:extLst>
          </p:cNvPr>
          <p:cNvSpPr txBox="1"/>
          <p:nvPr/>
        </p:nvSpPr>
        <p:spPr>
          <a:xfrm>
            <a:off x="737419" y="1514168"/>
            <a:ext cx="112141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 Component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an independent, reusable building block used to create the user interface (UI).</a:t>
            </a:r>
          </a:p>
          <a:p>
            <a:pPr algn="just"/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Reusability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Write once and reuse the same component throughout the application. 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Maintainability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Changes made in one component are automatically reflected wherever it is used.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Easily build and manage large applications by combining multiple components.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Organization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Breaks the UI into smaller, independent, and easy-to-manage pieces. 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Improved Development Efficiency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Reduces duplicate code, simplifies debugging, and speeds up development.</a:t>
            </a:r>
          </a:p>
          <a:p>
            <a:pPr algn="just"/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Navbar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Button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Card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Footer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Login Form</a:t>
            </a:r>
          </a:p>
          <a:p>
            <a:pPr algn="just"/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9889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C875D-E02F-24E5-D562-9C26C4FD7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Components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D3A6CB-A5CB-BE10-0040-142E4CF8D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18</a:t>
            </a:fld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37352A-18C5-B3AC-3CCE-75CD68BF62D4}"/>
              </a:ext>
            </a:extLst>
          </p:cNvPr>
          <p:cNvSpPr txBox="1"/>
          <p:nvPr/>
        </p:nvSpPr>
        <p:spPr>
          <a:xfrm>
            <a:off x="625643" y="1507958"/>
            <a:ext cx="602096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FUNCTIONAL COMPONENTS  (RECOMMENDED)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JavaScript functions.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Accept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input.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 JSX.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commonly used in modern React.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CLASS COMPONENTS (OLDER)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Created using ES6 classes.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manage internal state.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Mostly found in older React projects.</a:t>
            </a:r>
          </a:p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5AA397-3FAD-1D7F-B1DE-714C5B11B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4091" y="1507958"/>
            <a:ext cx="4661310" cy="13175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9DAEE09-BB37-597F-C59B-B119DE4E0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4091" y="3429000"/>
            <a:ext cx="4772266" cy="1317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1761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E58B2-7BE8-3B5E-578B-56F2731D0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71535-5E5B-F249-D97B-D76753CEC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56863D-5B99-38CA-95C6-68294BAF6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19</a:t>
            </a:fld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73889B-64F3-5CB2-078A-1CD2F60F85C8}"/>
              </a:ext>
            </a:extLst>
          </p:cNvPr>
          <p:cNvSpPr txBox="1"/>
          <p:nvPr/>
        </p:nvSpPr>
        <p:spPr>
          <a:xfrm>
            <a:off x="444500" y="1425677"/>
            <a:ext cx="745080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Props (Properties)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are used to pass data from a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Parent Component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a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Child Component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They allow components to receive different data and make them reusable.</a:t>
            </a:r>
          </a:p>
          <a:p>
            <a:pPr algn="just"/>
            <a:b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Points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stands for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Properties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to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 data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from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Parent → Child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components.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Props are received as a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JavaScript object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inside the child component.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Props are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read-only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cannot be modified by the child.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make components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dynamic, reusable, and easy to maintain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Best Practices for Passing Props in React | by Sean LaFlam | JavaScript in  Plain English">
            <a:extLst>
              <a:ext uri="{FF2B5EF4-FFF2-40B4-BE49-F238E27FC236}">
                <a16:creationId xmlns:a16="http://schemas.microsoft.com/office/drawing/2014/main" id="{98C570F2-06B0-8B4D-239C-803F0C90D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5303" y="1425677"/>
            <a:ext cx="3903408" cy="4139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8537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Task 01 – React Project Setup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90B5C6-1CB0-445E-99D1-8E2FE8C59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554A61-D199-469B-AB0C-B68F82B505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2783" y="1661652"/>
            <a:ext cx="9372600" cy="3869566"/>
          </a:xfrm>
        </p:spPr>
        <p:txBody>
          <a:bodyPr>
            <a:normAutofit fontScale="47500" lnSpcReduction="20000"/>
          </a:bodyPr>
          <a:lstStyle/>
          <a:p>
            <a:pPr algn="just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new React project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run it successfully.</a:t>
            </a:r>
          </a:p>
          <a:p>
            <a:pPr algn="just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Instructions</a:t>
            </a:r>
          </a:p>
          <a:p>
            <a:pPr marL="1143000" indent="-11430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 Node.js (if not already installed). </a:t>
            </a:r>
          </a:p>
          <a:p>
            <a:pPr marL="1143000" indent="-11430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new React project using Vite. </a:t>
            </a:r>
          </a:p>
          <a:p>
            <a:pPr marL="1143000" indent="-11430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 the required dependencies. </a:t>
            </a:r>
          </a:p>
          <a:p>
            <a:pPr marL="1143000" indent="-11430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the development server. </a:t>
            </a:r>
          </a:p>
          <a:p>
            <a:pPr marL="1143000" indent="-11430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that the application loads successfully in the browser.</a:t>
            </a:r>
          </a:p>
          <a:p>
            <a:pPr algn="just"/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5823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3304D-E6FA-37E4-4372-08CA68F28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5949218-A61B-F4CF-2CCF-2D1E9C444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Task 02 – Build a student profile using JSX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5A92B7-31B2-1F97-3CFE-EF866CE09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1FA2E4-638F-EE5F-44B7-6E72BD09A3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21442" y="1761982"/>
            <a:ext cx="10320184" cy="3869566"/>
          </a:xfrm>
        </p:spPr>
        <p:txBody>
          <a:bodyPr>
            <a:noAutofit/>
          </a:bodyPr>
          <a:lstStyle/>
          <a:p>
            <a:pPr algn="l"/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algn="l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simple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Profile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page using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/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Instructions</a:t>
            </a:r>
          </a:p>
          <a:p>
            <a:pPr algn="l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the following information: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Name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College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Skills </a:t>
            </a:r>
          </a:p>
          <a:p>
            <a:pPr algn="l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appropriate HTML elements such as headings, paragraphs, lists,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divs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l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 the content with proper formatting.</a:t>
            </a:r>
          </a:p>
        </p:txBody>
      </p:sp>
    </p:spTree>
    <p:extLst>
      <p:ext uri="{BB962C8B-B14F-4D97-AF65-F5344CB8AC3E}">
        <p14:creationId xmlns:p14="http://schemas.microsoft.com/office/powerpoint/2010/main" val="14718283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CBA07-E73B-B753-9D51-BE0580B9B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9A67DC-2D1C-474B-9D7F-D1D35B521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03 – Create Reusable Components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3B1807-A76D-734F-AC4E-A540494A6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7DFD88-9A2C-D383-1A7F-0DA506DE95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2783" y="1661652"/>
            <a:ext cx="9372600" cy="3869566"/>
          </a:xfrm>
        </p:spPr>
        <p:txBody>
          <a:bodyPr>
            <a:noAutofit/>
          </a:bodyPr>
          <a:lstStyle/>
          <a:p>
            <a:pPr algn="l"/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the Student Profile into reusable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Components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/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Instructions</a:t>
            </a:r>
          </a:p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separate components for: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Header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Profile Card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Footer </a:t>
            </a:r>
          </a:p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and render all components inside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App.jsx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a clean and organized project structure.</a:t>
            </a:r>
          </a:p>
        </p:txBody>
      </p:sp>
    </p:spTree>
    <p:extLst>
      <p:ext uri="{BB962C8B-B14F-4D97-AF65-F5344CB8AC3E}">
        <p14:creationId xmlns:p14="http://schemas.microsoft.com/office/powerpoint/2010/main" val="12681304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7E9E9-0481-8050-75D4-2F4AB289B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6877CA5-5FAC-4B77-0693-BA74E9939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Task 04 – Display Multiple Student Profiles using Props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C31D47-49FC-BE77-AF41-D80189616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511D4-D5EE-4A74-FA7D-690FCDC620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2782" y="1661652"/>
            <a:ext cx="11015817" cy="3869566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 data between components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Instructions</a:t>
            </a:r>
          </a:p>
          <a:p>
            <a:pPr marL="857250" indent="-857250" algn="l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Reuse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Profile Card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component. </a:t>
            </a:r>
          </a:p>
          <a:p>
            <a:pPr marL="857250" indent="-857250" algn="l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at least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student profiles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different data. </a:t>
            </a:r>
          </a:p>
          <a:p>
            <a:pPr marL="857250" indent="-857250" algn="l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 all student information through Props. </a:t>
            </a:r>
          </a:p>
          <a:p>
            <a:pPr marL="857250" indent="-857250" algn="l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the UI remains clean and consistent.</a:t>
            </a:r>
          </a:p>
        </p:txBody>
      </p:sp>
    </p:spTree>
    <p:extLst>
      <p:ext uri="{BB962C8B-B14F-4D97-AF65-F5344CB8AC3E}">
        <p14:creationId xmlns:p14="http://schemas.microsoft.com/office/powerpoint/2010/main" val="23827217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771863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305</TotalTime>
  <Words>1462</Words>
  <Application>Microsoft Office PowerPoint</Application>
  <PresentationFormat>Widescreen</PresentationFormat>
  <Paragraphs>241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Arial</vt:lpstr>
      <vt:lpstr>Calibri</vt:lpstr>
      <vt:lpstr>Courier New</vt:lpstr>
      <vt:lpstr>Times New Roman</vt:lpstr>
      <vt:lpstr>Trade Gothic LT Pro</vt:lpstr>
      <vt:lpstr>Trebuchet MS</vt:lpstr>
      <vt:lpstr>Wingdings</vt:lpstr>
      <vt:lpstr>Office Theme</vt:lpstr>
      <vt:lpstr>REACT JS</vt:lpstr>
      <vt:lpstr>OUTCOMES</vt:lpstr>
      <vt:lpstr>What is react?</vt:lpstr>
      <vt:lpstr>Why Developers Choose React</vt:lpstr>
      <vt:lpstr>Traditional Website vs React (SPA)</vt:lpstr>
      <vt:lpstr>Virtual DOM</vt:lpstr>
      <vt:lpstr>VIRTUAL DOM</vt:lpstr>
      <vt:lpstr>What is Single Page Application (SPA)</vt:lpstr>
      <vt:lpstr>React vs React Native</vt:lpstr>
      <vt:lpstr>REACT ECOSYSTEM</vt:lpstr>
      <vt:lpstr>INSTALLATION</vt:lpstr>
      <vt:lpstr>INSTALLATION</vt:lpstr>
      <vt:lpstr>INSTALLATION</vt:lpstr>
      <vt:lpstr>What is Vite?</vt:lpstr>
      <vt:lpstr>React Folder Structure</vt:lpstr>
      <vt:lpstr>JSX</vt:lpstr>
      <vt:lpstr>Components</vt:lpstr>
      <vt:lpstr>Types of Components</vt:lpstr>
      <vt:lpstr>PROPS</vt:lpstr>
      <vt:lpstr>📌 Task 01 – React Project Setup</vt:lpstr>
      <vt:lpstr>📌 Task 02 – Build a student profile using JSX</vt:lpstr>
      <vt:lpstr>Task 03 – Create Reusable Components</vt:lpstr>
      <vt:lpstr>📌 Task 04 – Display Multiple Student Profiles using Props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A</dc:creator>
  <cp:lastModifiedBy>Rajesh A</cp:lastModifiedBy>
  <cp:revision>3</cp:revision>
  <dcterms:created xsi:type="dcterms:W3CDTF">2026-07-21T16:11:24Z</dcterms:created>
  <dcterms:modified xsi:type="dcterms:W3CDTF">2026-07-27T09:49:07Z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